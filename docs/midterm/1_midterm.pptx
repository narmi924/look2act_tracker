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1"/>
  </p:notesMasterIdLst>
  <p:sldIdLst>
    <p:sldId id="256" r:id="rId2"/>
    <p:sldId id="257" r:id="rId3"/>
    <p:sldId id="301" r:id="rId4"/>
    <p:sldId id="297" r:id="rId5"/>
    <p:sldId id="296" r:id="rId6"/>
    <p:sldId id="298" r:id="rId7"/>
    <p:sldId id="275" r:id="rId8"/>
    <p:sldId id="277" r:id="rId9"/>
    <p:sldId id="259" r:id="rId10"/>
    <p:sldId id="261" r:id="rId11"/>
    <p:sldId id="278" r:id="rId12"/>
    <p:sldId id="262" r:id="rId13"/>
    <p:sldId id="279" r:id="rId14"/>
    <p:sldId id="280" r:id="rId15"/>
    <p:sldId id="281" r:id="rId16"/>
    <p:sldId id="299" r:id="rId17"/>
    <p:sldId id="282" r:id="rId18"/>
    <p:sldId id="283" r:id="rId19"/>
    <p:sldId id="285" r:id="rId20"/>
    <p:sldId id="286" r:id="rId21"/>
    <p:sldId id="287" r:id="rId22"/>
    <p:sldId id="288" r:id="rId23"/>
    <p:sldId id="289" r:id="rId24"/>
    <p:sldId id="300" r:id="rId25"/>
    <p:sldId id="290" r:id="rId26"/>
    <p:sldId id="291" r:id="rId27"/>
    <p:sldId id="292" r:id="rId28"/>
    <p:sldId id="293" r:id="rId29"/>
    <p:sldId id="295" r:id="rId30"/>
  </p:sldIdLst>
  <p:sldSz cx="18288000" cy="10287000"/>
  <p:notesSz cx="6858000" cy="9144000"/>
  <p:embeddedFontLst>
    <p:embeddedFont>
      <p:font typeface="等线" panose="02010600030101010101" pitchFamily="2" charset="-122"/>
      <p:regular r:id="rId32"/>
      <p:bold r:id="rId33"/>
    </p:embeddedFont>
    <p:embeddedFont>
      <p:font typeface="微软雅黑" panose="020B0503020204020204" pitchFamily="34" charset="-122"/>
      <p:regular r:id="rId34"/>
      <p:bold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378" y="21"/>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AF12D4-0036-4463-B4DE-71074C440573}" type="datetimeFigureOut">
              <a:rPr lang="zh-CN" altLang="en-US" smtClean="0"/>
              <a:t>2026/4/8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A71291-F1D7-4261-9B58-38E866F56C40}" type="slidenum">
              <a:rPr lang="zh-CN" altLang="en-US" smtClean="0"/>
              <a:t>‹#›</a:t>
            </a:fld>
            <a:endParaRPr lang="zh-CN" altLang="en-US"/>
          </a:p>
        </p:txBody>
      </p:sp>
    </p:spTree>
    <p:extLst>
      <p:ext uri="{BB962C8B-B14F-4D97-AF65-F5344CB8AC3E}">
        <p14:creationId xmlns:p14="http://schemas.microsoft.com/office/powerpoint/2010/main" val="3263688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txBody>
          <a:bodyPr/>
          <a:lstStyle/>
          <a:p>
            <a:endParaRPr lang="zh-CN" altLang="en-US"/>
          </a:p>
        </p:txBody>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BA71291-F1D7-4261-9B58-38E866F56C40}" type="slidenum">
              <a:rPr lang="zh-CN" altLang="en-US" smtClean="0"/>
              <a:t>1</a:t>
            </a:fld>
            <a:endParaRPr lang="zh-CN" altLang="en-US"/>
          </a:p>
        </p:txBody>
      </p:sp>
    </p:spTree>
    <p:extLst>
      <p:ext uri="{BB962C8B-B14F-4D97-AF65-F5344CB8AC3E}">
        <p14:creationId xmlns:p14="http://schemas.microsoft.com/office/powerpoint/2010/main" val="2428514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9810-85B0-8E90-820A-22547EE95D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0E28236-6877-9CB9-1AF1-137D364DDBDA}"/>
              </a:ext>
            </a:extLst>
          </p:cNvPr>
          <p:cNvSpPr>
            <a:spLocks noGrp="1" noRot="1" noChangeAspect="1"/>
          </p:cNvSpPr>
          <p:nvPr>
            <p:ph type="sldImg"/>
          </p:nvPr>
        </p:nvSpPr>
        <p:spPr/>
        <p:txBody>
          <a:bodyPr/>
          <a:lstStyle/>
          <a:p>
            <a:endParaRPr lang="zh-CN" altLang="en-US"/>
          </a:p>
        </p:txBody>
      </p:sp>
      <p:sp>
        <p:nvSpPr>
          <p:cNvPr id="3" name="备注占位符 2">
            <a:extLst>
              <a:ext uri="{FF2B5EF4-FFF2-40B4-BE49-F238E27FC236}">
                <a16:creationId xmlns:a16="http://schemas.microsoft.com/office/drawing/2014/main" id="{98EEC0B4-71E4-10E9-41B0-F3CD44B58C03}"/>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753D8AA-CBE6-E9D9-A572-538F20A196E8}"/>
              </a:ext>
            </a:extLst>
          </p:cNvPr>
          <p:cNvSpPr>
            <a:spLocks noGrp="1"/>
          </p:cNvSpPr>
          <p:nvPr>
            <p:ph type="sldNum" sz="quarter" idx="5"/>
          </p:nvPr>
        </p:nvSpPr>
        <p:spPr/>
        <p:txBody>
          <a:bodyPr/>
          <a:lstStyle/>
          <a:p>
            <a:fld id="{1BA71291-F1D7-4261-9B58-38E866F56C40}" type="slidenum">
              <a:rPr lang="zh-CN" altLang="en-US" smtClean="0"/>
              <a:t>29</a:t>
            </a:fld>
            <a:endParaRPr lang="zh-CN" altLang="en-US"/>
          </a:p>
        </p:txBody>
      </p:sp>
    </p:spTree>
    <p:extLst>
      <p:ext uri="{BB962C8B-B14F-4D97-AF65-F5344CB8AC3E}">
        <p14:creationId xmlns:p14="http://schemas.microsoft.com/office/powerpoint/2010/main" val="26082265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7.pn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5.png"/></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31.jpeg"/><Relationship Id="rId2" Type="http://schemas.openxmlformats.org/officeDocument/2006/relationships/image" Target="../media/image26.jpeg"/><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4948A194-097D-AE30-9164-7D73FB43C944}"/>
              </a:ext>
            </a:extLst>
          </p:cNvPr>
          <p:cNvPicPr>
            <a:picLocks noChangeAspect="1"/>
          </p:cNvPicPr>
          <p:nvPr/>
        </p:nvPicPr>
        <p:blipFill>
          <a:blip r:embed="rId3">
            <a:extLst>
              <a:ext uri="{28A0092B-C50C-407E-A947-70E740481C1C}">
                <a14:useLocalDpi xmlns:a14="http://schemas.microsoft.com/office/drawing/2010/main" val="0"/>
              </a:ext>
            </a:extLst>
          </a:blip>
          <a:srcRect t="20383" b="8729"/>
          <a:stretch>
            <a:fillRect/>
          </a:stretch>
        </p:blipFill>
        <p:spPr>
          <a:xfrm>
            <a:off x="-1" y="0"/>
            <a:ext cx="18288000" cy="6612537"/>
          </a:xfrm>
          <a:prstGeom prst="rect">
            <a:avLst/>
          </a:prstGeom>
        </p:spPr>
      </p:pic>
      <p:grpSp>
        <p:nvGrpSpPr>
          <p:cNvPr id="4" name="Group 4"/>
          <p:cNvGrpSpPr/>
          <p:nvPr/>
        </p:nvGrpSpPr>
        <p:grpSpPr>
          <a:xfrm>
            <a:off x="-178205" y="-180826"/>
            <a:ext cx="18644412" cy="6793362"/>
            <a:chOff x="0" y="-47625"/>
            <a:chExt cx="4910462" cy="1789198"/>
          </a:xfrm>
        </p:grpSpPr>
        <p:sp>
          <p:nvSpPr>
            <p:cNvPr id="5" name="Freeform 5"/>
            <p:cNvSpPr/>
            <p:nvPr/>
          </p:nvSpPr>
          <p:spPr>
            <a:xfrm>
              <a:off x="0" y="0"/>
              <a:ext cx="4910462" cy="1741573"/>
            </a:xfrm>
            <a:custGeom>
              <a:avLst/>
              <a:gdLst/>
              <a:ahLst/>
              <a:cxnLst/>
              <a:rect l="l" t="t" r="r" b="b"/>
              <a:pathLst>
                <a:path w="4910462" h="1720151">
                  <a:moveTo>
                    <a:pt x="0" y="0"/>
                  </a:moveTo>
                  <a:lnTo>
                    <a:pt x="4910462" y="0"/>
                  </a:lnTo>
                  <a:lnTo>
                    <a:pt x="4910462" y="1720151"/>
                  </a:lnTo>
                  <a:lnTo>
                    <a:pt x="0" y="1720151"/>
                  </a:lnTo>
                  <a:close/>
                </a:path>
              </a:pathLst>
            </a:custGeom>
            <a:solidFill>
              <a:srgbClr val="2F1E97">
                <a:alpha val="86667"/>
              </a:srgb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TextBox 6"/>
            <p:cNvSpPr txBox="1"/>
            <p:nvPr/>
          </p:nvSpPr>
          <p:spPr>
            <a:xfrm>
              <a:off x="0" y="-47625"/>
              <a:ext cx="4910461" cy="1767776"/>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 name="AutoShape 7"/>
          <p:cNvSpPr/>
          <p:nvPr/>
        </p:nvSpPr>
        <p:spPr>
          <a:xfrm flipV="1">
            <a:off x="-405376" y="6667500"/>
            <a:ext cx="19630056" cy="0"/>
          </a:xfrm>
          <a:prstGeom prst="line">
            <a:avLst/>
          </a:prstGeom>
          <a:ln w="38100" cap="flat">
            <a:solidFill>
              <a:srgbClr val="1800AD"/>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Freeform 9"/>
          <p:cNvSpPr/>
          <p:nvPr/>
        </p:nvSpPr>
        <p:spPr>
          <a:xfrm>
            <a:off x="7589763" y="4851119"/>
            <a:ext cx="3083870" cy="1387695"/>
          </a:xfrm>
          <a:custGeom>
            <a:avLst/>
            <a:gdLst/>
            <a:ahLst/>
            <a:cxnLst/>
            <a:rect l="l" t="t" r="r" b="b"/>
            <a:pathLst>
              <a:path w="629014" h="178443">
                <a:moveTo>
                  <a:pt x="89222" y="0"/>
                </a:moveTo>
                <a:lnTo>
                  <a:pt x="539793" y="0"/>
                </a:lnTo>
                <a:cubicBezTo>
                  <a:pt x="563456" y="0"/>
                  <a:pt x="586150" y="9400"/>
                  <a:pt x="602882" y="26132"/>
                </a:cubicBezTo>
                <a:cubicBezTo>
                  <a:pt x="619614" y="42865"/>
                  <a:pt x="629014" y="65558"/>
                  <a:pt x="629014" y="89222"/>
                </a:cubicBezTo>
                <a:lnTo>
                  <a:pt x="629014" y="89222"/>
                </a:lnTo>
                <a:cubicBezTo>
                  <a:pt x="629014" y="112885"/>
                  <a:pt x="619614" y="135578"/>
                  <a:pt x="602882" y="152311"/>
                </a:cubicBezTo>
                <a:cubicBezTo>
                  <a:pt x="586150" y="169043"/>
                  <a:pt x="563456" y="178443"/>
                  <a:pt x="539793" y="178443"/>
                </a:cubicBezTo>
                <a:lnTo>
                  <a:pt x="89222" y="178443"/>
                </a:lnTo>
                <a:cubicBezTo>
                  <a:pt x="65558" y="178443"/>
                  <a:pt x="42865" y="169043"/>
                  <a:pt x="26132" y="152311"/>
                </a:cubicBezTo>
                <a:cubicBezTo>
                  <a:pt x="9400" y="135578"/>
                  <a:pt x="0" y="112885"/>
                  <a:pt x="0" y="89222"/>
                </a:cubicBezTo>
                <a:lnTo>
                  <a:pt x="0" y="89222"/>
                </a:lnTo>
                <a:cubicBezTo>
                  <a:pt x="0" y="65558"/>
                  <a:pt x="9400" y="42865"/>
                  <a:pt x="26132" y="26132"/>
                </a:cubicBezTo>
                <a:cubicBezTo>
                  <a:pt x="42865" y="9400"/>
                  <a:pt x="65558" y="0"/>
                  <a:pt x="89222" y="0"/>
                </a:cubicBezTo>
                <a:close/>
              </a:path>
            </a:pathLst>
          </a:custGeom>
          <a:solidFill>
            <a:srgbClr val="FFFFFF"/>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10" name="TextBox 10"/>
          <p:cNvSpPr txBox="1"/>
          <p:nvPr/>
        </p:nvSpPr>
        <p:spPr>
          <a:xfrm>
            <a:off x="7602064" y="4816810"/>
            <a:ext cx="3083870" cy="1758059"/>
          </a:xfrm>
          <a:prstGeom prst="rect">
            <a:avLst/>
          </a:prstGeom>
        </p:spPr>
        <p:txBody>
          <a:bodyPr lIns="50800" tIns="50800" rIns="50800" bIns="50800" rtlCol="0" anchor="ctr"/>
          <a:lstStyle/>
          <a:p>
            <a:pPr algn="ctr">
              <a:lnSpc>
                <a:spcPts val="3359"/>
              </a:lnSpc>
              <a:spcBef>
                <a:spcPct val="0"/>
              </a:spcBef>
            </a:pPr>
            <a:r>
              <a:rPr lang="zh-CN" altLang="en-US" sz="4800">
                <a:latin typeface="微软雅黑" panose="020B0503020204020204" pitchFamily="34" charset="-122"/>
                <a:ea typeface="微软雅黑" panose="020B0503020204020204" pitchFamily="34" charset="-122"/>
                <a:cs typeface="字由点字典黑"/>
                <a:sym typeface="字由点字典黑"/>
              </a:rPr>
              <a:t>中期答辩</a:t>
            </a:r>
            <a:endParaRPr lang="en-US" sz="4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1" name="TextBox 11"/>
          <p:cNvSpPr txBox="1"/>
          <p:nvPr/>
        </p:nvSpPr>
        <p:spPr>
          <a:xfrm>
            <a:off x="1713434" y="1445976"/>
            <a:ext cx="14861132" cy="2954911"/>
          </a:xfrm>
          <a:prstGeom prst="rect">
            <a:avLst/>
          </a:prstGeom>
        </p:spPr>
        <p:txBody>
          <a:bodyPr lIns="0" tIns="0" rIns="0" bIns="0" rtlCol="0" anchor="t">
            <a:spAutoFit/>
          </a:bodyPr>
          <a:lstStyle/>
          <a:p>
            <a:pPr algn="ctr">
              <a:lnSpc>
                <a:spcPts val="12039"/>
              </a:lnSpc>
              <a:spcBef>
                <a:spcPct val="0"/>
              </a:spcBef>
            </a:pPr>
            <a:r>
              <a:rPr lang="zh-CN" altLang="en-US" sz="8599" spc="1298">
                <a:solidFill>
                  <a:schemeClr val="bg1"/>
                </a:solidFill>
                <a:latin typeface="微软雅黑" panose="020B0503020204020204" pitchFamily="34" charset="-122"/>
                <a:ea typeface="微软雅黑" panose="020B0503020204020204" pitchFamily="34" charset="-122"/>
                <a:cs typeface="思源黑体"/>
                <a:sym typeface="思源黑体"/>
              </a:rPr>
              <a:t>实时视线追踪技术研究与实现</a:t>
            </a:r>
            <a:endParaRPr lang="en-US" sz="8599"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p:cNvGrpSpPr/>
          <p:nvPr/>
        </p:nvGrpSpPr>
        <p:grpSpPr>
          <a:xfrm>
            <a:off x="10800427" y="376164"/>
            <a:ext cx="7022979" cy="836447"/>
            <a:chOff x="0" y="-47625"/>
            <a:chExt cx="9363972" cy="1115266"/>
          </a:xfrm>
        </p:grpSpPr>
        <p:grpSp>
          <p:nvGrpSpPr>
            <p:cNvPr id="25" name="Group 25"/>
            <p:cNvGrpSpPr/>
            <p:nvPr/>
          </p:nvGrpSpPr>
          <p:grpSpPr>
            <a:xfrm>
              <a:off x="9281435" y="24540"/>
              <a:ext cx="82537" cy="452980"/>
              <a:chOff x="0" y="0"/>
              <a:chExt cx="16304" cy="89478"/>
            </a:xfrm>
          </p:grpSpPr>
          <p:sp>
            <p:nvSpPr>
              <p:cNvPr id="26" name="Freeform 26"/>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0C2B8-35DD-54A1-65BA-B3F9663137D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EDF98B7-AAA1-87FB-EB3F-5FA0186C04EE}"/>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1A266B15-819E-A729-C2D4-1FA30E4DEED7}"/>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699CFB45-B8CC-F1E1-50FE-5FD46502B5CD}"/>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81850B8F-6D00-47BE-1B9F-F713CCAD61B8}"/>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solidFill>
                  <a:srgbClr val="7030A0"/>
                </a:solidFill>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8972224E-65BF-FD03-7958-CFF312FA5024}"/>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762BB0D5-1895-D981-F90D-EA2036BB81E8}"/>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6C50869D-7C09-AEB9-33E4-5582B2650A4A}"/>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F0343B33-C0FB-BC8F-987C-54E5E9E08813}"/>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F117232C-5A00-1DAD-F445-83481FBAB459}"/>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DFD1DBA3-E59F-F49E-3220-D8F618D612AB}"/>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AD35DF49-BDE6-A2B4-6726-3419142E5F8D}"/>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233A1656-9D0A-1936-A4FE-0B6CDD772C31}"/>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C66F6544-C75A-84AF-F47D-A8C4865A22A8}"/>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CB045A9E-9D88-F154-C9BD-15A137ADE1D2}"/>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833F972F-6FA3-2F1F-8CC7-A27DF982B0DF}"/>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A7147964-60BE-788A-BC31-CB58DC200EC7}"/>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864F76BB-8277-4AF4-2E71-7E9561C77B8B}"/>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1398989D-A2CF-EDA0-12D5-F3CFD6CBEB18}"/>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05BD4ABE-1F7D-6E99-D6F6-3491759B1BBC}"/>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A886637E-FF87-1BC7-58A8-2F8F17ECDC1A}"/>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2CB714AF-1E75-5EBF-DB6B-43FD3FE78326}"/>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1423960742"/>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881B85-003D-202E-F41F-C5CCA29A7755}"/>
            </a:ext>
          </a:extLst>
        </p:cNvPr>
        <p:cNvGrpSpPr/>
        <p:nvPr/>
      </p:nvGrpSpPr>
      <p:grpSpPr>
        <a:xfrm>
          <a:off x="0" y="0"/>
          <a:ext cx="0" cy="0"/>
          <a:chOff x="0" y="0"/>
          <a:chExt cx="0" cy="0"/>
        </a:xfrm>
      </p:grpSpPr>
      <p:sp>
        <p:nvSpPr>
          <p:cNvPr id="85" name="TextBox 8">
            <a:extLst>
              <a:ext uri="{FF2B5EF4-FFF2-40B4-BE49-F238E27FC236}">
                <a16:creationId xmlns:a16="http://schemas.microsoft.com/office/drawing/2014/main" id="{03E4CE47-19A6-1C3C-AE28-07C8AA573661}"/>
              </a:ext>
            </a:extLst>
          </p:cNvPr>
          <p:cNvSpPr txBox="1"/>
          <p:nvPr/>
        </p:nvSpPr>
        <p:spPr>
          <a:xfrm>
            <a:off x="868237" y="10498184"/>
            <a:ext cx="2484563" cy="525094"/>
          </a:xfrm>
          <a:prstGeom prst="rect">
            <a:avLst/>
          </a:prstGeom>
          <a:solidFill>
            <a:schemeClr val="accent2">
              <a:lumMod val="75000"/>
            </a:schemeClr>
          </a:solidFill>
        </p:spPr>
        <p:txBody>
          <a:bodyPr lIns="50800" tIns="50800" rIns="50800" bIns="50800" rtlCol="0" anchor="ctr"/>
          <a:lstStyle/>
          <a:p>
            <a:pPr algn="ctr">
              <a:lnSpc>
                <a:spcPts val="3359"/>
              </a:lnSpc>
            </a:pPr>
            <a:endParaRPr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grpSp>
        <p:nvGrpSpPr>
          <p:cNvPr id="2" name="Group 2">
            <a:extLst>
              <a:ext uri="{FF2B5EF4-FFF2-40B4-BE49-F238E27FC236}">
                <a16:creationId xmlns:a16="http://schemas.microsoft.com/office/drawing/2014/main" id="{3CF4EE59-8B97-9BB2-2F04-92EF0153AFC8}"/>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FC9EA72D-1C50-0CFC-56A1-413CB9D51951}"/>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D7C554FE-E787-EA67-CD1D-3DC98DEEE6B6}"/>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C1A18340-AEE7-7B25-9291-076C876AA727}"/>
              </a:ext>
            </a:extLst>
          </p:cNvPr>
          <p:cNvSpPr txBox="1"/>
          <p:nvPr/>
        </p:nvSpPr>
        <p:spPr>
          <a:xfrm>
            <a:off x="509580" y="363614"/>
            <a:ext cx="358658"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1</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40" name="TextBox 40">
            <a:extLst>
              <a:ext uri="{FF2B5EF4-FFF2-40B4-BE49-F238E27FC236}">
                <a16:creationId xmlns:a16="http://schemas.microsoft.com/office/drawing/2014/main" id="{42D144F7-B4CF-19C6-FA68-6A24026D641F}"/>
              </a:ext>
            </a:extLst>
          </p:cNvPr>
          <p:cNvSpPr txBox="1"/>
          <p:nvPr/>
        </p:nvSpPr>
        <p:spPr>
          <a:xfrm>
            <a:off x="2839108" y="2313347"/>
            <a:ext cx="2742010" cy="369323"/>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sp>
        <p:nvSpPr>
          <p:cNvPr id="12" name="TextBox 12">
            <a:extLst>
              <a:ext uri="{FF2B5EF4-FFF2-40B4-BE49-F238E27FC236}">
                <a16:creationId xmlns:a16="http://schemas.microsoft.com/office/drawing/2014/main" id="{3603DBB6-B5D2-2133-176D-343BDC902E8F}"/>
              </a:ext>
            </a:extLst>
          </p:cNvPr>
          <p:cNvSpPr txBox="1"/>
          <p:nvPr/>
        </p:nvSpPr>
        <p:spPr>
          <a:xfrm>
            <a:off x="1113131" y="10539159"/>
            <a:ext cx="1994774" cy="860877"/>
          </a:xfrm>
          <a:prstGeom prst="rect">
            <a:avLst/>
          </a:prstGeom>
        </p:spPr>
        <p:txBody>
          <a:bodyPr lIns="0" tIns="0" rIns="0" bIns="0" rtlCol="0" anchor="t">
            <a:spAutoFit/>
          </a:bodyPr>
          <a:lstStyle/>
          <a:p>
            <a:pPr algn="ctr">
              <a:lnSpc>
                <a:spcPts val="3460"/>
              </a:lnSpc>
              <a:spcBef>
                <a:spcPct val="0"/>
              </a:spcBef>
            </a:pPr>
            <a:r>
              <a:rPr lang="en-US" altLang="zh-CN" sz="2471" b="1" spc="247">
                <a:latin typeface="微软雅黑" panose="020B0503020204020204" pitchFamily="34" charset="-122"/>
                <a:ea typeface="微软雅黑" panose="020B0503020204020204" pitchFamily="34" charset="-122"/>
                <a:cs typeface="思源黑体"/>
                <a:sym typeface="思源黑体"/>
              </a:rPr>
              <a:t>1-</a:t>
            </a:r>
            <a:r>
              <a:rPr lang="zh-CN" altLang="en-US" sz="2471" b="1" spc="247">
                <a:latin typeface="微软雅黑" panose="020B0503020204020204" pitchFamily="34" charset="-122"/>
                <a:ea typeface="微软雅黑" panose="020B0503020204020204" pitchFamily="34" charset="-122"/>
                <a:cs typeface="思源黑体"/>
                <a:sym typeface="思源黑体"/>
              </a:rPr>
              <a:t>回顾与验证</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103" name="组合 102">
            <a:extLst>
              <a:ext uri="{FF2B5EF4-FFF2-40B4-BE49-F238E27FC236}">
                <a16:creationId xmlns:a16="http://schemas.microsoft.com/office/drawing/2014/main" id="{B7B4C28F-B492-F287-994C-FC9DF74C46DE}"/>
              </a:ext>
            </a:extLst>
          </p:cNvPr>
          <p:cNvGrpSpPr/>
          <p:nvPr/>
        </p:nvGrpSpPr>
        <p:grpSpPr>
          <a:xfrm>
            <a:off x="4958102" y="982683"/>
            <a:ext cx="8487221" cy="2408217"/>
            <a:chOff x="4958102" y="982683"/>
            <a:chExt cx="8487221" cy="2408217"/>
          </a:xfrm>
        </p:grpSpPr>
        <p:grpSp>
          <p:nvGrpSpPr>
            <p:cNvPr id="76" name="Group 6">
              <a:extLst>
                <a:ext uri="{FF2B5EF4-FFF2-40B4-BE49-F238E27FC236}">
                  <a16:creationId xmlns:a16="http://schemas.microsoft.com/office/drawing/2014/main" id="{5CAF2262-25F5-4F04-4EA1-33166CBAE770}"/>
                </a:ext>
              </a:extLst>
            </p:cNvPr>
            <p:cNvGrpSpPr/>
            <p:nvPr/>
          </p:nvGrpSpPr>
          <p:grpSpPr>
            <a:xfrm>
              <a:off x="5147474" y="982683"/>
              <a:ext cx="1623239" cy="1050188"/>
              <a:chOff x="0" y="-47625"/>
              <a:chExt cx="600585" cy="1111802"/>
            </a:xfrm>
            <a:solidFill>
              <a:schemeClr val="accent3">
                <a:lumMod val="75000"/>
              </a:schemeClr>
            </a:solidFill>
          </p:grpSpPr>
          <p:sp>
            <p:nvSpPr>
              <p:cNvPr id="81" name="Freeform 7">
                <a:extLst>
                  <a:ext uri="{FF2B5EF4-FFF2-40B4-BE49-F238E27FC236}">
                    <a16:creationId xmlns:a16="http://schemas.microsoft.com/office/drawing/2014/main" id="{F4CBFF35-BD22-DC52-0160-5600A2A65A3E}"/>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82" name="TextBox 8">
                <a:extLst>
                  <a:ext uri="{FF2B5EF4-FFF2-40B4-BE49-F238E27FC236}">
                    <a16:creationId xmlns:a16="http://schemas.microsoft.com/office/drawing/2014/main" id="{9A761D33-730C-A8FC-802C-D5AB53DDF516}"/>
                  </a:ext>
                </a:extLst>
              </p:cNvPr>
              <p:cNvSpPr txBox="1"/>
              <p:nvPr/>
            </p:nvSpPr>
            <p:spPr>
              <a:xfrm>
                <a:off x="0" y="-47625"/>
                <a:ext cx="600585" cy="536941"/>
              </a:xfrm>
              <a:prstGeom prst="rect">
                <a:avLst/>
              </a:prstGeom>
              <a:grp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7" name="TextBox 12">
              <a:extLst>
                <a:ext uri="{FF2B5EF4-FFF2-40B4-BE49-F238E27FC236}">
                  <a16:creationId xmlns:a16="http://schemas.microsoft.com/office/drawing/2014/main" id="{60AD1F53-5B26-F23E-9291-2D01F807CCB5}"/>
                </a:ext>
              </a:extLst>
            </p:cNvPr>
            <p:cNvSpPr txBox="1"/>
            <p:nvPr/>
          </p:nvSpPr>
          <p:spPr>
            <a:xfrm>
              <a:off x="4958102" y="990328"/>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1-</a:t>
              </a:r>
              <a:r>
                <a:rPr lang="zh-CN" altLang="en-US" sz="2471" b="1" spc="247" dirty="0">
                  <a:latin typeface="微软雅黑" panose="020B0503020204020204" pitchFamily="34" charset="-122"/>
                  <a:ea typeface="微软雅黑" panose="020B0503020204020204" pitchFamily="34" charset="-122"/>
                  <a:cs typeface="思源黑体"/>
                  <a:sym typeface="思源黑体"/>
                </a:rPr>
                <a:t>定义</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78" name="组合 77">
              <a:extLst>
                <a:ext uri="{FF2B5EF4-FFF2-40B4-BE49-F238E27FC236}">
                  <a16:creationId xmlns:a16="http://schemas.microsoft.com/office/drawing/2014/main" id="{E32307F7-4CEC-16E8-B438-93A52E097263}"/>
                </a:ext>
              </a:extLst>
            </p:cNvPr>
            <p:cNvGrpSpPr/>
            <p:nvPr/>
          </p:nvGrpSpPr>
          <p:grpSpPr>
            <a:xfrm>
              <a:off x="5147476" y="1489868"/>
              <a:ext cx="8297847" cy="1901032"/>
              <a:chOff x="4662917" y="1285753"/>
              <a:chExt cx="8297847" cy="1901032"/>
            </a:xfrm>
          </p:grpSpPr>
          <p:sp>
            <p:nvSpPr>
              <p:cNvPr id="79" name="Freeform 10">
                <a:extLst>
                  <a:ext uri="{FF2B5EF4-FFF2-40B4-BE49-F238E27FC236}">
                    <a16:creationId xmlns:a16="http://schemas.microsoft.com/office/drawing/2014/main" id="{FC001704-51C8-6545-1D13-31C051733D30}"/>
                  </a:ext>
                </a:extLst>
              </p:cNvPr>
              <p:cNvSpPr/>
              <p:nvPr/>
            </p:nvSpPr>
            <p:spPr>
              <a:xfrm>
                <a:off x="4662917" y="1285753"/>
                <a:ext cx="8297847" cy="1832103"/>
              </a:xfrm>
              <a:prstGeom prst="roundRect">
                <a:avLst/>
              </a:prstGeom>
              <a:solidFill>
                <a:schemeClr val="accent3">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80" name="文本框 79">
                <a:extLst>
                  <a:ext uri="{FF2B5EF4-FFF2-40B4-BE49-F238E27FC236}">
                    <a16:creationId xmlns:a16="http://schemas.microsoft.com/office/drawing/2014/main" id="{A7A20F78-5CC6-A213-0CAD-668E77984542}"/>
                  </a:ext>
                </a:extLst>
              </p:cNvPr>
              <p:cNvSpPr txBox="1"/>
              <p:nvPr/>
            </p:nvSpPr>
            <p:spPr>
              <a:xfrm>
                <a:off x="4784575" y="1524792"/>
                <a:ext cx="8054529" cy="1661993"/>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cs typeface="字由点字典黑"/>
                    <a:sym typeface="字由点字典黑"/>
                  </a:rPr>
                  <a:t>视线追踪技术是指通过分析人眼的运动状态来估计其注视方向或注视点位置，是人机交互、智能驾驶、虚拟现实和行为分析等领域的重要基础技术。</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83" name="表格 82">
            <a:extLst>
              <a:ext uri="{FF2B5EF4-FFF2-40B4-BE49-F238E27FC236}">
                <a16:creationId xmlns:a16="http://schemas.microsoft.com/office/drawing/2014/main" id="{E4700C8B-7AA0-1668-F50F-57CB62724CE3}"/>
              </a:ext>
            </a:extLst>
          </p:cNvPr>
          <p:cNvGraphicFramePr>
            <a:graphicFrameLocks noGrp="1"/>
          </p:cNvGraphicFramePr>
          <p:nvPr>
            <p:extLst>
              <p:ext uri="{D42A27DB-BD31-4B8C-83A1-F6EECF244321}">
                <p14:modId xmlns:p14="http://schemas.microsoft.com/office/powerpoint/2010/main" val="226648860"/>
              </p:ext>
            </p:extLst>
          </p:nvPr>
        </p:nvGraphicFramePr>
        <p:xfrm>
          <a:off x="871568" y="11023278"/>
          <a:ext cx="7543800" cy="5343546"/>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1268427">
                  <a:extLst>
                    <a:ext uri="{9D8B030D-6E8A-4147-A177-3AD203B41FA5}">
                      <a16:colId xmlns:a16="http://schemas.microsoft.com/office/drawing/2014/main" val="1630521359"/>
                    </a:ext>
                  </a:extLst>
                </a:gridCol>
                <a:gridCol w="6275373">
                  <a:extLst>
                    <a:ext uri="{9D8B030D-6E8A-4147-A177-3AD203B41FA5}">
                      <a16:colId xmlns:a16="http://schemas.microsoft.com/office/drawing/2014/main" val="70282334"/>
                    </a:ext>
                  </a:extLst>
                </a:gridCol>
              </a:tblGrid>
              <a:tr h="1322115">
                <a:tc gridSpan="2">
                  <a:txBody>
                    <a:bodyPr/>
                    <a:lstStyle/>
                    <a:p>
                      <a:pPr algn="ctr"/>
                      <a:r>
                        <a:rPr lang="zh-CN" altLang="zh-CN" sz="2800" b="1" kern="1200" dirty="0">
                          <a:solidFill>
                            <a:schemeClr val="lt1"/>
                          </a:solidFill>
                          <a:effectLst/>
                          <a:latin typeface="微软雅黑" panose="020B0503020204020204" pitchFamily="34" charset="-122"/>
                          <a:ea typeface="微软雅黑" panose="020B0503020204020204" pitchFamily="34" charset="-122"/>
                        </a:rPr>
                        <a:t>传统眼动追踪系统</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特点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依赖红外摄像头和专用光源，通过检测瞳孔中心和角膜反射点实现追踪</a:t>
                      </a:r>
                    </a:p>
                  </a:txBody>
                  <a:tcPr anchor="ctr"/>
                </a:tc>
                <a:extLst>
                  <a:ext uri="{0D108BD9-81ED-4DB2-BD59-A6C34878D82A}">
                    <a16:rowId xmlns:a16="http://schemas.microsoft.com/office/drawing/2014/main" val="1696312499"/>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优点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精度在特定条件下非常高</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缺点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系统成本高、部署复杂，难以在普通计算设备上普及应用</a:t>
                      </a:r>
                    </a:p>
                  </a:txBody>
                  <a:tcPr anchor="ctr"/>
                </a:tc>
                <a:extLst>
                  <a:ext uri="{0D108BD9-81ED-4DB2-BD59-A6C34878D82A}">
                    <a16:rowId xmlns:a16="http://schemas.microsoft.com/office/drawing/2014/main" val="934935130"/>
                  </a:ext>
                </a:extLst>
              </a:tr>
            </a:tbl>
          </a:graphicData>
        </a:graphic>
      </p:graphicFrame>
      <p:sp>
        <p:nvSpPr>
          <p:cNvPr id="101" name="TextBox 5">
            <a:extLst>
              <a:ext uri="{FF2B5EF4-FFF2-40B4-BE49-F238E27FC236}">
                <a16:creationId xmlns:a16="http://schemas.microsoft.com/office/drawing/2014/main" id="{F9492AAA-CDF4-99F9-72AE-85AB63996873}"/>
              </a:ext>
            </a:extLst>
          </p:cNvPr>
          <p:cNvSpPr txBox="1"/>
          <p:nvPr/>
        </p:nvSpPr>
        <p:spPr>
          <a:xfrm>
            <a:off x="826864" y="342900"/>
            <a:ext cx="6247669" cy="590739"/>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开题回顾和中期核心点</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Tree>
    <p:extLst>
      <p:ext uri="{BB962C8B-B14F-4D97-AF65-F5344CB8AC3E}">
        <p14:creationId xmlns:p14="http://schemas.microsoft.com/office/powerpoint/2010/main" val="18026743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4D09A-ED0D-2461-2665-70521B796E7F}"/>
            </a:ext>
          </a:extLst>
        </p:cNvPr>
        <p:cNvGrpSpPr/>
        <p:nvPr/>
      </p:nvGrpSpPr>
      <p:grpSpPr>
        <a:xfrm>
          <a:off x="0" y="0"/>
          <a:ext cx="0" cy="0"/>
          <a:chOff x="0" y="0"/>
          <a:chExt cx="0" cy="0"/>
        </a:xfrm>
      </p:grpSpPr>
      <p:sp>
        <p:nvSpPr>
          <p:cNvPr id="85" name="TextBox 8">
            <a:extLst>
              <a:ext uri="{FF2B5EF4-FFF2-40B4-BE49-F238E27FC236}">
                <a16:creationId xmlns:a16="http://schemas.microsoft.com/office/drawing/2014/main" id="{81D3486C-38DC-1CD6-8BE2-BE693236B4D4}"/>
              </a:ext>
            </a:extLst>
          </p:cNvPr>
          <p:cNvSpPr txBox="1"/>
          <p:nvPr/>
        </p:nvSpPr>
        <p:spPr>
          <a:xfrm>
            <a:off x="868237" y="3752601"/>
            <a:ext cx="2484563" cy="545808"/>
          </a:xfrm>
          <a:prstGeom prst="rect">
            <a:avLst/>
          </a:prstGeom>
          <a:solidFill>
            <a:schemeClr val="accent2">
              <a:lumMod val="75000"/>
            </a:schemeClr>
          </a:solidFill>
        </p:spPr>
        <p:txBody>
          <a:bodyPr lIns="50800" tIns="50800" rIns="50800" bIns="50800" rtlCol="0" anchor="ctr"/>
          <a:lstStyle/>
          <a:p>
            <a:pPr algn="ctr">
              <a:lnSpc>
                <a:spcPts val="3359"/>
              </a:lnSpc>
            </a:pPr>
            <a:endParaRPr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grpSp>
        <p:nvGrpSpPr>
          <p:cNvPr id="2" name="Group 2">
            <a:extLst>
              <a:ext uri="{FF2B5EF4-FFF2-40B4-BE49-F238E27FC236}">
                <a16:creationId xmlns:a16="http://schemas.microsoft.com/office/drawing/2014/main" id="{E2403678-5100-9F7E-78AB-8FE342170585}"/>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B5D2EEAB-C4E1-6486-8821-97BEAB73B579}"/>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04FAD388-B55F-D6D0-BE5C-53C165378CA3}"/>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7CCE581F-85B8-06B8-5316-0F0BDD4306DF}"/>
              </a:ext>
            </a:extLst>
          </p:cNvPr>
          <p:cNvSpPr txBox="1"/>
          <p:nvPr/>
        </p:nvSpPr>
        <p:spPr>
          <a:xfrm>
            <a:off x="509580" y="363614"/>
            <a:ext cx="358658"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1</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40" name="TextBox 40">
            <a:extLst>
              <a:ext uri="{FF2B5EF4-FFF2-40B4-BE49-F238E27FC236}">
                <a16:creationId xmlns:a16="http://schemas.microsoft.com/office/drawing/2014/main" id="{527E6B12-761A-B28E-B0D1-9123F98CBFB5}"/>
              </a:ext>
            </a:extLst>
          </p:cNvPr>
          <p:cNvSpPr txBox="1"/>
          <p:nvPr/>
        </p:nvSpPr>
        <p:spPr>
          <a:xfrm>
            <a:off x="2839108" y="2313347"/>
            <a:ext cx="2742010" cy="369323"/>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sp>
        <p:nvSpPr>
          <p:cNvPr id="12" name="TextBox 12">
            <a:extLst>
              <a:ext uri="{FF2B5EF4-FFF2-40B4-BE49-F238E27FC236}">
                <a16:creationId xmlns:a16="http://schemas.microsoft.com/office/drawing/2014/main" id="{3085B35F-2221-4D94-CB14-FFAEB9AEE4E0}"/>
              </a:ext>
            </a:extLst>
          </p:cNvPr>
          <p:cNvSpPr txBox="1"/>
          <p:nvPr/>
        </p:nvSpPr>
        <p:spPr>
          <a:xfrm>
            <a:off x="1113131" y="3793576"/>
            <a:ext cx="1994774" cy="860877"/>
          </a:xfrm>
          <a:prstGeom prst="rect">
            <a:avLst/>
          </a:prstGeom>
        </p:spPr>
        <p:txBody>
          <a:bodyPr lIns="0" tIns="0" rIns="0" bIns="0" rtlCol="0" anchor="t">
            <a:spAutoFit/>
          </a:bodyPr>
          <a:lstStyle/>
          <a:p>
            <a:pPr algn="ctr">
              <a:lnSpc>
                <a:spcPts val="3460"/>
              </a:lnSpc>
              <a:spcBef>
                <a:spcPct val="0"/>
              </a:spcBef>
            </a:pPr>
            <a:r>
              <a:rPr lang="en-US" altLang="zh-CN" sz="2471" b="1" spc="247">
                <a:latin typeface="微软雅黑" panose="020B0503020204020204" pitchFamily="34" charset="-122"/>
                <a:ea typeface="微软雅黑" panose="020B0503020204020204" pitchFamily="34" charset="-122"/>
                <a:cs typeface="思源黑体"/>
                <a:sym typeface="思源黑体"/>
              </a:rPr>
              <a:t>1-</a:t>
            </a:r>
            <a:r>
              <a:rPr lang="zh-CN" altLang="en-US" sz="2471" b="1" spc="247">
                <a:latin typeface="微软雅黑" panose="020B0503020204020204" pitchFamily="34" charset="-122"/>
                <a:ea typeface="微软雅黑" panose="020B0503020204020204" pitchFamily="34" charset="-122"/>
                <a:cs typeface="思源黑体"/>
                <a:sym typeface="思源黑体"/>
              </a:rPr>
              <a:t>开题</a:t>
            </a:r>
            <a:r>
              <a:rPr lang="en-US" altLang="zh-CN" sz="2471" b="1" spc="247">
                <a:latin typeface="微软雅黑" panose="020B0503020204020204" pitchFamily="34" charset="-122"/>
                <a:ea typeface="微软雅黑" panose="020B0503020204020204" pitchFamily="34" charset="-122"/>
                <a:cs typeface="思源黑体"/>
                <a:sym typeface="思源黑体"/>
              </a:rPr>
              <a:t>/</a:t>
            </a:r>
            <a:r>
              <a:rPr lang="zh-CN" altLang="en-US" sz="2471" b="1" spc="247">
                <a:latin typeface="微软雅黑" panose="020B0503020204020204" pitchFamily="34" charset="-122"/>
                <a:ea typeface="微软雅黑" panose="020B0503020204020204" pitchFamily="34" charset="-122"/>
                <a:cs typeface="思源黑体"/>
                <a:sym typeface="思源黑体"/>
              </a:rPr>
              <a:t>中期对照</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103" name="组合 102">
            <a:extLst>
              <a:ext uri="{FF2B5EF4-FFF2-40B4-BE49-F238E27FC236}">
                <a16:creationId xmlns:a16="http://schemas.microsoft.com/office/drawing/2014/main" id="{FAA351EB-926B-0843-FE60-B21F2AAE7078}"/>
              </a:ext>
            </a:extLst>
          </p:cNvPr>
          <p:cNvGrpSpPr/>
          <p:nvPr/>
        </p:nvGrpSpPr>
        <p:grpSpPr>
          <a:xfrm>
            <a:off x="4958102" y="982683"/>
            <a:ext cx="8487221" cy="2408217"/>
            <a:chOff x="4958102" y="982683"/>
            <a:chExt cx="8487221" cy="2408217"/>
          </a:xfrm>
        </p:grpSpPr>
        <p:grpSp>
          <p:nvGrpSpPr>
            <p:cNvPr id="76" name="Group 6">
              <a:extLst>
                <a:ext uri="{FF2B5EF4-FFF2-40B4-BE49-F238E27FC236}">
                  <a16:creationId xmlns:a16="http://schemas.microsoft.com/office/drawing/2014/main" id="{C1DCEEB4-246D-83EC-CAED-A57E9D266C65}"/>
                </a:ext>
              </a:extLst>
            </p:cNvPr>
            <p:cNvGrpSpPr/>
            <p:nvPr/>
          </p:nvGrpSpPr>
          <p:grpSpPr>
            <a:xfrm>
              <a:off x="5147474" y="982683"/>
              <a:ext cx="1623239" cy="1050188"/>
              <a:chOff x="0" y="-47625"/>
              <a:chExt cx="600585" cy="1111802"/>
            </a:xfrm>
            <a:solidFill>
              <a:schemeClr val="accent3">
                <a:lumMod val="75000"/>
              </a:schemeClr>
            </a:solidFill>
          </p:grpSpPr>
          <p:sp>
            <p:nvSpPr>
              <p:cNvPr id="81" name="Freeform 7">
                <a:extLst>
                  <a:ext uri="{FF2B5EF4-FFF2-40B4-BE49-F238E27FC236}">
                    <a16:creationId xmlns:a16="http://schemas.microsoft.com/office/drawing/2014/main" id="{00E4DA58-4B0D-A77F-A5AE-CF4761EFDF13}"/>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82" name="TextBox 8">
                <a:extLst>
                  <a:ext uri="{FF2B5EF4-FFF2-40B4-BE49-F238E27FC236}">
                    <a16:creationId xmlns:a16="http://schemas.microsoft.com/office/drawing/2014/main" id="{744AB526-909F-4FFB-60D6-2CAA118D8927}"/>
                  </a:ext>
                </a:extLst>
              </p:cNvPr>
              <p:cNvSpPr txBox="1"/>
              <p:nvPr/>
            </p:nvSpPr>
            <p:spPr>
              <a:xfrm>
                <a:off x="0" y="-47625"/>
                <a:ext cx="600585" cy="536941"/>
              </a:xfrm>
              <a:prstGeom prst="rect">
                <a:avLst/>
              </a:prstGeom>
              <a:grp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7" name="TextBox 12">
              <a:extLst>
                <a:ext uri="{FF2B5EF4-FFF2-40B4-BE49-F238E27FC236}">
                  <a16:creationId xmlns:a16="http://schemas.microsoft.com/office/drawing/2014/main" id="{2B32F168-D9CB-4169-ADEA-64D953927FA9}"/>
                </a:ext>
              </a:extLst>
            </p:cNvPr>
            <p:cNvSpPr txBox="1"/>
            <p:nvPr/>
          </p:nvSpPr>
          <p:spPr>
            <a:xfrm>
              <a:off x="4958102" y="990328"/>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1-</a:t>
              </a:r>
              <a:r>
                <a:rPr lang="zh-CN" altLang="en-US" sz="2471" b="1" spc="247" dirty="0">
                  <a:latin typeface="微软雅黑" panose="020B0503020204020204" pitchFamily="34" charset="-122"/>
                  <a:ea typeface="微软雅黑" panose="020B0503020204020204" pitchFamily="34" charset="-122"/>
                  <a:cs typeface="思源黑体"/>
                  <a:sym typeface="思源黑体"/>
                </a:rPr>
                <a:t>定义</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78" name="组合 77">
              <a:extLst>
                <a:ext uri="{FF2B5EF4-FFF2-40B4-BE49-F238E27FC236}">
                  <a16:creationId xmlns:a16="http://schemas.microsoft.com/office/drawing/2014/main" id="{2ABF6AC1-1BA9-82E6-7C54-496AB84ABABF}"/>
                </a:ext>
              </a:extLst>
            </p:cNvPr>
            <p:cNvGrpSpPr/>
            <p:nvPr/>
          </p:nvGrpSpPr>
          <p:grpSpPr>
            <a:xfrm>
              <a:off x="5147476" y="1489868"/>
              <a:ext cx="8297847" cy="1901032"/>
              <a:chOff x="4662917" y="1285753"/>
              <a:chExt cx="8297847" cy="1901032"/>
            </a:xfrm>
          </p:grpSpPr>
          <p:sp>
            <p:nvSpPr>
              <p:cNvPr id="79" name="Freeform 10">
                <a:extLst>
                  <a:ext uri="{FF2B5EF4-FFF2-40B4-BE49-F238E27FC236}">
                    <a16:creationId xmlns:a16="http://schemas.microsoft.com/office/drawing/2014/main" id="{4F07C567-4A23-B007-326C-325806230B56}"/>
                  </a:ext>
                </a:extLst>
              </p:cNvPr>
              <p:cNvSpPr/>
              <p:nvPr/>
            </p:nvSpPr>
            <p:spPr>
              <a:xfrm>
                <a:off x="4662917" y="1285753"/>
                <a:ext cx="8297847" cy="1832103"/>
              </a:xfrm>
              <a:prstGeom prst="roundRect">
                <a:avLst/>
              </a:prstGeom>
              <a:solidFill>
                <a:schemeClr val="accent3">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80" name="文本框 79">
                <a:extLst>
                  <a:ext uri="{FF2B5EF4-FFF2-40B4-BE49-F238E27FC236}">
                    <a16:creationId xmlns:a16="http://schemas.microsoft.com/office/drawing/2014/main" id="{415B6537-29AA-9529-C618-41CC124CD9DF}"/>
                  </a:ext>
                </a:extLst>
              </p:cNvPr>
              <p:cNvSpPr txBox="1"/>
              <p:nvPr/>
            </p:nvSpPr>
            <p:spPr>
              <a:xfrm>
                <a:off x="4784575" y="1524792"/>
                <a:ext cx="8054529" cy="1661993"/>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cs typeface="字由点字典黑"/>
                    <a:sym typeface="字由点字典黑"/>
                  </a:rPr>
                  <a:t>视线追踪技术是指通过分析人眼的运动状态来估计其注视方向或注视点位置，是人机交互、智能驾驶、虚拟现实和行为分析等领域的重要基础技术。</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83" name="表格 82">
            <a:extLst>
              <a:ext uri="{FF2B5EF4-FFF2-40B4-BE49-F238E27FC236}">
                <a16:creationId xmlns:a16="http://schemas.microsoft.com/office/drawing/2014/main" id="{D3568115-D231-5DC8-7D23-1431BA8AB54E}"/>
              </a:ext>
            </a:extLst>
          </p:cNvPr>
          <p:cNvGraphicFramePr>
            <a:graphicFrameLocks noGrp="1"/>
          </p:cNvGraphicFramePr>
          <p:nvPr>
            <p:extLst>
              <p:ext uri="{D42A27DB-BD31-4B8C-83A1-F6EECF244321}">
                <p14:modId xmlns:p14="http://schemas.microsoft.com/office/powerpoint/2010/main" val="2889204377"/>
              </p:ext>
            </p:extLst>
          </p:nvPr>
        </p:nvGraphicFramePr>
        <p:xfrm>
          <a:off x="871568" y="4277695"/>
          <a:ext cx="7543800" cy="5343546"/>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1268427">
                  <a:extLst>
                    <a:ext uri="{9D8B030D-6E8A-4147-A177-3AD203B41FA5}">
                      <a16:colId xmlns:a16="http://schemas.microsoft.com/office/drawing/2014/main" val="1630521359"/>
                    </a:ext>
                  </a:extLst>
                </a:gridCol>
                <a:gridCol w="6275373">
                  <a:extLst>
                    <a:ext uri="{9D8B030D-6E8A-4147-A177-3AD203B41FA5}">
                      <a16:colId xmlns:a16="http://schemas.microsoft.com/office/drawing/2014/main" val="70282334"/>
                    </a:ext>
                  </a:extLst>
                </a:gridCol>
              </a:tblGrid>
              <a:tr h="1322115">
                <a:tc gridSpan="2">
                  <a:txBody>
                    <a:bodyPr/>
                    <a:lstStyle/>
                    <a:p>
                      <a:pPr algn="ctr"/>
                      <a:r>
                        <a:rPr lang="zh-CN" altLang="en-US" sz="2800" b="1" kern="1200">
                          <a:solidFill>
                            <a:schemeClr val="lt1"/>
                          </a:solidFill>
                          <a:effectLst/>
                          <a:latin typeface="微软雅黑" panose="020B0503020204020204" pitchFamily="34" charset="-122"/>
                          <a:ea typeface="微软雅黑" panose="020B0503020204020204" pitchFamily="34" charset="-122"/>
                        </a:rPr>
                        <a:t>开题阶段</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a:latin typeface="微软雅黑" panose="020B0503020204020204" pitchFamily="34" charset="-122"/>
                          <a:ea typeface="微软雅黑" panose="020B0503020204020204" pitchFamily="34" charset="-122"/>
                        </a:rPr>
                        <a:t>核心问题</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为什么做、准备怎么做</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696312499"/>
                  </a:ext>
                </a:extLst>
              </a:tr>
              <a:tr h="1340477">
                <a:tc>
                  <a:txBody>
                    <a:bodyPr/>
                    <a:lstStyle/>
                    <a:p>
                      <a:pPr algn="ctr"/>
                      <a:r>
                        <a:rPr lang="zh-CN" altLang="en-US" sz="2800">
                          <a:latin typeface="微软雅黑" panose="020B0503020204020204" pitchFamily="34" charset="-122"/>
                          <a:ea typeface="微软雅黑" panose="020B0503020204020204" pitchFamily="34" charset="-122"/>
                        </a:rPr>
                        <a:t>关注重点</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应用场景、技术路线、评估方案</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65146016"/>
                  </a:ext>
                </a:extLst>
              </a:tr>
              <a:tr h="1340477">
                <a:tc>
                  <a:txBody>
                    <a:bodyPr/>
                    <a:lstStyle/>
                    <a:p>
                      <a:pPr algn="ctr"/>
                      <a:r>
                        <a:rPr lang="zh-CN" altLang="en-US" sz="2800">
                          <a:latin typeface="微软雅黑" panose="020B0503020204020204" pitchFamily="34" charset="-122"/>
                          <a:ea typeface="微软雅黑" panose="020B0503020204020204" pitchFamily="34" charset="-122"/>
                        </a:rPr>
                        <a:t>当前状态</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研究设想已明确，但关键风险待验证</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34935130"/>
                  </a:ext>
                </a:extLst>
              </a:tr>
            </a:tbl>
          </a:graphicData>
        </a:graphic>
      </p:graphicFrame>
      <p:sp>
        <p:nvSpPr>
          <p:cNvPr id="86" name="文本框 85">
            <a:extLst>
              <a:ext uri="{FF2B5EF4-FFF2-40B4-BE49-F238E27FC236}">
                <a16:creationId xmlns:a16="http://schemas.microsoft.com/office/drawing/2014/main" id="{384EFA46-E276-AEFE-5AE6-82C183E24A00}"/>
              </a:ext>
            </a:extLst>
          </p:cNvPr>
          <p:cNvSpPr txBox="1"/>
          <p:nvPr/>
        </p:nvSpPr>
        <p:spPr>
          <a:xfrm>
            <a:off x="8641013" y="13193919"/>
            <a:ext cx="1310769" cy="1200329"/>
          </a:xfrm>
          <a:prstGeom prst="rect">
            <a:avLst/>
          </a:prstGeom>
          <a:noFill/>
        </p:spPr>
        <p:txBody>
          <a:bodyPr wrap="square" rtlCol="0">
            <a:spAutoFit/>
          </a:bodyPr>
          <a:lstStyle/>
          <a:p>
            <a:pPr algn="ctr"/>
            <a:r>
              <a:rPr lang="en-US" altLang="zh-CN" sz="4800" dirty="0">
                <a:latin typeface="微软雅黑" panose="020B0503020204020204" pitchFamily="34" charset="-122"/>
                <a:ea typeface="微软雅黑" panose="020B0503020204020204" pitchFamily="34" charset="-122"/>
                <a:cs typeface="字由点字典黑"/>
                <a:sym typeface="字由点字典黑"/>
              </a:rPr>
              <a:t>VS</a:t>
            </a:r>
            <a:endParaRPr lang="en-US" altLang="zh-CN" sz="36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100" name="表格 99">
            <a:extLst>
              <a:ext uri="{FF2B5EF4-FFF2-40B4-BE49-F238E27FC236}">
                <a16:creationId xmlns:a16="http://schemas.microsoft.com/office/drawing/2014/main" id="{B1229F0B-59AB-E43A-D0C6-351F3FAC19D3}"/>
              </a:ext>
            </a:extLst>
          </p:cNvPr>
          <p:cNvGraphicFramePr>
            <a:graphicFrameLocks noGrp="1"/>
          </p:cNvGraphicFramePr>
          <p:nvPr>
            <p:extLst>
              <p:ext uri="{D42A27DB-BD31-4B8C-83A1-F6EECF244321}">
                <p14:modId xmlns:p14="http://schemas.microsoft.com/office/powerpoint/2010/main" val="427033112"/>
              </p:ext>
            </p:extLst>
          </p:nvPr>
        </p:nvGraphicFramePr>
        <p:xfrm>
          <a:off x="10162187" y="10862265"/>
          <a:ext cx="7543800" cy="5863635"/>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2471773">
                  <a:extLst>
                    <a:ext uri="{9D8B030D-6E8A-4147-A177-3AD203B41FA5}">
                      <a16:colId xmlns:a16="http://schemas.microsoft.com/office/drawing/2014/main" val="1630521359"/>
                    </a:ext>
                  </a:extLst>
                </a:gridCol>
                <a:gridCol w="5072027">
                  <a:extLst>
                    <a:ext uri="{9D8B030D-6E8A-4147-A177-3AD203B41FA5}">
                      <a16:colId xmlns:a16="http://schemas.microsoft.com/office/drawing/2014/main" val="70282334"/>
                    </a:ext>
                  </a:extLst>
                </a:gridCol>
              </a:tblGrid>
              <a:tr h="1322115">
                <a:tc gridSpan="2">
                  <a:txBody>
                    <a:bodyPr/>
                    <a:lstStyle/>
                    <a:p>
                      <a:pPr algn="ctr"/>
                      <a:r>
                        <a:rPr lang="zh-CN" altLang="en-US" sz="2800" b="1" kern="1200" dirty="0">
                          <a:solidFill>
                            <a:schemeClr val="lt1"/>
                          </a:solidFill>
                          <a:effectLst/>
                          <a:latin typeface="微软雅黑" panose="020B0503020204020204" pitchFamily="34" charset="-122"/>
                          <a:ea typeface="微软雅黑" panose="020B0503020204020204" pitchFamily="34" charset="-122"/>
                        </a:rPr>
                        <a:t>基于普通</a:t>
                      </a:r>
                      <a:r>
                        <a:rPr lang="en-US" altLang="zh-CN" sz="2800" b="1" kern="1200" dirty="0">
                          <a:solidFill>
                            <a:schemeClr val="lt1"/>
                          </a:solidFill>
                          <a:effectLst/>
                          <a:latin typeface="微软雅黑" panose="020B0503020204020204" pitchFamily="34" charset="-122"/>
                          <a:ea typeface="微软雅黑" panose="020B0503020204020204" pitchFamily="34" charset="-122"/>
                        </a:rPr>
                        <a:t>RGB</a:t>
                      </a:r>
                      <a:r>
                        <a:rPr lang="zh-CN" altLang="en-US" sz="2800" b="1" kern="1200" dirty="0">
                          <a:solidFill>
                            <a:schemeClr val="lt1"/>
                          </a:solidFill>
                          <a:effectLst/>
                          <a:latin typeface="微软雅黑" panose="020B0503020204020204" pitchFamily="34" charset="-122"/>
                          <a:ea typeface="微软雅黑" panose="020B0503020204020204" pitchFamily="34" charset="-122"/>
                        </a:rPr>
                        <a:t>摄像头的非接触式视线追踪</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zh-CN" sz="2800" dirty="0">
                          <a:effectLst/>
                          <a:latin typeface="微软雅黑" panose="020B0503020204020204" pitchFamily="34" charset="-122"/>
                          <a:ea typeface="微软雅黑" panose="020B0503020204020204" pitchFamily="34" charset="-122"/>
                          <a:cs typeface="宋体" panose="02010600030101010101" pitchFamily="2" charset="-122"/>
                        </a:rPr>
                        <a:t>基于几何和图像处理</a:t>
                      </a: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估计视线方向</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实现简单、实时性好，但对个体差异、头部姿态变化和环境光照高度敏感，泛化能力有限</a:t>
                      </a:r>
                      <a:endParaRPr lang="en-US" altLang="zh-CN" sz="2800" dirty="0">
                        <a:effectLst/>
                        <a:latin typeface="微软雅黑" panose="020B0503020204020204" pitchFamily="34" charset="-122"/>
                        <a:ea typeface="微软雅黑" panose="020B0503020204020204" pitchFamily="34" charset="-122"/>
                        <a:cs typeface="宋体" panose="02010600030101010101" pitchFamily="2" charset="-122"/>
                      </a:endParaRPr>
                    </a:p>
                  </a:txBody>
                  <a:tcPr anchor="ctr"/>
                </a:tc>
                <a:extLst>
                  <a:ext uri="{0D108BD9-81ED-4DB2-BD59-A6C34878D82A}">
                    <a16:rowId xmlns:a16="http://schemas.microsoft.com/office/drawing/2014/main" val="1696312499"/>
                  </a:ext>
                </a:extLst>
              </a:tr>
              <a:tr h="1340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latin typeface="微软雅黑" panose="020B0503020204020204" pitchFamily="34" charset="-122"/>
                          <a:ea typeface="微软雅黑" panose="020B0503020204020204" pitchFamily="34" charset="-122"/>
                        </a:rPr>
                        <a:t>端到端深度学习方法预测二维视线</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具有较强的表达能力，但往往依赖大规模数据训练，且模型在跨设备、跨用户条件下性能下降明显</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深度学习的外观建模能力</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几何约束</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一定程度上兼顾精度与泛化能力</a:t>
                      </a:r>
                    </a:p>
                  </a:txBody>
                  <a:tcPr anchor="ctr"/>
                </a:tc>
                <a:extLst>
                  <a:ext uri="{0D108BD9-81ED-4DB2-BD59-A6C34878D82A}">
                    <a16:rowId xmlns:a16="http://schemas.microsoft.com/office/drawing/2014/main" val="934935130"/>
                  </a:ext>
                </a:extLst>
              </a:tr>
            </a:tbl>
          </a:graphicData>
        </a:graphic>
      </p:graphicFrame>
      <p:sp>
        <p:nvSpPr>
          <p:cNvPr id="101" name="TextBox 5">
            <a:extLst>
              <a:ext uri="{FF2B5EF4-FFF2-40B4-BE49-F238E27FC236}">
                <a16:creationId xmlns:a16="http://schemas.microsoft.com/office/drawing/2014/main" id="{437A1856-9B27-6005-C83B-F489622AEC38}"/>
              </a:ext>
            </a:extLst>
          </p:cNvPr>
          <p:cNvSpPr txBox="1"/>
          <p:nvPr/>
        </p:nvSpPr>
        <p:spPr>
          <a:xfrm>
            <a:off x="826865" y="342900"/>
            <a:ext cx="3757622"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从开题到中期：关注点更具体</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Tree>
    <p:extLst>
      <p:ext uri="{BB962C8B-B14F-4D97-AF65-F5344CB8AC3E}">
        <p14:creationId xmlns:p14="http://schemas.microsoft.com/office/powerpoint/2010/main" val="16931853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F75B5-9042-9439-770C-BFDE5093FD5D}"/>
            </a:ext>
          </a:extLst>
        </p:cNvPr>
        <p:cNvGrpSpPr/>
        <p:nvPr/>
      </p:nvGrpSpPr>
      <p:grpSpPr>
        <a:xfrm>
          <a:off x="0" y="0"/>
          <a:ext cx="0" cy="0"/>
          <a:chOff x="0" y="0"/>
          <a:chExt cx="0" cy="0"/>
        </a:xfrm>
      </p:grpSpPr>
      <p:sp>
        <p:nvSpPr>
          <p:cNvPr id="85" name="TextBox 8">
            <a:extLst>
              <a:ext uri="{FF2B5EF4-FFF2-40B4-BE49-F238E27FC236}">
                <a16:creationId xmlns:a16="http://schemas.microsoft.com/office/drawing/2014/main" id="{DCFB115D-2CF2-57F6-7095-D6445704199C}"/>
              </a:ext>
            </a:extLst>
          </p:cNvPr>
          <p:cNvSpPr txBox="1"/>
          <p:nvPr/>
        </p:nvSpPr>
        <p:spPr>
          <a:xfrm>
            <a:off x="868237" y="3752601"/>
            <a:ext cx="2484563" cy="1050188"/>
          </a:xfrm>
          <a:prstGeom prst="rect">
            <a:avLst/>
          </a:prstGeom>
          <a:solidFill>
            <a:schemeClr val="accent2">
              <a:lumMod val="75000"/>
            </a:schemeClr>
          </a:solidFill>
        </p:spPr>
        <p:txBody>
          <a:bodyPr lIns="50800" tIns="50800" rIns="50800" bIns="50800" rtlCol="0" anchor="ctr"/>
          <a:lstStyle/>
          <a:p>
            <a:pPr algn="ctr">
              <a:lnSpc>
                <a:spcPts val="3359"/>
              </a:lnSpc>
            </a:pPr>
            <a:endParaRPr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grpSp>
        <p:nvGrpSpPr>
          <p:cNvPr id="2" name="Group 2">
            <a:extLst>
              <a:ext uri="{FF2B5EF4-FFF2-40B4-BE49-F238E27FC236}">
                <a16:creationId xmlns:a16="http://schemas.microsoft.com/office/drawing/2014/main" id="{9E131C34-23F3-2564-642F-D8D2B2752811}"/>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1640B652-E015-49C3-29B3-9592352830DE}"/>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507D2E76-333D-E0F4-10D5-5E36815D573F}"/>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7F7D4BED-0C51-02EB-8016-EEB95097BAD4}"/>
              </a:ext>
            </a:extLst>
          </p:cNvPr>
          <p:cNvSpPr txBox="1"/>
          <p:nvPr/>
        </p:nvSpPr>
        <p:spPr>
          <a:xfrm>
            <a:off x="509580" y="363614"/>
            <a:ext cx="358658"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1</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12" name="TextBox 12">
            <a:extLst>
              <a:ext uri="{FF2B5EF4-FFF2-40B4-BE49-F238E27FC236}">
                <a16:creationId xmlns:a16="http://schemas.microsoft.com/office/drawing/2014/main" id="{411054D1-FE83-26AB-CAB8-60E4ED9680EF}"/>
              </a:ext>
            </a:extLst>
          </p:cNvPr>
          <p:cNvSpPr txBox="1"/>
          <p:nvPr/>
        </p:nvSpPr>
        <p:spPr>
          <a:xfrm>
            <a:off x="1113131" y="3793576"/>
            <a:ext cx="1994774" cy="860877"/>
          </a:xfrm>
          <a:prstGeom prst="rect">
            <a:avLst/>
          </a:prstGeom>
        </p:spPr>
        <p:txBody>
          <a:bodyPr lIns="0" tIns="0" rIns="0" bIns="0" rtlCol="0" anchor="t">
            <a:spAutoFit/>
          </a:bodyPr>
          <a:lstStyle/>
          <a:p>
            <a:pPr algn="ctr">
              <a:lnSpc>
                <a:spcPts val="3460"/>
              </a:lnSpc>
              <a:spcBef>
                <a:spcPct val="0"/>
              </a:spcBef>
            </a:pPr>
            <a:r>
              <a:rPr lang="en-US" altLang="zh-CN" sz="2471" b="1" spc="247">
                <a:latin typeface="微软雅黑" panose="020B0503020204020204" pitchFamily="34" charset="-122"/>
                <a:ea typeface="微软雅黑" panose="020B0503020204020204" pitchFamily="34" charset="-122"/>
                <a:cs typeface="思源黑体"/>
                <a:sym typeface="思源黑体"/>
              </a:rPr>
              <a:t>1-</a:t>
            </a:r>
            <a:r>
              <a:rPr lang="zh-CN" altLang="en-US" sz="2471" b="1" spc="247">
                <a:latin typeface="微软雅黑" panose="020B0503020204020204" pitchFamily="34" charset="-122"/>
                <a:ea typeface="微软雅黑" panose="020B0503020204020204" pitchFamily="34" charset="-122"/>
                <a:cs typeface="思源黑体"/>
                <a:sym typeface="思源黑体"/>
              </a:rPr>
              <a:t>开题</a:t>
            </a:r>
            <a:r>
              <a:rPr lang="en-US" altLang="zh-CN" sz="2471" b="1" spc="247">
                <a:latin typeface="微软雅黑" panose="020B0503020204020204" pitchFamily="34" charset="-122"/>
                <a:ea typeface="微软雅黑" panose="020B0503020204020204" pitchFamily="34" charset="-122"/>
                <a:cs typeface="思源黑体"/>
                <a:sym typeface="思源黑体"/>
              </a:rPr>
              <a:t>/</a:t>
            </a:r>
            <a:r>
              <a:rPr lang="zh-CN" altLang="en-US" sz="2471" b="1" spc="247">
                <a:latin typeface="微软雅黑" panose="020B0503020204020204" pitchFamily="34" charset="-122"/>
                <a:ea typeface="微软雅黑" panose="020B0503020204020204" pitchFamily="34" charset="-122"/>
                <a:cs typeface="思源黑体"/>
                <a:sym typeface="思源黑体"/>
              </a:rPr>
              <a:t>中期对照</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103" name="组合 102">
            <a:extLst>
              <a:ext uri="{FF2B5EF4-FFF2-40B4-BE49-F238E27FC236}">
                <a16:creationId xmlns:a16="http://schemas.microsoft.com/office/drawing/2014/main" id="{B91D54D8-16B4-2380-BB13-68F598F9F64C}"/>
              </a:ext>
            </a:extLst>
          </p:cNvPr>
          <p:cNvGrpSpPr/>
          <p:nvPr/>
        </p:nvGrpSpPr>
        <p:grpSpPr>
          <a:xfrm>
            <a:off x="4958102" y="982683"/>
            <a:ext cx="8487221" cy="2408217"/>
            <a:chOff x="4958102" y="982683"/>
            <a:chExt cx="8487221" cy="2408217"/>
          </a:xfrm>
        </p:grpSpPr>
        <p:grpSp>
          <p:nvGrpSpPr>
            <p:cNvPr id="76" name="Group 6">
              <a:extLst>
                <a:ext uri="{FF2B5EF4-FFF2-40B4-BE49-F238E27FC236}">
                  <a16:creationId xmlns:a16="http://schemas.microsoft.com/office/drawing/2014/main" id="{239F368A-9F66-DAE2-13E8-A7E575FA9589}"/>
                </a:ext>
              </a:extLst>
            </p:cNvPr>
            <p:cNvGrpSpPr/>
            <p:nvPr/>
          </p:nvGrpSpPr>
          <p:grpSpPr>
            <a:xfrm>
              <a:off x="5147474" y="982683"/>
              <a:ext cx="1623239" cy="1050188"/>
              <a:chOff x="0" y="-47625"/>
              <a:chExt cx="600585" cy="1111802"/>
            </a:xfrm>
            <a:solidFill>
              <a:schemeClr val="accent3">
                <a:lumMod val="75000"/>
              </a:schemeClr>
            </a:solidFill>
          </p:grpSpPr>
          <p:sp>
            <p:nvSpPr>
              <p:cNvPr id="81" name="Freeform 7">
                <a:extLst>
                  <a:ext uri="{FF2B5EF4-FFF2-40B4-BE49-F238E27FC236}">
                    <a16:creationId xmlns:a16="http://schemas.microsoft.com/office/drawing/2014/main" id="{C3870449-64E4-2203-C6B3-3BDBE5EFEE1E}"/>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82" name="TextBox 8">
                <a:extLst>
                  <a:ext uri="{FF2B5EF4-FFF2-40B4-BE49-F238E27FC236}">
                    <a16:creationId xmlns:a16="http://schemas.microsoft.com/office/drawing/2014/main" id="{78DEB69A-B437-2496-C3F1-8482E0E0A245}"/>
                  </a:ext>
                </a:extLst>
              </p:cNvPr>
              <p:cNvSpPr txBox="1"/>
              <p:nvPr/>
            </p:nvSpPr>
            <p:spPr>
              <a:xfrm>
                <a:off x="0" y="-47625"/>
                <a:ext cx="600585" cy="536941"/>
              </a:xfrm>
              <a:prstGeom prst="rect">
                <a:avLst/>
              </a:prstGeom>
              <a:grp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7" name="TextBox 12">
              <a:extLst>
                <a:ext uri="{FF2B5EF4-FFF2-40B4-BE49-F238E27FC236}">
                  <a16:creationId xmlns:a16="http://schemas.microsoft.com/office/drawing/2014/main" id="{449351CE-A7B2-3921-D1D7-EBD31343E06B}"/>
                </a:ext>
              </a:extLst>
            </p:cNvPr>
            <p:cNvSpPr txBox="1"/>
            <p:nvPr/>
          </p:nvSpPr>
          <p:spPr>
            <a:xfrm>
              <a:off x="4958102" y="990328"/>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1-</a:t>
              </a:r>
              <a:r>
                <a:rPr lang="zh-CN" altLang="en-US" sz="2471" b="1" spc="247" dirty="0">
                  <a:latin typeface="微软雅黑" panose="020B0503020204020204" pitchFamily="34" charset="-122"/>
                  <a:ea typeface="微软雅黑" panose="020B0503020204020204" pitchFamily="34" charset="-122"/>
                  <a:cs typeface="思源黑体"/>
                  <a:sym typeface="思源黑体"/>
                </a:rPr>
                <a:t>定义</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78" name="组合 77">
              <a:extLst>
                <a:ext uri="{FF2B5EF4-FFF2-40B4-BE49-F238E27FC236}">
                  <a16:creationId xmlns:a16="http://schemas.microsoft.com/office/drawing/2014/main" id="{7AC71BB4-1AD7-DC56-8D32-18D553C5E41C}"/>
                </a:ext>
              </a:extLst>
            </p:cNvPr>
            <p:cNvGrpSpPr/>
            <p:nvPr/>
          </p:nvGrpSpPr>
          <p:grpSpPr>
            <a:xfrm>
              <a:off x="5147476" y="1489868"/>
              <a:ext cx="8297847" cy="1901032"/>
              <a:chOff x="4662917" y="1285753"/>
              <a:chExt cx="8297847" cy="1901032"/>
            </a:xfrm>
          </p:grpSpPr>
          <p:sp>
            <p:nvSpPr>
              <p:cNvPr id="79" name="Freeform 10">
                <a:extLst>
                  <a:ext uri="{FF2B5EF4-FFF2-40B4-BE49-F238E27FC236}">
                    <a16:creationId xmlns:a16="http://schemas.microsoft.com/office/drawing/2014/main" id="{076909EC-8023-BF8D-28F0-AEE13B740F1A}"/>
                  </a:ext>
                </a:extLst>
              </p:cNvPr>
              <p:cNvSpPr/>
              <p:nvPr/>
            </p:nvSpPr>
            <p:spPr>
              <a:xfrm>
                <a:off x="4662917" y="1285753"/>
                <a:ext cx="8297847" cy="1832103"/>
              </a:xfrm>
              <a:prstGeom prst="roundRect">
                <a:avLst/>
              </a:prstGeom>
              <a:solidFill>
                <a:schemeClr val="accent3">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80" name="文本框 79">
                <a:extLst>
                  <a:ext uri="{FF2B5EF4-FFF2-40B4-BE49-F238E27FC236}">
                    <a16:creationId xmlns:a16="http://schemas.microsoft.com/office/drawing/2014/main" id="{12C8CC37-C8AD-3C14-833E-94D568DAE4C4}"/>
                  </a:ext>
                </a:extLst>
              </p:cNvPr>
              <p:cNvSpPr txBox="1"/>
              <p:nvPr/>
            </p:nvSpPr>
            <p:spPr>
              <a:xfrm>
                <a:off x="4784575" y="1524792"/>
                <a:ext cx="8054529" cy="1661993"/>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cs typeface="字由点字典黑"/>
                    <a:sym typeface="字由点字典黑"/>
                  </a:rPr>
                  <a:t>视线追踪技术是指通过分析人眼的运动状态来估计其注视方向或注视点位置，是人机交互、智能驾驶、虚拟现实和行为分析等领域的重要基础技术。</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dirty="0">
                  <a:latin typeface="微软雅黑" panose="020B0503020204020204" pitchFamily="34" charset="-122"/>
                  <a:ea typeface="微软雅黑" panose="020B0503020204020204" pitchFamily="34" charset="-122"/>
                </a:endParaRPr>
              </a:p>
            </p:txBody>
          </p:sp>
        </p:grpSp>
      </p:grpSp>
      <p:graphicFrame>
        <p:nvGraphicFramePr>
          <p:cNvPr id="83" name="表格 82">
            <a:extLst>
              <a:ext uri="{FF2B5EF4-FFF2-40B4-BE49-F238E27FC236}">
                <a16:creationId xmlns:a16="http://schemas.microsoft.com/office/drawing/2014/main" id="{F44C1613-AAAE-D457-39C8-D46289DA7314}"/>
              </a:ext>
            </a:extLst>
          </p:cNvPr>
          <p:cNvGraphicFramePr>
            <a:graphicFrameLocks noGrp="1"/>
          </p:cNvGraphicFramePr>
          <p:nvPr>
            <p:extLst>
              <p:ext uri="{D42A27DB-BD31-4B8C-83A1-F6EECF244321}">
                <p14:modId xmlns:p14="http://schemas.microsoft.com/office/powerpoint/2010/main" val="2650489996"/>
              </p:ext>
            </p:extLst>
          </p:nvPr>
        </p:nvGraphicFramePr>
        <p:xfrm>
          <a:off x="871568" y="4277695"/>
          <a:ext cx="7543800" cy="5343546"/>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1268427">
                  <a:extLst>
                    <a:ext uri="{9D8B030D-6E8A-4147-A177-3AD203B41FA5}">
                      <a16:colId xmlns:a16="http://schemas.microsoft.com/office/drawing/2014/main" val="1630521359"/>
                    </a:ext>
                  </a:extLst>
                </a:gridCol>
                <a:gridCol w="6275373">
                  <a:extLst>
                    <a:ext uri="{9D8B030D-6E8A-4147-A177-3AD203B41FA5}">
                      <a16:colId xmlns:a16="http://schemas.microsoft.com/office/drawing/2014/main" val="70282334"/>
                    </a:ext>
                  </a:extLst>
                </a:gridCol>
              </a:tblGrid>
              <a:tr h="1322115">
                <a:tc gridSpan="2">
                  <a:txBody>
                    <a:bodyPr/>
                    <a:lstStyle/>
                    <a:p>
                      <a:pPr algn="ctr"/>
                      <a:r>
                        <a:rPr lang="zh-CN" altLang="en-US" sz="2800" b="1" kern="1200">
                          <a:solidFill>
                            <a:schemeClr val="lt1"/>
                          </a:solidFill>
                          <a:effectLst/>
                          <a:latin typeface="微软雅黑" panose="020B0503020204020204" pitchFamily="34" charset="-122"/>
                          <a:ea typeface="微软雅黑" panose="020B0503020204020204" pitchFamily="34" charset="-122"/>
                        </a:rPr>
                        <a:t>开题阶段</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a:latin typeface="微软雅黑" panose="020B0503020204020204" pitchFamily="34" charset="-122"/>
                          <a:ea typeface="微软雅黑" panose="020B0503020204020204" pitchFamily="34" charset="-122"/>
                        </a:rPr>
                        <a:t>核心问题</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为什么做、准备怎么做</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1696312499"/>
                  </a:ext>
                </a:extLst>
              </a:tr>
              <a:tr h="1340477">
                <a:tc>
                  <a:txBody>
                    <a:bodyPr/>
                    <a:lstStyle/>
                    <a:p>
                      <a:pPr algn="ctr"/>
                      <a:r>
                        <a:rPr lang="zh-CN" altLang="en-US" sz="2800">
                          <a:latin typeface="微软雅黑" panose="020B0503020204020204" pitchFamily="34" charset="-122"/>
                          <a:ea typeface="微软雅黑" panose="020B0503020204020204" pitchFamily="34" charset="-122"/>
                        </a:rPr>
                        <a:t>关注重点</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应用场景、技术路线、评估方案</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65146016"/>
                  </a:ext>
                </a:extLst>
              </a:tr>
              <a:tr h="1340477">
                <a:tc>
                  <a:txBody>
                    <a:bodyPr/>
                    <a:lstStyle/>
                    <a:p>
                      <a:pPr algn="ctr"/>
                      <a:r>
                        <a:rPr lang="zh-CN" altLang="en-US" sz="2800">
                          <a:latin typeface="微软雅黑" panose="020B0503020204020204" pitchFamily="34" charset="-122"/>
                          <a:ea typeface="微软雅黑" panose="020B0503020204020204" pitchFamily="34" charset="-122"/>
                        </a:rPr>
                        <a:t>当前状态</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研究设想已明确，但关键风险待验证</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34935130"/>
                  </a:ext>
                </a:extLst>
              </a:tr>
            </a:tbl>
          </a:graphicData>
        </a:graphic>
      </p:graphicFrame>
      <p:sp>
        <p:nvSpPr>
          <p:cNvPr id="86" name="文本框 85">
            <a:extLst>
              <a:ext uri="{FF2B5EF4-FFF2-40B4-BE49-F238E27FC236}">
                <a16:creationId xmlns:a16="http://schemas.microsoft.com/office/drawing/2014/main" id="{109F5594-4245-DCBE-7D14-E609A3FE0913}"/>
              </a:ext>
            </a:extLst>
          </p:cNvPr>
          <p:cNvSpPr txBox="1"/>
          <p:nvPr/>
        </p:nvSpPr>
        <p:spPr>
          <a:xfrm>
            <a:off x="8641013" y="6295936"/>
            <a:ext cx="1310769" cy="1200329"/>
          </a:xfrm>
          <a:prstGeom prst="rect">
            <a:avLst/>
          </a:prstGeom>
          <a:noFill/>
        </p:spPr>
        <p:txBody>
          <a:bodyPr wrap="square" rtlCol="0">
            <a:spAutoFit/>
          </a:bodyPr>
          <a:lstStyle/>
          <a:p>
            <a:pPr algn="ctr"/>
            <a:r>
              <a:rPr lang="en-US" altLang="zh-CN" sz="4800" dirty="0">
                <a:latin typeface="微软雅黑" panose="020B0503020204020204" pitchFamily="34" charset="-122"/>
                <a:ea typeface="微软雅黑" panose="020B0503020204020204" pitchFamily="34" charset="-122"/>
                <a:cs typeface="字由点字典黑"/>
                <a:sym typeface="字由点字典黑"/>
              </a:rPr>
              <a:t>VS</a:t>
            </a:r>
            <a:endParaRPr lang="en-US" altLang="zh-CN" sz="36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sz="2400" dirty="0">
              <a:latin typeface="微软雅黑" panose="020B0503020204020204" pitchFamily="34" charset="-122"/>
              <a:ea typeface="微软雅黑" panose="020B0503020204020204" pitchFamily="34" charset="-122"/>
            </a:endParaRPr>
          </a:p>
        </p:txBody>
      </p:sp>
      <p:graphicFrame>
        <p:nvGraphicFramePr>
          <p:cNvPr id="100" name="表格 99">
            <a:extLst>
              <a:ext uri="{FF2B5EF4-FFF2-40B4-BE49-F238E27FC236}">
                <a16:creationId xmlns:a16="http://schemas.microsoft.com/office/drawing/2014/main" id="{106C0C0A-C6F9-1F9F-4856-7D3A7DED2236}"/>
              </a:ext>
            </a:extLst>
          </p:cNvPr>
          <p:cNvGraphicFramePr>
            <a:graphicFrameLocks noGrp="1"/>
          </p:cNvGraphicFramePr>
          <p:nvPr>
            <p:extLst>
              <p:ext uri="{D42A27DB-BD31-4B8C-83A1-F6EECF244321}">
                <p14:modId xmlns:p14="http://schemas.microsoft.com/office/powerpoint/2010/main" val="2656736398"/>
              </p:ext>
            </p:extLst>
          </p:nvPr>
        </p:nvGraphicFramePr>
        <p:xfrm>
          <a:off x="10162187" y="3964282"/>
          <a:ext cx="7543800" cy="5863635"/>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2471773">
                  <a:extLst>
                    <a:ext uri="{9D8B030D-6E8A-4147-A177-3AD203B41FA5}">
                      <a16:colId xmlns:a16="http://schemas.microsoft.com/office/drawing/2014/main" val="1630521359"/>
                    </a:ext>
                  </a:extLst>
                </a:gridCol>
                <a:gridCol w="5072027">
                  <a:extLst>
                    <a:ext uri="{9D8B030D-6E8A-4147-A177-3AD203B41FA5}">
                      <a16:colId xmlns:a16="http://schemas.microsoft.com/office/drawing/2014/main" val="70282334"/>
                    </a:ext>
                  </a:extLst>
                </a:gridCol>
              </a:tblGrid>
              <a:tr h="1322115">
                <a:tc gridSpan="2">
                  <a:txBody>
                    <a:bodyPr/>
                    <a:lstStyle/>
                    <a:p>
                      <a:pPr algn="ctr"/>
                      <a:r>
                        <a:rPr lang="zh-CN" altLang="en-US" sz="2800" b="1" kern="1200">
                          <a:solidFill>
                            <a:schemeClr val="lt1"/>
                          </a:solidFill>
                          <a:effectLst/>
                          <a:latin typeface="微软雅黑" panose="020B0503020204020204" pitchFamily="34" charset="-122"/>
                          <a:ea typeface="微软雅黑" panose="020B0503020204020204" pitchFamily="34" charset="-122"/>
                        </a:rPr>
                        <a:t>中期阶段</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a:effectLst/>
                          <a:latin typeface="微软雅黑" panose="020B0503020204020204" pitchFamily="34" charset="-122"/>
                          <a:ea typeface="微软雅黑" panose="020B0503020204020204" pitchFamily="34" charset="-122"/>
                          <a:cs typeface="宋体" panose="02010600030101010101" pitchFamily="2" charset="-122"/>
                        </a:rPr>
                        <a:t>核心问题</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effectLst/>
                          <a:latin typeface="微软雅黑" panose="020B0503020204020204" pitchFamily="34" charset="-122"/>
                          <a:ea typeface="微软雅黑" panose="020B0503020204020204" pitchFamily="34" charset="-122"/>
                          <a:cs typeface="宋体" panose="02010600030101010101" pitchFamily="2" charset="-122"/>
                        </a:rPr>
                        <a:t>路线是否成立、关键风险是否收敛</a:t>
                      </a:r>
                      <a:endParaRPr lang="en-US" altLang="zh-CN" sz="2800" dirty="0">
                        <a:effectLst/>
                        <a:latin typeface="微软雅黑" panose="020B0503020204020204" pitchFamily="34" charset="-122"/>
                        <a:ea typeface="微软雅黑" panose="020B0503020204020204" pitchFamily="34" charset="-122"/>
                        <a:cs typeface="宋体" panose="02010600030101010101" pitchFamily="2" charset="-122"/>
                      </a:endParaRPr>
                    </a:p>
                  </a:txBody>
                  <a:tcPr anchor="ctr"/>
                </a:tc>
                <a:extLst>
                  <a:ext uri="{0D108BD9-81ED-4DB2-BD59-A6C34878D82A}">
                    <a16:rowId xmlns:a16="http://schemas.microsoft.com/office/drawing/2014/main" val="1696312499"/>
                  </a:ext>
                </a:extLst>
              </a:tr>
              <a:tr h="1340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a:latin typeface="微软雅黑" panose="020B0503020204020204" pitchFamily="34" charset="-122"/>
                          <a:ea typeface="微软雅黑" panose="020B0503020204020204" pitchFamily="34" charset="-122"/>
                        </a:rPr>
                        <a:t>关注重点</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已完成链路、阶段结果、剩余问题</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2865146016"/>
                  </a:ext>
                </a:extLst>
              </a:tr>
              <a:tr h="1340477">
                <a:tc>
                  <a:txBody>
                    <a:bodyPr/>
                    <a:lstStyle/>
                    <a:p>
                      <a:pPr algn="ctr"/>
                      <a:r>
                        <a:rPr lang="zh-CN" altLang="en-US" sz="2800">
                          <a:latin typeface="微软雅黑" panose="020B0503020204020204" pitchFamily="34" charset="-122"/>
                          <a:ea typeface="微软雅黑" panose="020B0503020204020204" pitchFamily="34" charset="-122"/>
                        </a:rPr>
                        <a:t>当前状态</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a:latin typeface="微软雅黑" panose="020B0503020204020204" pitchFamily="34" charset="-122"/>
                          <a:ea typeface="微软雅黑" panose="020B0503020204020204" pitchFamily="34" charset="-122"/>
                        </a:rPr>
                        <a:t>已从可行性验证转入优化与收尾</a:t>
                      </a:r>
                      <a:endParaRPr lang="zh-CN" altLang="en-US" sz="2800" dirty="0">
                        <a:latin typeface="微软雅黑" panose="020B0503020204020204" pitchFamily="34" charset="-122"/>
                        <a:ea typeface="微软雅黑" panose="020B0503020204020204" pitchFamily="34" charset="-122"/>
                      </a:endParaRPr>
                    </a:p>
                  </a:txBody>
                  <a:tcPr anchor="ctr"/>
                </a:tc>
                <a:extLst>
                  <a:ext uri="{0D108BD9-81ED-4DB2-BD59-A6C34878D82A}">
                    <a16:rowId xmlns:a16="http://schemas.microsoft.com/office/drawing/2014/main" val="934935130"/>
                  </a:ext>
                </a:extLst>
              </a:tr>
            </a:tbl>
          </a:graphicData>
        </a:graphic>
      </p:graphicFrame>
      <p:sp>
        <p:nvSpPr>
          <p:cNvPr id="101" name="TextBox 5">
            <a:extLst>
              <a:ext uri="{FF2B5EF4-FFF2-40B4-BE49-F238E27FC236}">
                <a16:creationId xmlns:a16="http://schemas.microsoft.com/office/drawing/2014/main" id="{50178C13-139C-4BCE-968E-B642B8E7B4E0}"/>
              </a:ext>
            </a:extLst>
          </p:cNvPr>
          <p:cNvSpPr txBox="1"/>
          <p:nvPr/>
        </p:nvSpPr>
        <p:spPr>
          <a:xfrm>
            <a:off x="826865" y="342900"/>
            <a:ext cx="3757622"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从开题到中期：关注点更具体</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grpSp>
        <p:nvGrpSpPr>
          <p:cNvPr id="6" name="组合 5">
            <a:extLst>
              <a:ext uri="{FF2B5EF4-FFF2-40B4-BE49-F238E27FC236}">
                <a16:creationId xmlns:a16="http://schemas.microsoft.com/office/drawing/2014/main" id="{6845822A-3134-3BE8-5DF0-168CF2B528A0}"/>
              </a:ext>
            </a:extLst>
          </p:cNvPr>
          <p:cNvGrpSpPr/>
          <p:nvPr/>
        </p:nvGrpSpPr>
        <p:grpSpPr>
          <a:xfrm>
            <a:off x="19350651" y="2001896"/>
            <a:ext cx="15701349" cy="7256404"/>
            <a:chOff x="1260987" y="2001896"/>
            <a:chExt cx="15701349" cy="7256404"/>
          </a:xfrm>
        </p:grpSpPr>
        <p:grpSp>
          <p:nvGrpSpPr>
            <p:cNvPr id="7" name="组合 6">
              <a:extLst>
                <a:ext uri="{FF2B5EF4-FFF2-40B4-BE49-F238E27FC236}">
                  <a16:creationId xmlns:a16="http://schemas.microsoft.com/office/drawing/2014/main" id="{F6C36A32-89E0-9A3A-E5B5-B0BF3BB64074}"/>
                </a:ext>
              </a:extLst>
            </p:cNvPr>
            <p:cNvGrpSpPr/>
            <p:nvPr/>
          </p:nvGrpSpPr>
          <p:grpSpPr>
            <a:xfrm>
              <a:off x="1260987" y="2001896"/>
              <a:ext cx="2014461" cy="1050188"/>
              <a:chOff x="1260987" y="2001896"/>
              <a:chExt cx="2014461" cy="1050188"/>
            </a:xfrm>
          </p:grpSpPr>
          <p:grpSp>
            <p:nvGrpSpPr>
              <p:cNvPr id="16" name="Group 6">
                <a:extLst>
                  <a:ext uri="{FF2B5EF4-FFF2-40B4-BE49-F238E27FC236}">
                    <a16:creationId xmlns:a16="http://schemas.microsoft.com/office/drawing/2014/main" id="{F9FCFF8F-5991-1E94-4DF9-BE27C41DA628}"/>
                  </a:ext>
                </a:extLst>
              </p:cNvPr>
              <p:cNvGrpSpPr/>
              <p:nvPr/>
            </p:nvGrpSpPr>
            <p:grpSpPr>
              <a:xfrm>
                <a:off x="1319982" y="2001896"/>
                <a:ext cx="1955466" cy="1050188"/>
                <a:chOff x="0" y="-47625"/>
                <a:chExt cx="600585" cy="1111802"/>
              </a:xfrm>
              <a:solidFill>
                <a:schemeClr val="accent3">
                  <a:lumMod val="75000"/>
                </a:schemeClr>
              </a:solidFill>
            </p:grpSpPr>
            <p:sp>
              <p:nvSpPr>
                <p:cNvPr id="18" name="Freeform 7">
                  <a:extLst>
                    <a:ext uri="{FF2B5EF4-FFF2-40B4-BE49-F238E27FC236}">
                      <a16:creationId xmlns:a16="http://schemas.microsoft.com/office/drawing/2014/main" id="{F1DEB72F-EFD6-3BC3-E063-ADDF5E53EC8F}"/>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19" name="TextBox 8">
                  <a:extLst>
                    <a:ext uri="{FF2B5EF4-FFF2-40B4-BE49-F238E27FC236}">
                      <a16:creationId xmlns:a16="http://schemas.microsoft.com/office/drawing/2014/main" id="{7FADD7E2-13F3-01A9-8D1E-2BC7A9D33255}"/>
                    </a:ext>
                  </a:extLst>
                </p:cNvPr>
                <p:cNvSpPr txBox="1"/>
                <p:nvPr/>
              </p:nvSpPr>
              <p:spPr>
                <a:xfrm>
                  <a:off x="0" y="-47625"/>
                  <a:ext cx="600585" cy="1111802"/>
                </a:xfrm>
                <a:prstGeom prst="rect">
                  <a:avLst/>
                </a:prstGeom>
                <a:solidFill>
                  <a:schemeClr val="accent4">
                    <a:lumMod val="60000"/>
                    <a:lumOff val="40000"/>
                  </a:schemeClr>
                </a:solid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17" name="TextBox 12">
                <a:extLst>
                  <a:ext uri="{FF2B5EF4-FFF2-40B4-BE49-F238E27FC236}">
                    <a16:creationId xmlns:a16="http://schemas.microsoft.com/office/drawing/2014/main" id="{81B342D3-3226-975A-4976-69BCF401F1E0}"/>
                  </a:ext>
                </a:extLst>
              </p:cNvPr>
              <p:cNvSpPr txBox="1"/>
              <p:nvPr/>
            </p:nvSpPr>
            <p:spPr>
              <a:xfrm>
                <a:off x="1260987" y="2032702"/>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3-</a:t>
                </a:r>
                <a:r>
                  <a:rPr lang="zh-CN" altLang="en-US" sz="2471" b="1" spc="247" dirty="0">
                    <a:latin typeface="微软雅黑" panose="020B0503020204020204" pitchFamily="34" charset="-122"/>
                    <a:ea typeface="微软雅黑" panose="020B0503020204020204" pitchFamily="34" charset="-122"/>
                    <a:cs typeface="思源黑体"/>
                    <a:sym typeface="思源黑体"/>
                  </a:rPr>
                  <a:t>数据集</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sp>
          <p:nvSpPr>
            <p:cNvPr id="8" name="Freeform 10">
              <a:extLst>
                <a:ext uri="{FF2B5EF4-FFF2-40B4-BE49-F238E27FC236}">
                  <a16:creationId xmlns:a16="http://schemas.microsoft.com/office/drawing/2014/main" id="{3C8AA89D-3E7A-E9BA-DA07-F3204745A6AF}"/>
                </a:ext>
              </a:extLst>
            </p:cNvPr>
            <p:cNvSpPr/>
            <p:nvPr/>
          </p:nvSpPr>
          <p:spPr>
            <a:xfrm>
              <a:off x="1289718" y="2549483"/>
              <a:ext cx="15672618" cy="6708817"/>
            </a:xfrm>
            <a:custGeom>
              <a:avLst/>
              <a:gdLst/>
              <a:ahLst/>
              <a:cxnLst/>
              <a:rect l="l" t="t" r="r" b="b"/>
              <a:pathLst>
                <a:path w="2206670" h="1328574">
                  <a:moveTo>
                    <a:pt x="30493" y="0"/>
                  </a:moveTo>
                  <a:lnTo>
                    <a:pt x="2176177" y="0"/>
                  </a:lnTo>
                  <a:cubicBezTo>
                    <a:pt x="2193018" y="0"/>
                    <a:pt x="2206670" y="13652"/>
                    <a:pt x="2206670" y="30493"/>
                  </a:cubicBezTo>
                  <a:lnTo>
                    <a:pt x="2206670" y="1298081"/>
                  </a:lnTo>
                  <a:cubicBezTo>
                    <a:pt x="2206670" y="1314922"/>
                    <a:pt x="2193018" y="1328574"/>
                    <a:pt x="2176177" y="1328574"/>
                  </a:cubicBezTo>
                  <a:lnTo>
                    <a:pt x="30493" y="1328574"/>
                  </a:lnTo>
                  <a:cubicBezTo>
                    <a:pt x="13652" y="1328574"/>
                    <a:pt x="0" y="1314922"/>
                    <a:pt x="0" y="1298081"/>
                  </a:cubicBezTo>
                  <a:lnTo>
                    <a:pt x="0" y="30493"/>
                  </a:lnTo>
                  <a:cubicBezTo>
                    <a:pt x="0" y="13652"/>
                    <a:pt x="13652" y="0"/>
                    <a:pt x="30493" y="0"/>
                  </a:cubicBezTo>
                  <a:close/>
                </a:path>
              </a:pathLst>
            </a:custGeom>
            <a:solidFill>
              <a:schemeClr val="accent4">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9" name="文本框 8">
              <a:extLst>
                <a:ext uri="{FF2B5EF4-FFF2-40B4-BE49-F238E27FC236}">
                  <a16:creationId xmlns:a16="http://schemas.microsoft.com/office/drawing/2014/main" id="{C43B9685-984F-9EDB-EB5A-12AC84A99260}"/>
                </a:ext>
              </a:extLst>
            </p:cNvPr>
            <p:cNvSpPr txBox="1"/>
            <p:nvPr/>
          </p:nvSpPr>
          <p:spPr>
            <a:xfrm>
              <a:off x="1827217" y="6791814"/>
              <a:ext cx="4122469" cy="954107"/>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MPIIGaze</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基于外貌的野外凝视估计</a:t>
              </a:r>
              <a:endParaRPr lang="zh-CN" altLang="en-US" dirty="0"/>
            </a:p>
          </p:txBody>
        </p:sp>
        <p:sp>
          <p:nvSpPr>
            <p:cNvPr id="10" name="文本框 9">
              <a:extLst>
                <a:ext uri="{FF2B5EF4-FFF2-40B4-BE49-F238E27FC236}">
                  <a16:creationId xmlns:a16="http://schemas.microsoft.com/office/drawing/2014/main" id="{6D8330CC-1AE1-99D7-FCAF-0A31015036ED}"/>
                </a:ext>
              </a:extLst>
            </p:cNvPr>
            <p:cNvSpPr txBox="1"/>
            <p:nvPr/>
          </p:nvSpPr>
          <p:spPr>
            <a:xfrm>
              <a:off x="6487185" y="6909018"/>
              <a:ext cx="5244933" cy="1815882"/>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Gaze360</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野外物理无限制</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的凝视估计</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pPr algn="ct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1" name="文本框 10">
              <a:extLst>
                <a:ext uri="{FF2B5EF4-FFF2-40B4-BE49-F238E27FC236}">
                  <a16:creationId xmlns:a16="http://schemas.microsoft.com/office/drawing/2014/main" id="{B8B4CC2F-F30E-C703-3A50-F242FD447F76}"/>
                </a:ext>
              </a:extLst>
            </p:cNvPr>
            <p:cNvSpPr txBox="1"/>
            <p:nvPr/>
          </p:nvSpPr>
          <p:spPr>
            <a:xfrm>
              <a:off x="12659086" y="6905812"/>
              <a:ext cx="3048000" cy="1384995"/>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UnityEyes</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快速合成大量可变眼区</a:t>
              </a:r>
              <a:r>
                <a:rPr lang="en-US" altLang="zh-CN" sz="2800" dirty="0">
                  <a:latin typeface="微软雅黑" panose="020B0503020204020204" pitchFamily="34" charset="-122"/>
                  <a:ea typeface="微软雅黑" panose="020B0503020204020204" pitchFamily="34" charset="-122"/>
                  <a:cs typeface="字由点字典黑"/>
                  <a:sym typeface="字由点字典黑"/>
                </a:rPr>
                <a:t>3D</a:t>
              </a:r>
              <a:r>
                <a:rPr lang="zh-CN" altLang="en-US" sz="2800" dirty="0">
                  <a:latin typeface="微软雅黑" panose="020B0503020204020204" pitchFamily="34" charset="-122"/>
                  <a:ea typeface="微软雅黑" panose="020B0503020204020204" pitchFamily="34" charset="-122"/>
                  <a:cs typeface="字由点字典黑"/>
                  <a:sym typeface="字由点字典黑"/>
                </a:rPr>
                <a:t>图像</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pic>
          <p:nvPicPr>
            <p:cNvPr id="13" name="图片 12">
              <a:extLst>
                <a:ext uri="{FF2B5EF4-FFF2-40B4-BE49-F238E27FC236}">
                  <a16:creationId xmlns:a16="http://schemas.microsoft.com/office/drawing/2014/main" id="{DB3C8C89-D62F-03CF-94E5-01668E5A7C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2425" y="3467100"/>
              <a:ext cx="4326852" cy="3140753"/>
            </a:xfrm>
            <a:prstGeom prst="rect">
              <a:avLst/>
            </a:prstGeom>
          </p:spPr>
        </p:pic>
        <p:pic>
          <p:nvPicPr>
            <p:cNvPr id="14" name="图片 13">
              <a:extLst>
                <a:ext uri="{FF2B5EF4-FFF2-40B4-BE49-F238E27FC236}">
                  <a16:creationId xmlns:a16="http://schemas.microsoft.com/office/drawing/2014/main" id="{42A369C6-A87F-29E3-E55F-1B017CDFA9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0850" y="3619500"/>
              <a:ext cx="4326850" cy="2926052"/>
            </a:xfrm>
            <a:prstGeom prst="rect">
              <a:avLst/>
            </a:prstGeom>
          </p:spPr>
        </p:pic>
        <p:pic>
          <p:nvPicPr>
            <p:cNvPr id="15" name="图片 14">
              <a:extLst>
                <a:ext uri="{FF2B5EF4-FFF2-40B4-BE49-F238E27FC236}">
                  <a16:creationId xmlns:a16="http://schemas.microsoft.com/office/drawing/2014/main" id="{24FE72C0-A748-AB25-2D34-AFEFEDFE4B6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4436" y="3268620"/>
              <a:ext cx="4326851" cy="3347970"/>
            </a:xfrm>
            <a:prstGeom prst="rect">
              <a:avLst/>
            </a:prstGeom>
          </p:spPr>
        </p:pic>
      </p:grpSp>
    </p:spTree>
    <p:extLst>
      <p:ext uri="{BB962C8B-B14F-4D97-AF65-F5344CB8AC3E}">
        <p14:creationId xmlns:p14="http://schemas.microsoft.com/office/powerpoint/2010/main" val="27344552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8187C-9BAC-5890-B058-669541717FA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D4A9DF5-42FC-C9D8-F1D8-B7BF9E8264FA}"/>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D014D1E9-F699-E7A8-4520-ADA53F6B7647}"/>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32BAC895-48D4-D78A-EA1E-565A03104A60}"/>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 name="TextBox 5">
            <a:extLst>
              <a:ext uri="{FF2B5EF4-FFF2-40B4-BE49-F238E27FC236}">
                <a16:creationId xmlns:a16="http://schemas.microsoft.com/office/drawing/2014/main" id="{A0B96058-6322-1BD3-3E79-45B9376DFE0E}"/>
              </a:ext>
            </a:extLst>
          </p:cNvPr>
          <p:cNvSpPr txBox="1"/>
          <p:nvPr/>
        </p:nvSpPr>
        <p:spPr>
          <a:xfrm>
            <a:off x="509579" y="363614"/>
            <a:ext cx="4817659" cy="1231940"/>
          </a:xfrm>
          <a:prstGeom prst="rect">
            <a:avLst/>
          </a:prstGeom>
        </p:spPr>
        <p:txBody>
          <a:bodyPr lIns="0" tIns="0" rIns="0" bIns="0" rtlCol="0" anchor="t">
            <a:spAutoFit/>
          </a:bodyPr>
          <a:lstStyle/>
          <a:p>
            <a:pPr algn="l">
              <a:lnSpc>
                <a:spcPts val="5040"/>
              </a:lnSpc>
              <a:spcBef>
                <a:spcPct val="0"/>
              </a:spcBef>
            </a:pPr>
            <a:r>
              <a:rPr lang="en-US" altLang="zh-CN"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1 </a:t>
            </a: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开题基础与路线选择</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40" name="TextBox 40">
            <a:extLst>
              <a:ext uri="{FF2B5EF4-FFF2-40B4-BE49-F238E27FC236}">
                <a16:creationId xmlns:a16="http://schemas.microsoft.com/office/drawing/2014/main" id="{54132225-8C0A-6702-1B06-8F4CDF98FC7D}"/>
              </a:ext>
            </a:extLst>
          </p:cNvPr>
          <p:cNvSpPr txBox="1"/>
          <p:nvPr/>
        </p:nvSpPr>
        <p:spPr>
          <a:xfrm>
            <a:off x="2839108" y="3309978"/>
            <a:ext cx="2742010" cy="369323"/>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nvGrpSpPr>
          <p:cNvPr id="38" name="组合 37">
            <a:extLst>
              <a:ext uri="{FF2B5EF4-FFF2-40B4-BE49-F238E27FC236}">
                <a16:creationId xmlns:a16="http://schemas.microsoft.com/office/drawing/2014/main" id="{80A2AD09-BD76-F45B-4DD4-91FA49764F49}"/>
              </a:ext>
            </a:extLst>
          </p:cNvPr>
          <p:cNvGrpSpPr/>
          <p:nvPr/>
        </p:nvGrpSpPr>
        <p:grpSpPr>
          <a:xfrm>
            <a:off x="4958102" y="-3162300"/>
            <a:ext cx="8487221" cy="2408217"/>
            <a:chOff x="4958102" y="982683"/>
            <a:chExt cx="8487221" cy="2408217"/>
          </a:xfrm>
        </p:grpSpPr>
        <p:grpSp>
          <p:nvGrpSpPr>
            <p:cNvPr id="39" name="Group 6">
              <a:extLst>
                <a:ext uri="{FF2B5EF4-FFF2-40B4-BE49-F238E27FC236}">
                  <a16:creationId xmlns:a16="http://schemas.microsoft.com/office/drawing/2014/main" id="{27AD86B6-2497-E076-B834-298AF35CF781}"/>
                </a:ext>
              </a:extLst>
            </p:cNvPr>
            <p:cNvGrpSpPr/>
            <p:nvPr/>
          </p:nvGrpSpPr>
          <p:grpSpPr>
            <a:xfrm>
              <a:off x="5147474" y="982683"/>
              <a:ext cx="1623239" cy="1050188"/>
              <a:chOff x="0" y="-47625"/>
              <a:chExt cx="600585" cy="1111802"/>
            </a:xfrm>
            <a:solidFill>
              <a:schemeClr val="accent3">
                <a:lumMod val="75000"/>
              </a:schemeClr>
            </a:solidFill>
          </p:grpSpPr>
          <p:sp>
            <p:nvSpPr>
              <p:cNvPr id="45" name="Freeform 7">
                <a:extLst>
                  <a:ext uri="{FF2B5EF4-FFF2-40B4-BE49-F238E27FC236}">
                    <a16:creationId xmlns:a16="http://schemas.microsoft.com/office/drawing/2014/main" id="{B81EB735-0558-1943-4C0F-AC5035ABE0BB}"/>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46" name="TextBox 8">
                <a:extLst>
                  <a:ext uri="{FF2B5EF4-FFF2-40B4-BE49-F238E27FC236}">
                    <a16:creationId xmlns:a16="http://schemas.microsoft.com/office/drawing/2014/main" id="{A378D1F8-C882-A28B-06AD-3ADE6A138AEF}"/>
                  </a:ext>
                </a:extLst>
              </p:cNvPr>
              <p:cNvSpPr txBox="1"/>
              <p:nvPr/>
            </p:nvSpPr>
            <p:spPr>
              <a:xfrm>
                <a:off x="0" y="-47625"/>
                <a:ext cx="600585" cy="536941"/>
              </a:xfrm>
              <a:prstGeom prst="rect">
                <a:avLst/>
              </a:prstGeom>
              <a:grp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41" name="TextBox 12">
              <a:extLst>
                <a:ext uri="{FF2B5EF4-FFF2-40B4-BE49-F238E27FC236}">
                  <a16:creationId xmlns:a16="http://schemas.microsoft.com/office/drawing/2014/main" id="{33502BC1-4D18-EFEA-6F68-BBFB398FD8AC}"/>
                </a:ext>
              </a:extLst>
            </p:cNvPr>
            <p:cNvSpPr txBox="1"/>
            <p:nvPr/>
          </p:nvSpPr>
          <p:spPr>
            <a:xfrm>
              <a:off x="4958102" y="990328"/>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1-</a:t>
              </a:r>
              <a:r>
                <a:rPr lang="zh-CN" altLang="en-US" sz="2471" b="1" spc="247" dirty="0">
                  <a:latin typeface="微软雅黑" panose="020B0503020204020204" pitchFamily="34" charset="-122"/>
                  <a:ea typeface="微软雅黑" panose="020B0503020204020204" pitchFamily="34" charset="-122"/>
                  <a:cs typeface="思源黑体"/>
                  <a:sym typeface="思源黑体"/>
                </a:rPr>
                <a:t>定义</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nvGrpSpPr>
            <p:cNvPr id="42" name="组合 41">
              <a:extLst>
                <a:ext uri="{FF2B5EF4-FFF2-40B4-BE49-F238E27FC236}">
                  <a16:creationId xmlns:a16="http://schemas.microsoft.com/office/drawing/2014/main" id="{2150C8AC-5DA2-2D88-8AAE-ACF44446A3C1}"/>
                </a:ext>
              </a:extLst>
            </p:cNvPr>
            <p:cNvGrpSpPr/>
            <p:nvPr/>
          </p:nvGrpSpPr>
          <p:grpSpPr>
            <a:xfrm>
              <a:off x="5147476" y="1489868"/>
              <a:ext cx="8297847" cy="1901032"/>
              <a:chOff x="4662917" y="1285753"/>
              <a:chExt cx="8297847" cy="1901032"/>
            </a:xfrm>
          </p:grpSpPr>
          <p:sp>
            <p:nvSpPr>
              <p:cNvPr id="43" name="Freeform 10">
                <a:extLst>
                  <a:ext uri="{FF2B5EF4-FFF2-40B4-BE49-F238E27FC236}">
                    <a16:creationId xmlns:a16="http://schemas.microsoft.com/office/drawing/2014/main" id="{88C54D50-7BAF-A4C7-5C9A-A2D70EF081F8}"/>
                  </a:ext>
                </a:extLst>
              </p:cNvPr>
              <p:cNvSpPr/>
              <p:nvPr/>
            </p:nvSpPr>
            <p:spPr>
              <a:xfrm>
                <a:off x="4662917" y="1285753"/>
                <a:ext cx="8297847" cy="1832103"/>
              </a:xfrm>
              <a:prstGeom prst="roundRect">
                <a:avLst/>
              </a:prstGeom>
              <a:solidFill>
                <a:schemeClr val="accent3">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44" name="文本框 43">
                <a:extLst>
                  <a:ext uri="{FF2B5EF4-FFF2-40B4-BE49-F238E27FC236}">
                    <a16:creationId xmlns:a16="http://schemas.microsoft.com/office/drawing/2014/main" id="{6CCCD53C-D3BD-C673-6B99-1A2B3C032D30}"/>
                  </a:ext>
                </a:extLst>
              </p:cNvPr>
              <p:cNvSpPr txBox="1"/>
              <p:nvPr/>
            </p:nvSpPr>
            <p:spPr>
              <a:xfrm>
                <a:off x="4784575" y="1524792"/>
                <a:ext cx="8054529" cy="1661993"/>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cs typeface="字由点字典黑"/>
                    <a:sym typeface="字由点字典黑"/>
                  </a:rPr>
                  <a:t>视线追踪技术是指通过分析人眼的运动状态来估计其注视方向或注视点位置，是人机交互、智能驾驶、虚拟现实和行为分析等领域的重要基础技术。</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endParaRPr lang="zh-CN" altLang="en-US" dirty="0">
                  <a:latin typeface="微软雅黑" panose="020B0503020204020204" pitchFamily="34" charset="-122"/>
                  <a:ea typeface="微软雅黑" panose="020B0503020204020204" pitchFamily="34" charset="-122"/>
                </a:endParaRPr>
              </a:p>
            </p:txBody>
          </p:sp>
        </p:grpSp>
      </p:grpSp>
      <p:sp>
        <p:nvSpPr>
          <p:cNvPr id="47" name="TextBox 8">
            <a:extLst>
              <a:ext uri="{FF2B5EF4-FFF2-40B4-BE49-F238E27FC236}">
                <a16:creationId xmlns:a16="http://schemas.microsoft.com/office/drawing/2014/main" id="{5A1A05C0-BEB1-FD42-C61C-E454A118FDB9}"/>
              </a:ext>
            </a:extLst>
          </p:cNvPr>
          <p:cNvSpPr txBox="1"/>
          <p:nvPr/>
        </p:nvSpPr>
        <p:spPr>
          <a:xfrm>
            <a:off x="868237" y="10726784"/>
            <a:ext cx="2484563" cy="1050188"/>
          </a:xfrm>
          <a:prstGeom prst="rect">
            <a:avLst/>
          </a:prstGeom>
          <a:solidFill>
            <a:schemeClr val="accent2">
              <a:lumMod val="75000"/>
            </a:schemeClr>
          </a:solidFill>
        </p:spPr>
        <p:txBody>
          <a:bodyPr lIns="50800" tIns="50800" rIns="50800" bIns="50800" rtlCol="0" anchor="ctr"/>
          <a:lstStyle/>
          <a:p>
            <a:pPr algn="ctr">
              <a:lnSpc>
                <a:spcPts val="3359"/>
              </a:lnSpc>
            </a:pPr>
            <a:endParaRPr dirty="0">
              <a:solidFill>
                <a:schemeClr val="accent2">
                  <a:lumMod val="60000"/>
                  <a:lumOff val="40000"/>
                </a:schemeClr>
              </a:solidFill>
              <a:latin typeface="微软雅黑" panose="020B0503020204020204" pitchFamily="34" charset="-122"/>
              <a:ea typeface="微软雅黑" panose="020B0503020204020204" pitchFamily="34" charset="-122"/>
            </a:endParaRPr>
          </a:p>
        </p:txBody>
      </p:sp>
      <p:sp>
        <p:nvSpPr>
          <p:cNvPr id="48" name="TextBox 12">
            <a:extLst>
              <a:ext uri="{FF2B5EF4-FFF2-40B4-BE49-F238E27FC236}">
                <a16:creationId xmlns:a16="http://schemas.microsoft.com/office/drawing/2014/main" id="{ECEEE56D-767A-9534-D8E0-FA064B4E2E03}"/>
              </a:ext>
            </a:extLst>
          </p:cNvPr>
          <p:cNvSpPr txBox="1"/>
          <p:nvPr/>
        </p:nvSpPr>
        <p:spPr>
          <a:xfrm>
            <a:off x="1113131" y="10767759"/>
            <a:ext cx="1994774" cy="860877"/>
          </a:xfrm>
          <a:prstGeom prst="rect">
            <a:avLst/>
          </a:prstGeom>
        </p:spPr>
        <p:txBody>
          <a:bodyPr lIns="0" tIns="0" rIns="0" bIns="0" rtlCol="0" anchor="t">
            <a:spAutoFit/>
          </a:bodyPr>
          <a:lstStyle/>
          <a:p>
            <a:pPr algn="ctr">
              <a:lnSpc>
                <a:spcPts val="3460"/>
              </a:lnSpc>
              <a:spcBef>
                <a:spcPct val="0"/>
              </a:spcBef>
            </a:pPr>
            <a:r>
              <a:rPr lang="zh-CN" altLang="en-US" sz="2471" b="1" spc="247">
                <a:latin typeface="微软雅黑" panose="020B0503020204020204" pitchFamily="34" charset="-122"/>
                <a:ea typeface="微软雅黑" panose="020B0503020204020204" pitchFamily="34" charset="-122"/>
                <a:cs typeface="思源黑体"/>
                <a:sym typeface="思源黑体"/>
              </a:rPr>
              <a:t>公开数据预训练基础</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aphicFrame>
        <p:nvGraphicFramePr>
          <p:cNvPr id="49" name="表格 48">
            <a:extLst>
              <a:ext uri="{FF2B5EF4-FFF2-40B4-BE49-F238E27FC236}">
                <a16:creationId xmlns:a16="http://schemas.microsoft.com/office/drawing/2014/main" id="{D4780B7C-526B-42B3-6E21-54ADCACA09A2}"/>
              </a:ext>
            </a:extLst>
          </p:cNvPr>
          <p:cNvGraphicFramePr>
            <a:graphicFrameLocks noGrp="1"/>
          </p:cNvGraphicFramePr>
          <p:nvPr>
            <p:extLst>
              <p:ext uri="{D42A27DB-BD31-4B8C-83A1-F6EECF244321}">
                <p14:modId xmlns:p14="http://schemas.microsoft.com/office/powerpoint/2010/main" val="1311548661"/>
              </p:ext>
            </p:extLst>
          </p:nvPr>
        </p:nvGraphicFramePr>
        <p:xfrm>
          <a:off x="871568" y="11251878"/>
          <a:ext cx="7543800" cy="5343546"/>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1268427">
                  <a:extLst>
                    <a:ext uri="{9D8B030D-6E8A-4147-A177-3AD203B41FA5}">
                      <a16:colId xmlns:a16="http://schemas.microsoft.com/office/drawing/2014/main" val="1630521359"/>
                    </a:ext>
                  </a:extLst>
                </a:gridCol>
                <a:gridCol w="6275373">
                  <a:extLst>
                    <a:ext uri="{9D8B030D-6E8A-4147-A177-3AD203B41FA5}">
                      <a16:colId xmlns:a16="http://schemas.microsoft.com/office/drawing/2014/main" val="70282334"/>
                    </a:ext>
                  </a:extLst>
                </a:gridCol>
              </a:tblGrid>
              <a:tr h="1322115">
                <a:tc gridSpan="2">
                  <a:txBody>
                    <a:bodyPr/>
                    <a:lstStyle/>
                    <a:p>
                      <a:pPr algn="ctr"/>
                      <a:r>
                        <a:rPr lang="zh-CN" altLang="zh-CN" sz="2800" b="1" kern="1200" dirty="0">
                          <a:solidFill>
                            <a:schemeClr val="lt1"/>
                          </a:solidFill>
                          <a:effectLst/>
                          <a:latin typeface="微软雅黑" panose="020B0503020204020204" pitchFamily="34" charset="-122"/>
                          <a:ea typeface="微软雅黑" panose="020B0503020204020204" pitchFamily="34" charset="-122"/>
                        </a:rPr>
                        <a:t>传统眼动追踪系统</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特点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依赖红外摄像头和专用光源，通过检测瞳孔中心和角膜反射点实现追踪</a:t>
                      </a:r>
                    </a:p>
                  </a:txBody>
                  <a:tcPr anchor="ctr"/>
                </a:tc>
                <a:extLst>
                  <a:ext uri="{0D108BD9-81ED-4DB2-BD59-A6C34878D82A}">
                    <a16:rowId xmlns:a16="http://schemas.microsoft.com/office/drawing/2014/main" val="1696312499"/>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优点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精度在特定条件下非常高</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缺点</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系统成本高、部署复杂，难以在普通计算设备上普及应用</a:t>
                      </a:r>
                    </a:p>
                  </a:txBody>
                  <a:tcPr anchor="ctr"/>
                </a:tc>
                <a:extLst>
                  <a:ext uri="{0D108BD9-81ED-4DB2-BD59-A6C34878D82A}">
                    <a16:rowId xmlns:a16="http://schemas.microsoft.com/office/drawing/2014/main" val="934935130"/>
                  </a:ext>
                </a:extLst>
              </a:tr>
            </a:tbl>
          </a:graphicData>
        </a:graphic>
      </p:graphicFrame>
      <p:graphicFrame>
        <p:nvGraphicFramePr>
          <p:cNvPr id="51" name="表格 50">
            <a:extLst>
              <a:ext uri="{FF2B5EF4-FFF2-40B4-BE49-F238E27FC236}">
                <a16:creationId xmlns:a16="http://schemas.microsoft.com/office/drawing/2014/main" id="{FB96AAC5-4AE4-1F2F-E454-B1A699E792D0}"/>
              </a:ext>
            </a:extLst>
          </p:cNvPr>
          <p:cNvGraphicFramePr>
            <a:graphicFrameLocks noGrp="1"/>
          </p:cNvGraphicFramePr>
          <p:nvPr>
            <p:extLst>
              <p:ext uri="{D42A27DB-BD31-4B8C-83A1-F6EECF244321}">
                <p14:modId xmlns:p14="http://schemas.microsoft.com/office/powerpoint/2010/main" val="3723716713"/>
              </p:ext>
            </p:extLst>
          </p:nvPr>
        </p:nvGraphicFramePr>
        <p:xfrm>
          <a:off x="10162187" y="10938465"/>
          <a:ext cx="7543800" cy="5863635"/>
        </p:xfrm>
        <a:graphic>
          <a:graphicData uri="http://schemas.openxmlformats.org/drawingml/2006/table">
            <a:tbl>
              <a:tblPr firstRow="1" bandRow="1">
                <a:effectLst>
                  <a:innerShdw blurRad="63500" dist="50800" dir="18900000">
                    <a:prstClr val="black">
                      <a:alpha val="50000"/>
                    </a:prstClr>
                  </a:innerShdw>
                </a:effectLst>
                <a:tableStyleId>{21E4AEA4-8DFA-4A89-87EB-49C32662AFE0}</a:tableStyleId>
              </a:tblPr>
              <a:tblGrid>
                <a:gridCol w="2471773">
                  <a:extLst>
                    <a:ext uri="{9D8B030D-6E8A-4147-A177-3AD203B41FA5}">
                      <a16:colId xmlns:a16="http://schemas.microsoft.com/office/drawing/2014/main" val="1630521359"/>
                    </a:ext>
                  </a:extLst>
                </a:gridCol>
                <a:gridCol w="5072027">
                  <a:extLst>
                    <a:ext uri="{9D8B030D-6E8A-4147-A177-3AD203B41FA5}">
                      <a16:colId xmlns:a16="http://schemas.microsoft.com/office/drawing/2014/main" val="70282334"/>
                    </a:ext>
                  </a:extLst>
                </a:gridCol>
              </a:tblGrid>
              <a:tr h="1322115">
                <a:tc gridSpan="2">
                  <a:txBody>
                    <a:bodyPr/>
                    <a:lstStyle/>
                    <a:p>
                      <a:pPr algn="ctr"/>
                      <a:r>
                        <a:rPr lang="zh-CN" altLang="en-US" sz="2800" b="1" kern="1200" dirty="0">
                          <a:solidFill>
                            <a:schemeClr val="lt1"/>
                          </a:solidFill>
                          <a:effectLst/>
                          <a:latin typeface="微软雅黑" panose="020B0503020204020204" pitchFamily="34" charset="-122"/>
                          <a:ea typeface="微软雅黑" panose="020B0503020204020204" pitchFamily="34" charset="-122"/>
                        </a:rPr>
                        <a:t>基于普通</a:t>
                      </a:r>
                      <a:r>
                        <a:rPr lang="en-US" altLang="zh-CN" sz="2800" b="1" kern="1200" dirty="0">
                          <a:solidFill>
                            <a:schemeClr val="lt1"/>
                          </a:solidFill>
                          <a:effectLst/>
                          <a:latin typeface="微软雅黑" panose="020B0503020204020204" pitchFamily="34" charset="-122"/>
                          <a:ea typeface="微软雅黑" panose="020B0503020204020204" pitchFamily="34" charset="-122"/>
                        </a:rPr>
                        <a:t>RGB</a:t>
                      </a:r>
                      <a:r>
                        <a:rPr lang="zh-CN" altLang="en-US" sz="2800" b="1" kern="1200" dirty="0">
                          <a:solidFill>
                            <a:schemeClr val="lt1"/>
                          </a:solidFill>
                          <a:effectLst/>
                          <a:latin typeface="微软雅黑" panose="020B0503020204020204" pitchFamily="34" charset="-122"/>
                          <a:ea typeface="微软雅黑" panose="020B0503020204020204" pitchFamily="34" charset="-122"/>
                        </a:rPr>
                        <a:t>摄像头的非接触式视线追踪</a:t>
                      </a:r>
                      <a:endParaRPr lang="zh-CN" altLang="en-US" sz="2800" dirty="0">
                        <a:latin typeface="微软雅黑" panose="020B0503020204020204" pitchFamily="34" charset="-122"/>
                        <a:ea typeface="微软雅黑" panose="020B0503020204020204" pitchFamily="34" charset="-122"/>
                      </a:endParaRPr>
                    </a:p>
                  </a:txBody>
                  <a:tcPr anchor="ctr"/>
                </a:tc>
                <a:tc hMerge="1">
                  <a:txBody>
                    <a:bodyPr/>
                    <a:lstStyle/>
                    <a:p>
                      <a:endParaRPr dirty="0"/>
                    </a:p>
                  </a:txBody>
                  <a:tcPr anchor="ctr"/>
                </a:tc>
                <a:extLst>
                  <a:ext uri="{0D108BD9-81ED-4DB2-BD59-A6C34878D82A}">
                    <a16:rowId xmlns:a16="http://schemas.microsoft.com/office/drawing/2014/main" val="1246463864"/>
                  </a:ext>
                </a:extLst>
              </a:tr>
              <a:tr h="1340477">
                <a:tc>
                  <a:txBody>
                    <a:bodyPr/>
                    <a:lstStyle/>
                    <a:p>
                      <a:pPr algn="ctr"/>
                      <a:r>
                        <a:rPr lang="zh-CN" altLang="zh-CN" sz="2800" dirty="0">
                          <a:effectLst/>
                          <a:latin typeface="微软雅黑" panose="020B0503020204020204" pitchFamily="34" charset="-122"/>
                          <a:ea typeface="微软雅黑" panose="020B0503020204020204" pitchFamily="34" charset="-122"/>
                          <a:cs typeface="宋体" panose="02010600030101010101" pitchFamily="2" charset="-122"/>
                        </a:rPr>
                        <a:t>基于几何和图像处理</a:t>
                      </a: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估计视线方向</a:t>
                      </a:r>
                      <a:endParaRPr lang="zh-CN" altLang="en-US" sz="2800" dirty="0">
                        <a:latin typeface="微软雅黑" panose="020B0503020204020204" pitchFamily="34" charset="-122"/>
                        <a:ea typeface="微软雅黑" panose="020B0503020204020204" pitchFamily="34" charset="-122"/>
                      </a:endParaRPr>
                    </a:p>
                  </a:txBody>
                  <a:tcPr anchor="ctr"/>
                </a:tc>
                <a:tc>
                  <a:txBody>
                    <a:bodyPr/>
                    <a:lstStyle/>
                    <a:p>
                      <a:pPr algn="ctr"/>
                      <a:r>
                        <a:rPr lang="zh-CN" altLang="en-US" sz="2800" dirty="0">
                          <a:effectLst/>
                          <a:latin typeface="微软雅黑" panose="020B0503020204020204" pitchFamily="34" charset="-122"/>
                          <a:ea typeface="微软雅黑" panose="020B0503020204020204" pitchFamily="34" charset="-122"/>
                          <a:cs typeface="宋体" panose="02010600030101010101" pitchFamily="2" charset="-122"/>
                        </a:rPr>
                        <a:t>实现简单、实时性好，但对个体差异、头部姿态变化和环境光照高度敏感，泛化能力有限</a:t>
                      </a:r>
                      <a:endParaRPr lang="en-US" altLang="zh-CN" sz="2800" dirty="0">
                        <a:effectLst/>
                        <a:latin typeface="微软雅黑" panose="020B0503020204020204" pitchFamily="34" charset="-122"/>
                        <a:ea typeface="微软雅黑" panose="020B0503020204020204" pitchFamily="34" charset="-122"/>
                        <a:cs typeface="宋体" panose="02010600030101010101" pitchFamily="2" charset="-122"/>
                      </a:endParaRPr>
                    </a:p>
                  </a:txBody>
                  <a:tcPr anchor="ctr"/>
                </a:tc>
                <a:extLst>
                  <a:ext uri="{0D108BD9-81ED-4DB2-BD59-A6C34878D82A}">
                    <a16:rowId xmlns:a16="http://schemas.microsoft.com/office/drawing/2014/main" val="1696312499"/>
                  </a:ext>
                </a:extLst>
              </a:tr>
              <a:tr h="134047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800" dirty="0">
                          <a:latin typeface="微软雅黑" panose="020B0503020204020204" pitchFamily="34" charset="-122"/>
                          <a:ea typeface="微软雅黑" panose="020B0503020204020204" pitchFamily="34" charset="-122"/>
                        </a:rPr>
                        <a:t>端到端深度学习方法预测二维视线</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具有较强的表达能力，但往往依赖大规模数据训练，且模型在跨设备、跨用户条件下性能下降明显</a:t>
                      </a:r>
                    </a:p>
                  </a:txBody>
                  <a:tcPr anchor="ctr"/>
                </a:tc>
                <a:extLst>
                  <a:ext uri="{0D108BD9-81ED-4DB2-BD59-A6C34878D82A}">
                    <a16:rowId xmlns:a16="http://schemas.microsoft.com/office/drawing/2014/main" val="2865146016"/>
                  </a:ext>
                </a:extLst>
              </a:tr>
              <a:tr h="1340477">
                <a:tc>
                  <a:txBody>
                    <a:bodyPr/>
                    <a:lstStyle/>
                    <a:p>
                      <a:pPr algn="ctr"/>
                      <a:r>
                        <a:rPr lang="zh-CN" altLang="en-US" sz="2800" dirty="0">
                          <a:latin typeface="微软雅黑" panose="020B0503020204020204" pitchFamily="34" charset="-122"/>
                          <a:ea typeface="微软雅黑" panose="020B0503020204020204" pitchFamily="34" charset="-122"/>
                        </a:rPr>
                        <a:t>深度学习的外观建模能力</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几何约束</a:t>
                      </a:r>
                    </a:p>
                  </a:txBody>
                  <a:tcPr anchor="ctr"/>
                </a:tc>
                <a:tc>
                  <a:txBody>
                    <a:bodyPr/>
                    <a:lstStyle/>
                    <a:p>
                      <a:pPr algn="ctr"/>
                      <a:r>
                        <a:rPr lang="zh-CN" altLang="en-US" sz="2800" dirty="0">
                          <a:latin typeface="微软雅黑" panose="020B0503020204020204" pitchFamily="34" charset="-122"/>
                          <a:ea typeface="微软雅黑" panose="020B0503020204020204" pitchFamily="34" charset="-122"/>
                        </a:rPr>
                        <a:t>一定程度上兼顾精度与泛化能力</a:t>
                      </a:r>
                    </a:p>
                  </a:txBody>
                  <a:tcPr anchor="ctr"/>
                </a:tc>
                <a:extLst>
                  <a:ext uri="{0D108BD9-81ED-4DB2-BD59-A6C34878D82A}">
                    <a16:rowId xmlns:a16="http://schemas.microsoft.com/office/drawing/2014/main" val="934935130"/>
                  </a:ext>
                </a:extLst>
              </a:tr>
            </a:tbl>
          </a:graphicData>
        </a:graphic>
      </p:graphicFrame>
      <p:grpSp>
        <p:nvGrpSpPr>
          <p:cNvPr id="37" name="组合 36">
            <a:extLst>
              <a:ext uri="{FF2B5EF4-FFF2-40B4-BE49-F238E27FC236}">
                <a16:creationId xmlns:a16="http://schemas.microsoft.com/office/drawing/2014/main" id="{5EB61155-A332-40A4-228F-D8434E0E83B0}"/>
              </a:ext>
            </a:extLst>
          </p:cNvPr>
          <p:cNvGrpSpPr/>
          <p:nvPr/>
        </p:nvGrpSpPr>
        <p:grpSpPr>
          <a:xfrm>
            <a:off x="1260987" y="2001896"/>
            <a:ext cx="15701349" cy="7256404"/>
            <a:chOff x="1260987" y="2001896"/>
            <a:chExt cx="15701349" cy="7256404"/>
          </a:xfrm>
        </p:grpSpPr>
        <p:grpSp>
          <p:nvGrpSpPr>
            <p:cNvPr id="36" name="组合 35">
              <a:extLst>
                <a:ext uri="{FF2B5EF4-FFF2-40B4-BE49-F238E27FC236}">
                  <a16:creationId xmlns:a16="http://schemas.microsoft.com/office/drawing/2014/main" id="{71307442-93F5-2199-00D0-0083D1289C4A}"/>
                </a:ext>
              </a:extLst>
            </p:cNvPr>
            <p:cNvGrpSpPr/>
            <p:nvPr/>
          </p:nvGrpSpPr>
          <p:grpSpPr>
            <a:xfrm>
              <a:off x="1260987" y="2001896"/>
              <a:ext cx="2014461" cy="1050188"/>
              <a:chOff x="1260987" y="2001896"/>
              <a:chExt cx="2014461" cy="1050188"/>
            </a:xfrm>
          </p:grpSpPr>
          <p:grpSp>
            <p:nvGrpSpPr>
              <p:cNvPr id="8" name="Group 6">
                <a:extLst>
                  <a:ext uri="{FF2B5EF4-FFF2-40B4-BE49-F238E27FC236}">
                    <a16:creationId xmlns:a16="http://schemas.microsoft.com/office/drawing/2014/main" id="{E36E8229-A98E-7C3C-2E94-0187B1C70351}"/>
                  </a:ext>
                </a:extLst>
              </p:cNvPr>
              <p:cNvGrpSpPr/>
              <p:nvPr/>
            </p:nvGrpSpPr>
            <p:grpSpPr>
              <a:xfrm>
                <a:off x="1319982" y="2001896"/>
                <a:ext cx="1955466" cy="1050188"/>
                <a:chOff x="0" y="-47625"/>
                <a:chExt cx="600585" cy="1111802"/>
              </a:xfrm>
              <a:solidFill>
                <a:schemeClr val="accent3">
                  <a:lumMod val="75000"/>
                </a:schemeClr>
              </a:solidFill>
            </p:grpSpPr>
            <p:sp>
              <p:nvSpPr>
                <p:cNvPr id="14" name="Freeform 7">
                  <a:extLst>
                    <a:ext uri="{FF2B5EF4-FFF2-40B4-BE49-F238E27FC236}">
                      <a16:creationId xmlns:a16="http://schemas.microsoft.com/office/drawing/2014/main" id="{6598A783-8A09-B03D-B759-15DC27418FF6}"/>
                    </a:ext>
                  </a:extLst>
                </p:cNvPr>
                <p:cNvSpPr/>
                <p:nvPr/>
              </p:nvSpPr>
              <p:spPr>
                <a:xfrm>
                  <a:off x="0" y="0"/>
                  <a:ext cx="600585" cy="1064177"/>
                </a:xfrm>
                <a:custGeom>
                  <a:avLst/>
                  <a:gdLst/>
                  <a:ahLst/>
                  <a:cxnLst/>
                  <a:rect l="l" t="t" r="r" b="b"/>
                  <a:pathLst>
                    <a:path w="600585" h="1064177">
                      <a:moveTo>
                        <a:pt x="57716" y="0"/>
                      </a:moveTo>
                      <a:lnTo>
                        <a:pt x="542869" y="0"/>
                      </a:lnTo>
                      <a:cubicBezTo>
                        <a:pt x="558176" y="0"/>
                        <a:pt x="572856" y="6081"/>
                        <a:pt x="583680" y="16905"/>
                      </a:cubicBezTo>
                      <a:cubicBezTo>
                        <a:pt x="594504" y="27729"/>
                        <a:pt x="600585" y="42409"/>
                        <a:pt x="600585" y="57716"/>
                      </a:cubicBezTo>
                      <a:lnTo>
                        <a:pt x="600585" y="1006461"/>
                      </a:lnTo>
                      <a:cubicBezTo>
                        <a:pt x="600585" y="1021768"/>
                        <a:pt x="594504" y="1036449"/>
                        <a:pt x="583680" y="1047273"/>
                      </a:cubicBezTo>
                      <a:cubicBezTo>
                        <a:pt x="572856" y="1058096"/>
                        <a:pt x="558176" y="1064177"/>
                        <a:pt x="542869" y="1064177"/>
                      </a:cubicBezTo>
                      <a:lnTo>
                        <a:pt x="57716" y="1064177"/>
                      </a:lnTo>
                      <a:cubicBezTo>
                        <a:pt x="42409" y="1064177"/>
                        <a:pt x="27729" y="1058096"/>
                        <a:pt x="16905" y="1047273"/>
                      </a:cubicBezTo>
                      <a:cubicBezTo>
                        <a:pt x="6081" y="1036449"/>
                        <a:pt x="0" y="1021768"/>
                        <a:pt x="0" y="1006461"/>
                      </a:cubicBezTo>
                      <a:lnTo>
                        <a:pt x="0" y="57716"/>
                      </a:lnTo>
                      <a:cubicBezTo>
                        <a:pt x="0" y="42409"/>
                        <a:pt x="6081" y="27729"/>
                        <a:pt x="16905" y="16905"/>
                      </a:cubicBezTo>
                      <a:cubicBezTo>
                        <a:pt x="27729" y="6081"/>
                        <a:pt x="42409" y="0"/>
                        <a:pt x="57716" y="0"/>
                      </a:cubicBezTo>
                      <a:close/>
                    </a:path>
                  </a:pathLst>
                </a:custGeom>
                <a:grpFill/>
                <a:ln cap="sq">
                  <a:noFill/>
                  <a:prstDash val="sysDot"/>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15" name="TextBox 8">
                  <a:extLst>
                    <a:ext uri="{FF2B5EF4-FFF2-40B4-BE49-F238E27FC236}">
                      <a16:creationId xmlns:a16="http://schemas.microsoft.com/office/drawing/2014/main" id="{CCAC66E4-B2E6-73EA-7045-6D50AFF2FD4A}"/>
                    </a:ext>
                  </a:extLst>
                </p:cNvPr>
                <p:cNvSpPr txBox="1"/>
                <p:nvPr/>
              </p:nvSpPr>
              <p:spPr>
                <a:xfrm>
                  <a:off x="0" y="-47625"/>
                  <a:ext cx="600585" cy="1111802"/>
                </a:xfrm>
                <a:prstGeom prst="rect">
                  <a:avLst/>
                </a:prstGeom>
                <a:solidFill>
                  <a:schemeClr val="accent4">
                    <a:lumMod val="60000"/>
                    <a:lumOff val="40000"/>
                  </a:schemeClr>
                </a:solidFill>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9" name="TextBox 12">
                <a:extLst>
                  <a:ext uri="{FF2B5EF4-FFF2-40B4-BE49-F238E27FC236}">
                    <a16:creationId xmlns:a16="http://schemas.microsoft.com/office/drawing/2014/main" id="{E90E53C0-6DBB-FFCF-65F8-0C02AB44A448}"/>
                  </a:ext>
                </a:extLst>
              </p:cNvPr>
              <p:cNvSpPr txBox="1"/>
              <p:nvPr/>
            </p:nvSpPr>
            <p:spPr>
              <a:xfrm>
                <a:off x="1260987" y="2032702"/>
                <a:ext cx="1994774" cy="422991"/>
              </a:xfrm>
              <a:prstGeom prst="rect">
                <a:avLst/>
              </a:prstGeom>
            </p:spPr>
            <p:txBody>
              <a:bodyPr lIns="0" tIns="0" rIns="0" bIns="0" rtlCol="0" anchor="t">
                <a:spAutoFit/>
              </a:bodyPr>
              <a:lstStyle/>
              <a:p>
                <a:pPr algn="ctr">
                  <a:lnSpc>
                    <a:spcPts val="3460"/>
                  </a:lnSpc>
                  <a:spcBef>
                    <a:spcPct val="0"/>
                  </a:spcBef>
                </a:pPr>
                <a:r>
                  <a:rPr lang="en-US" sz="2471" b="1" spc="247" dirty="0">
                    <a:latin typeface="微软雅黑" panose="020B0503020204020204" pitchFamily="34" charset="-122"/>
                    <a:ea typeface="微软雅黑" panose="020B0503020204020204" pitchFamily="34" charset="-122"/>
                    <a:cs typeface="思源黑体"/>
                    <a:sym typeface="思源黑体"/>
                  </a:rPr>
                  <a:t>3-</a:t>
                </a:r>
                <a:r>
                  <a:rPr lang="zh-CN" altLang="en-US" sz="2471" b="1" spc="247" dirty="0">
                    <a:latin typeface="微软雅黑" panose="020B0503020204020204" pitchFamily="34" charset="-122"/>
                    <a:ea typeface="微软雅黑" panose="020B0503020204020204" pitchFamily="34" charset="-122"/>
                    <a:cs typeface="思源黑体"/>
                    <a:sym typeface="思源黑体"/>
                  </a:rPr>
                  <a:t>数据集</a:t>
                </a:r>
                <a:endParaRPr lang="en-US" sz="2471" b="1" spc="247" dirty="0">
                  <a:latin typeface="微软雅黑" panose="020B0503020204020204" pitchFamily="34" charset="-122"/>
                  <a:ea typeface="微软雅黑" panose="020B0503020204020204" pitchFamily="34" charset="-122"/>
                  <a:cs typeface="思源黑体"/>
                  <a:sym typeface="思源黑体"/>
                </a:endParaRPr>
              </a:p>
            </p:txBody>
          </p:sp>
        </p:grpSp>
        <p:sp>
          <p:nvSpPr>
            <p:cNvPr id="11" name="Freeform 10">
              <a:extLst>
                <a:ext uri="{FF2B5EF4-FFF2-40B4-BE49-F238E27FC236}">
                  <a16:creationId xmlns:a16="http://schemas.microsoft.com/office/drawing/2014/main" id="{8B8F7614-FA96-2C35-E0A3-7A2D98851372}"/>
                </a:ext>
              </a:extLst>
            </p:cNvPr>
            <p:cNvSpPr/>
            <p:nvPr/>
          </p:nvSpPr>
          <p:spPr>
            <a:xfrm>
              <a:off x="1289718" y="2549483"/>
              <a:ext cx="15672618" cy="6708817"/>
            </a:xfrm>
            <a:custGeom>
              <a:avLst/>
              <a:gdLst/>
              <a:ahLst/>
              <a:cxnLst/>
              <a:rect l="l" t="t" r="r" b="b"/>
              <a:pathLst>
                <a:path w="2206670" h="1328574">
                  <a:moveTo>
                    <a:pt x="30493" y="0"/>
                  </a:moveTo>
                  <a:lnTo>
                    <a:pt x="2176177" y="0"/>
                  </a:lnTo>
                  <a:cubicBezTo>
                    <a:pt x="2193018" y="0"/>
                    <a:pt x="2206670" y="13652"/>
                    <a:pt x="2206670" y="30493"/>
                  </a:cubicBezTo>
                  <a:lnTo>
                    <a:pt x="2206670" y="1298081"/>
                  </a:lnTo>
                  <a:cubicBezTo>
                    <a:pt x="2206670" y="1314922"/>
                    <a:pt x="2193018" y="1328574"/>
                    <a:pt x="2176177" y="1328574"/>
                  </a:cubicBezTo>
                  <a:lnTo>
                    <a:pt x="30493" y="1328574"/>
                  </a:lnTo>
                  <a:cubicBezTo>
                    <a:pt x="13652" y="1328574"/>
                    <a:pt x="0" y="1314922"/>
                    <a:pt x="0" y="1298081"/>
                  </a:cubicBezTo>
                  <a:lnTo>
                    <a:pt x="0" y="30493"/>
                  </a:lnTo>
                  <a:cubicBezTo>
                    <a:pt x="0" y="13652"/>
                    <a:pt x="13652" y="0"/>
                    <a:pt x="30493" y="0"/>
                  </a:cubicBezTo>
                  <a:close/>
                </a:path>
              </a:pathLst>
            </a:custGeom>
            <a:solidFill>
              <a:schemeClr val="accent4">
                <a:lumMod val="40000"/>
                <a:lumOff val="60000"/>
              </a:schemeClr>
            </a:solidFill>
            <a:ln w="19050" cap="rnd">
              <a:noFill/>
              <a:prstDash val="dash"/>
              <a:round/>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3" name="文本框 12">
              <a:extLst>
                <a:ext uri="{FF2B5EF4-FFF2-40B4-BE49-F238E27FC236}">
                  <a16:creationId xmlns:a16="http://schemas.microsoft.com/office/drawing/2014/main" id="{1807015F-9D39-AF54-91D3-B75E3C784E42}"/>
                </a:ext>
              </a:extLst>
            </p:cNvPr>
            <p:cNvSpPr txBox="1"/>
            <p:nvPr/>
          </p:nvSpPr>
          <p:spPr>
            <a:xfrm>
              <a:off x="1827217" y="6791814"/>
              <a:ext cx="4122469" cy="954107"/>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MPIIGaze</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基于外貌的野外凝视估计</a:t>
              </a:r>
              <a:endParaRPr lang="zh-CN" altLang="en-US" dirty="0"/>
            </a:p>
          </p:txBody>
        </p:sp>
        <p:sp>
          <p:nvSpPr>
            <p:cNvPr id="16" name="文本框 15">
              <a:extLst>
                <a:ext uri="{FF2B5EF4-FFF2-40B4-BE49-F238E27FC236}">
                  <a16:creationId xmlns:a16="http://schemas.microsoft.com/office/drawing/2014/main" id="{E8F48325-BB08-DD11-CC57-CE715C88D4D0}"/>
                </a:ext>
              </a:extLst>
            </p:cNvPr>
            <p:cNvSpPr txBox="1"/>
            <p:nvPr/>
          </p:nvSpPr>
          <p:spPr>
            <a:xfrm>
              <a:off x="6487185" y="6909018"/>
              <a:ext cx="5244933" cy="1815882"/>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Gaze360</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野外物理无限制</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的凝视估计</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a:p>
              <a:pPr algn="ct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7" name="文本框 16">
              <a:extLst>
                <a:ext uri="{FF2B5EF4-FFF2-40B4-BE49-F238E27FC236}">
                  <a16:creationId xmlns:a16="http://schemas.microsoft.com/office/drawing/2014/main" id="{4B21030C-DC2B-A2AE-CEE4-8231CD8B8466}"/>
                </a:ext>
              </a:extLst>
            </p:cNvPr>
            <p:cNvSpPr txBox="1"/>
            <p:nvPr/>
          </p:nvSpPr>
          <p:spPr>
            <a:xfrm>
              <a:off x="12659086" y="6905812"/>
              <a:ext cx="3048000" cy="1384995"/>
            </a:xfrm>
            <a:prstGeom prst="rect">
              <a:avLst/>
            </a:prstGeom>
            <a:noFill/>
          </p:spPr>
          <p:txBody>
            <a:bodyPr wrap="square" rtlCol="0">
              <a:spAutoFit/>
            </a:bodyPr>
            <a:lstStyle/>
            <a:p>
              <a:pPr algn="ctr"/>
              <a:r>
                <a:rPr lang="en-US" altLang="zh-CN" sz="2800" dirty="0">
                  <a:latin typeface="微软雅黑" panose="020B0503020204020204" pitchFamily="34" charset="-122"/>
                  <a:ea typeface="微软雅黑" panose="020B0503020204020204" pitchFamily="34" charset="-122"/>
                  <a:cs typeface="字由点字典黑"/>
                  <a:sym typeface="字由点字典黑"/>
                </a:rPr>
                <a:t>UnityEyes</a:t>
              </a:r>
            </a:p>
            <a:p>
              <a:pPr algn="ctr"/>
              <a:r>
                <a:rPr lang="zh-CN" altLang="en-US" sz="2800" dirty="0">
                  <a:latin typeface="微软雅黑" panose="020B0503020204020204" pitchFamily="34" charset="-122"/>
                  <a:ea typeface="微软雅黑" panose="020B0503020204020204" pitchFamily="34" charset="-122"/>
                  <a:cs typeface="字由点字典黑"/>
                  <a:sym typeface="字由点字典黑"/>
                </a:rPr>
                <a:t>快速合成大量可变眼区</a:t>
              </a:r>
              <a:r>
                <a:rPr lang="en-US" altLang="zh-CN" sz="2800" dirty="0">
                  <a:latin typeface="微软雅黑" panose="020B0503020204020204" pitchFamily="34" charset="-122"/>
                  <a:ea typeface="微软雅黑" panose="020B0503020204020204" pitchFamily="34" charset="-122"/>
                  <a:cs typeface="字由点字典黑"/>
                  <a:sym typeface="字由点字典黑"/>
                </a:rPr>
                <a:t>3D</a:t>
              </a:r>
              <a:r>
                <a:rPr lang="zh-CN" altLang="en-US" sz="2800" dirty="0">
                  <a:latin typeface="微软雅黑" panose="020B0503020204020204" pitchFamily="34" charset="-122"/>
                  <a:ea typeface="微软雅黑" panose="020B0503020204020204" pitchFamily="34" charset="-122"/>
                  <a:cs typeface="字由点字典黑"/>
                  <a:sym typeface="字由点字典黑"/>
                </a:rPr>
                <a:t>图像</a:t>
              </a:r>
              <a:endParaRPr lang="en-US" altLang="zh-CN" sz="2800" dirty="0">
                <a:latin typeface="微软雅黑" panose="020B0503020204020204" pitchFamily="34" charset="-122"/>
                <a:ea typeface="微软雅黑" panose="020B0503020204020204" pitchFamily="34" charset="-122"/>
                <a:cs typeface="字由点字典黑"/>
                <a:sym typeface="字由点字典黑"/>
              </a:endParaRPr>
            </a:p>
          </p:txBody>
        </p:sp>
        <p:pic>
          <p:nvPicPr>
            <p:cNvPr id="19" name="图片 18">
              <a:extLst>
                <a:ext uri="{FF2B5EF4-FFF2-40B4-BE49-F238E27FC236}">
                  <a16:creationId xmlns:a16="http://schemas.microsoft.com/office/drawing/2014/main" id="{05E25873-BCF1-200B-66B2-3AE1A599FA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52425" y="3467100"/>
              <a:ext cx="4326852" cy="3140753"/>
            </a:xfrm>
            <a:prstGeom prst="rect">
              <a:avLst/>
            </a:prstGeom>
          </p:spPr>
        </p:pic>
        <p:pic>
          <p:nvPicPr>
            <p:cNvPr id="21" name="图片 20">
              <a:extLst>
                <a:ext uri="{FF2B5EF4-FFF2-40B4-BE49-F238E27FC236}">
                  <a16:creationId xmlns:a16="http://schemas.microsoft.com/office/drawing/2014/main" id="{73C55D34-93C6-2DAF-2086-CEE6D7E6BD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0850" y="3619500"/>
              <a:ext cx="4326850" cy="2926052"/>
            </a:xfrm>
            <a:prstGeom prst="rect">
              <a:avLst/>
            </a:prstGeom>
          </p:spPr>
        </p:pic>
        <p:pic>
          <p:nvPicPr>
            <p:cNvPr id="23" name="图片 22">
              <a:extLst>
                <a:ext uri="{FF2B5EF4-FFF2-40B4-BE49-F238E27FC236}">
                  <a16:creationId xmlns:a16="http://schemas.microsoft.com/office/drawing/2014/main" id="{2FCE1222-8544-70B4-93E1-4CA95BA701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74436" y="3268620"/>
              <a:ext cx="4326851" cy="3347970"/>
            </a:xfrm>
            <a:prstGeom prst="rect">
              <a:avLst/>
            </a:prstGeom>
          </p:spPr>
        </p:pic>
      </p:grpSp>
    </p:spTree>
    <p:extLst>
      <p:ext uri="{BB962C8B-B14F-4D97-AF65-F5344CB8AC3E}">
        <p14:creationId xmlns:p14="http://schemas.microsoft.com/office/powerpoint/2010/main" val="3917423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43C14-4762-1174-2393-8137C7907C83}"/>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A6A357C-CE08-E0BE-6769-DABD6E851D76}"/>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6C1BE856-1B69-594A-5B9C-484B86EE9A08}"/>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630C6B13-4FA9-180A-B789-A3131EEAD915}"/>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36FC1844-B291-9E81-CC50-E990A7677B38}"/>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AB5B3957-1915-F6F9-273F-4ADC973C69B7}"/>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A9E3FA0E-081B-6B28-48EB-FA714C2203C6}"/>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0C524B61-49D9-805E-3D0D-E99A463D5C19}"/>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AC1D566B-A94C-F28B-C1CF-B5AEB21E762D}"/>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solidFill>
                  <a:srgbClr val="7030A0"/>
                </a:solidFill>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5BF6A216-BF31-038B-5671-093AD96A5330}"/>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D9313A1E-1341-6F81-5C1F-37D9B8FFA0E1}"/>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FB5C5056-7F09-5121-AC82-F60C6E50C8AC}"/>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2AE017ED-7CD5-6AF7-5A83-3FC223042AE7}"/>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9767D4E7-6705-BCE1-0645-A71A70CB3015}"/>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BE7C1C1A-E52F-0A32-9589-8F0C509E2BEF}"/>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02B51FBE-EFEB-D5E6-C6DA-EE8FCC27FBF6}"/>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728E2B87-48E0-019A-696F-73BB25053DE0}"/>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1A3F17FF-CCF4-63B0-13B1-582DF0DB171E}"/>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6BB717B2-6051-E7F8-79A0-3531CA1BBBAE}"/>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9FF06600-58FD-A14A-69F8-2E62074CE725}"/>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06990F2E-9A5E-A662-D7E2-5EA930193259}"/>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3B213719-4842-E4E5-7BE6-76D10F04B141}"/>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338954498"/>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p>
          </p:txBody>
        </p:sp>
      </p:grpSp>
      <p:sp>
        <p:nvSpPr>
          <p:cNvPr id="22" name="TextBox 5">
            <a:extLst>
              <a:ext uri="{FF2B5EF4-FFF2-40B4-BE49-F238E27FC236}">
                <a16:creationId xmlns:a16="http://schemas.microsoft.com/office/drawing/2014/main" id="{52F456EF-6672-C018-8289-DE6C8F6E9BD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2</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23" name="矩形: 圆角 22">
            <a:extLst>
              <a:ext uri="{FF2B5EF4-FFF2-40B4-BE49-F238E27FC236}">
                <a16:creationId xmlns:a16="http://schemas.microsoft.com/office/drawing/2014/main" id="{73154A5A-8026-77D7-8C45-2DF14818AA39}"/>
              </a:ext>
            </a:extLst>
          </p:cNvPr>
          <p:cNvSpPr/>
          <p:nvPr/>
        </p:nvSpPr>
        <p:spPr>
          <a:xfrm>
            <a:off x="6934200" y="6591300"/>
            <a:ext cx="3810000" cy="2514600"/>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2800" dirty="0">
                <a:solidFill>
                  <a:schemeClr val="tx1"/>
                </a:solidFill>
                <a:latin typeface="微软雅黑" panose="020B0503020204020204" pitchFamily="34" charset="-122"/>
                <a:ea typeface="微软雅黑" panose="020B0503020204020204" pitchFamily="34" charset="-122"/>
              </a:rPr>
              <a:t>Windows</a:t>
            </a:r>
            <a:r>
              <a:rPr lang="zh-CN" altLang="en-US" sz="2800" dirty="0">
                <a:solidFill>
                  <a:schemeClr val="tx1"/>
                </a:solidFill>
                <a:latin typeface="微软雅黑" panose="020B0503020204020204" pitchFamily="34" charset="-122"/>
                <a:ea typeface="微软雅黑" panose="020B0503020204020204" pitchFamily="34" charset="-122"/>
              </a:rPr>
              <a:t>软件系统</a:t>
            </a:r>
          </a:p>
        </p:txBody>
      </p:sp>
      <p:sp>
        <p:nvSpPr>
          <p:cNvPr id="25" name="箭头: 右 24">
            <a:extLst>
              <a:ext uri="{FF2B5EF4-FFF2-40B4-BE49-F238E27FC236}">
                <a16:creationId xmlns:a16="http://schemas.microsoft.com/office/drawing/2014/main" id="{998A1429-6EA1-3922-13A4-3E9F8787743C}"/>
              </a:ext>
            </a:extLst>
          </p:cNvPr>
          <p:cNvSpPr/>
          <p:nvPr/>
        </p:nvSpPr>
        <p:spPr>
          <a:xfrm>
            <a:off x="11025551" y="7439160"/>
            <a:ext cx="1072096" cy="674959"/>
          </a:xfrm>
          <a:prstGeom prst="rightArrow">
            <a:avLst>
              <a:gd name="adj1" fmla="val 50000"/>
              <a:gd name="adj2" fmla="val 51071"/>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箭头: 右 23">
            <a:extLst>
              <a:ext uri="{FF2B5EF4-FFF2-40B4-BE49-F238E27FC236}">
                <a16:creationId xmlns:a16="http://schemas.microsoft.com/office/drawing/2014/main" id="{EBDB5A74-A02E-6110-F39A-E1EC9E72B99B}"/>
              </a:ext>
            </a:extLst>
          </p:cNvPr>
          <p:cNvSpPr/>
          <p:nvPr/>
        </p:nvSpPr>
        <p:spPr>
          <a:xfrm>
            <a:off x="2004270" y="6764200"/>
            <a:ext cx="4542883" cy="1873141"/>
          </a:xfrm>
          <a:prstGeom prst="rightArrow">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文本框 25">
            <a:extLst>
              <a:ext uri="{FF2B5EF4-FFF2-40B4-BE49-F238E27FC236}">
                <a16:creationId xmlns:a16="http://schemas.microsoft.com/office/drawing/2014/main" id="{D400F99A-AAAE-9107-C658-8FBCB97740AC}"/>
              </a:ext>
            </a:extLst>
          </p:cNvPr>
          <p:cNvSpPr txBox="1"/>
          <p:nvPr/>
        </p:nvSpPr>
        <p:spPr>
          <a:xfrm>
            <a:off x="2260288" y="7439160"/>
            <a:ext cx="4030846" cy="523220"/>
          </a:xfrm>
          <a:prstGeom prst="rect">
            <a:avLst/>
          </a:prstGeom>
          <a:noFill/>
        </p:spPr>
        <p:txBody>
          <a:bodyPr wrap="square" rtlCol="0">
            <a:spAutoFit/>
          </a:bodyPr>
          <a:lstStyle/>
          <a:p>
            <a:r>
              <a:rPr lang="zh-CN" altLang="zh-CN" sz="2800" dirty="0">
                <a:latin typeface="微软雅黑" panose="020B0503020204020204" pitchFamily="34" charset="-122"/>
                <a:ea typeface="微软雅黑" panose="020B0503020204020204" pitchFamily="34" charset="-122"/>
              </a:rPr>
              <a:t>普通</a:t>
            </a:r>
            <a:r>
              <a:rPr lang="en-US" altLang="zh-CN" sz="2800" dirty="0">
                <a:latin typeface="微软雅黑" panose="020B0503020204020204" pitchFamily="34" charset="-122"/>
                <a:ea typeface="微软雅黑" panose="020B0503020204020204" pitchFamily="34" charset="-122"/>
              </a:rPr>
              <a:t> RGB </a:t>
            </a:r>
            <a:r>
              <a:rPr lang="zh-CN" altLang="zh-CN" sz="2800" dirty="0">
                <a:latin typeface="微软雅黑" panose="020B0503020204020204" pitchFamily="34" charset="-122"/>
                <a:ea typeface="微软雅黑" panose="020B0503020204020204" pitchFamily="34" charset="-122"/>
              </a:rPr>
              <a:t>摄像头视频流</a:t>
            </a:r>
            <a:endParaRPr lang="zh-CN" altLang="en-US" sz="2800" dirty="0">
              <a:latin typeface="微软雅黑" panose="020B0503020204020204" pitchFamily="34" charset="-122"/>
              <a:ea typeface="微软雅黑" panose="020B0503020204020204" pitchFamily="34" charset="-122"/>
            </a:endParaRPr>
          </a:p>
        </p:txBody>
      </p:sp>
      <p:sp>
        <p:nvSpPr>
          <p:cNvPr id="30" name="矩形: 圆角 29">
            <a:extLst>
              <a:ext uri="{FF2B5EF4-FFF2-40B4-BE49-F238E27FC236}">
                <a16:creationId xmlns:a16="http://schemas.microsoft.com/office/drawing/2014/main" id="{14428144-BE5B-FE10-8EFC-B05E00037B85}"/>
              </a:ext>
            </a:extLst>
          </p:cNvPr>
          <p:cNvSpPr/>
          <p:nvPr/>
        </p:nvSpPr>
        <p:spPr>
          <a:xfrm>
            <a:off x="12391287" y="6705081"/>
            <a:ext cx="3581400" cy="995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屏幕注视点 </a:t>
            </a:r>
            <a:r>
              <a:rPr lang="en-US" altLang="zh-CN" sz="2800" dirty="0">
                <a:solidFill>
                  <a:schemeClr val="tx1"/>
                </a:solidFill>
                <a:latin typeface="微软雅黑" panose="020B0503020204020204" pitchFamily="34" charset="-122"/>
                <a:ea typeface="微软雅黑" panose="020B0503020204020204" pitchFamily="34" charset="-122"/>
              </a:rPr>
              <a:t>(x, y) </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31" name="矩形: 圆角 30">
            <a:extLst>
              <a:ext uri="{FF2B5EF4-FFF2-40B4-BE49-F238E27FC236}">
                <a16:creationId xmlns:a16="http://schemas.microsoft.com/office/drawing/2014/main" id="{B06466A5-37A7-F2DE-102F-82534A8B3563}"/>
              </a:ext>
            </a:extLst>
          </p:cNvPr>
          <p:cNvSpPr/>
          <p:nvPr/>
        </p:nvSpPr>
        <p:spPr>
          <a:xfrm>
            <a:off x="12403577" y="7848600"/>
            <a:ext cx="3581400" cy="995690"/>
          </a:xfrm>
          <a:prstGeom prst="round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质量</a:t>
            </a:r>
            <a:r>
              <a:rPr lang="en-US"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a:t>
            </a:r>
            <a:r>
              <a:rPr lang="zh-CN" altLang="zh-CN" sz="2800" dirty="0">
                <a:solidFill>
                  <a:schemeClr val="tx1"/>
                </a:solidFill>
                <a:latin typeface="微软雅黑" panose="020B0503020204020204" pitchFamily="34" charset="-122"/>
                <a:ea typeface="微软雅黑" panose="020B0503020204020204" pitchFamily="34" charset="-122"/>
                <a:cs typeface="Microsoft Uighur" panose="02000000000000000000" pitchFamily="2" charset="-78"/>
              </a:rPr>
              <a:t>稳定性指标</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34" name="图片 33">
            <a:extLst>
              <a:ext uri="{FF2B5EF4-FFF2-40B4-BE49-F238E27FC236}">
                <a16:creationId xmlns:a16="http://schemas.microsoft.com/office/drawing/2014/main" id="{A47ADC43-CA72-7C75-3F6A-6ED590A3752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4066" y="1326704"/>
            <a:ext cx="4762535" cy="4762535"/>
          </a:xfrm>
          <a:prstGeom prst="rect">
            <a:avLst/>
          </a:prstGeom>
        </p:spPr>
      </p:pic>
      <p:pic>
        <p:nvPicPr>
          <p:cNvPr id="36" name="图片 35">
            <a:extLst>
              <a:ext uri="{FF2B5EF4-FFF2-40B4-BE49-F238E27FC236}">
                <a16:creationId xmlns:a16="http://schemas.microsoft.com/office/drawing/2014/main" id="{658D76D8-2AD9-57C1-0A78-AD08DF0CD3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37645" y="2095500"/>
            <a:ext cx="3890373" cy="2916100"/>
          </a:xfrm>
          <a:prstGeom prst="rect">
            <a:avLst/>
          </a:prstGeom>
        </p:spPr>
      </p:pic>
      <p:pic>
        <p:nvPicPr>
          <p:cNvPr id="38" name="图片 37">
            <a:extLst>
              <a:ext uri="{FF2B5EF4-FFF2-40B4-BE49-F238E27FC236}">
                <a16:creationId xmlns:a16="http://schemas.microsoft.com/office/drawing/2014/main" id="{0C1355F1-AB09-7FFA-B1AE-77CA9694F0E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639800" y="1930499"/>
            <a:ext cx="3122224" cy="3122224"/>
          </a:xfrm>
          <a:prstGeom prst="rect">
            <a:avLst/>
          </a:prstGeom>
        </p:spPr>
      </p:pic>
      <p:sp>
        <p:nvSpPr>
          <p:cNvPr id="39" name="文本框 38">
            <a:extLst>
              <a:ext uri="{FF2B5EF4-FFF2-40B4-BE49-F238E27FC236}">
                <a16:creationId xmlns:a16="http://schemas.microsoft.com/office/drawing/2014/main" id="{88D001C5-53E2-928D-CCB2-551716F8DA02}"/>
              </a:ext>
            </a:extLst>
          </p:cNvPr>
          <p:cNvSpPr txBox="1"/>
          <p:nvPr/>
        </p:nvSpPr>
        <p:spPr>
          <a:xfrm>
            <a:off x="1394066" y="5189706"/>
            <a:ext cx="4787243"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任意的</a:t>
            </a:r>
            <a:r>
              <a:rPr lang="en-US" altLang="zh-CN" sz="2800" dirty="0">
                <a:latin typeface="微软雅黑" panose="020B0503020204020204" pitchFamily="34" charset="-122"/>
                <a:ea typeface="微软雅黑" panose="020B0503020204020204" pitchFamily="34" charset="-122"/>
              </a:rPr>
              <a:t>Windows</a:t>
            </a:r>
            <a:r>
              <a:rPr lang="zh-CN" altLang="en-US" sz="2800" dirty="0">
                <a:latin typeface="微软雅黑" panose="020B0503020204020204" pitchFamily="34" charset="-122"/>
                <a:ea typeface="微软雅黑" panose="020B0503020204020204" pitchFamily="34" charset="-122"/>
              </a:rPr>
              <a:t>笔记本电脑</a:t>
            </a:r>
          </a:p>
        </p:txBody>
      </p:sp>
      <p:sp>
        <p:nvSpPr>
          <p:cNvPr id="40" name="文本框 39">
            <a:extLst>
              <a:ext uri="{FF2B5EF4-FFF2-40B4-BE49-F238E27FC236}">
                <a16:creationId xmlns:a16="http://schemas.microsoft.com/office/drawing/2014/main" id="{1A83BFDC-FEA4-A800-359B-7167CED3AFD4}"/>
              </a:ext>
            </a:extLst>
          </p:cNvPr>
          <p:cNvSpPr txBox="1"/>
          <p:nvPr/>
        </p:nvSpPr>
        <p:spPr>
          <a:xfrm>
            <a:off x="8260135" y="5161599"/>
            <a:ext cx="2845391"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普通前置摄像头</a:t>
            </a:r>
          </a:p>
        </p:txBody>
      </p:sp>
      <p:sp>
        <p:nvSpPr>
          <p:cNvPr id="41" name="文本框 40">
            <a:extLst>
              <a:ext uri="{FF2B5EF4-FFF2-40B4-BE49-F238E27FC236}">
                <a16:creationId xmlns:a16="http://schemas.microsoft.com/office/drawing/2014/main" id="{489BE1E4-44FE-FCC7-3CFA-C42005E85BE8}"/>
              </a:ext>
            </a:extLst>
          </p:cNvPr>
          <p:cNvSpPr txBox="1"/>
          <p:nvPr/>
        </p:nvSpPr>
        <p:spPr>
          <a:xfrm>
            <a:off x="13932873" y="5234278"/>
            <a:ext cx="2526328"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日常使用距离</a:t>
            </a:r>
          </a:p>
        </p:txBody>
      </p:sp>
      <p:sp>
        <p:nvSpPr>
          <p:cNvPr id="42" name="文本框 41">
            <a:extLst>
              <a:ext uri="{FF2B5EF4-FFF2-40B4-BE49-F238E27FC236}">
                <a16:creationId xmlns:a16="http://schemas.microsoft.com/office/drawing/2014/main" id="{3D110CA7-9542-E5F6-E196-C350680100B5}"/>
              </a:ext>
            </a:extLst>
          </p:cNvPr>
          <p:cNvSpPr txBox="1"/>
          <p:nvPr/>
        </p:nvSpPr>
        <p:spPr>
          <a:xfrm>
            <a:off x="6240296" y="3200139"/>
            <a:ext cx="562917" cy="1015663"/>
          </a:xfrm>
          <a:prstGeom prst="rect">
            <a:avLst/>
          </a:prstGeom>
          <a:noFill/>
        </p:spPr>
        <p:txBody>
          <a:bodyPr wrap="square" rtlCol="0">
            <a:spAutoFit/>
          </a:bodyPr>
          <a:lstStyle/>
          <a:p>
            <a:r>
              <a:rPr lang="en-US" altLang="zh-CN" sz="60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43" name="文本框 42">
            <a:extLst>
              <a:ext uri="{FF2B5EF4-FFF2-40B4-BE49-F238E27FC236}">
                <a16:creationId xmlns:a16="http://schemas.microsoft.com/office/drawing/2014/main" id="{6F994517-5CDA-237A-74E5-80CA41745D2E}"/>
              </a:ext>
            </a:extLst>
          </p:cNvPr>
          <p:cNvSpPr txBox="1"/>
          <p:nvPr/>
        </p:nvSpPr>
        <p:spPr>
          <a:xfrm>
            <a:off x="12370051" y="3074087"/>
            <a:ext cx="562917" cy="1015663"/>
          </a:xfrm>
          <a:prstGeom prst="rect">
            <a:avLst/>
          </a:prstGeom>
          <a:noFill/>
        </p:spPr>
        <p:txBody>
          <a:bodyPr wrap="square" rtlCol="0">
            <a:spAutoFit/>
          </a:bodyPr>
          <a:lstStyle/>
          <a:p>
            <a:r>
              <a:rPr lang="en-US" altLang="zh-CN" sz="6000" dirty="0">
                <a:latin typeface="微软雅黑" panose="020B0503020204020204" pitchFamily="34" charset="-122"/>
                <a:ea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endParaRPr>
          </a:p>
        </p:txBody>
      </p:sp>
      <p:sp>
        <p:nvSpPr>
          <p:cNvPr id="44" name="TextBox 5">
            <a:extLst>
              <a:ext uri="{FF2B5EF4-FFF2-40B4-BE49-F238E27FC236}">
                <a16:creationId xmlns:a16="http://schemas.microsoft.com/office/drawing/2014/main" id="{A90832E0-D21E-4109-C351-7C86A2FA2C4F}"/>
              </a:ext>
            </a:extLst>
          </p:cNvPr>
          <p:cNvSpPr txBox="1"/>
          <p:nvPr/>
        </p:nvSpPr>
        <p:spPr>
          <a:xfrm>
            <a:off x="1020443" y="380719"/>
            <a:ext cx="4542157" cy="1873141"/>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应用场景回顾：普通 </a:t>
            </a:r>
            <a:r>
              <a:rPr lang="en-US" altLang="zh-CN"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RGB </a:t>
            </a: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摄像头桌面视线追踪</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reeform 26"/>
          <p:cNvSpPr/>
          <p:nvPr/>
        </p:nvSpPr>
        <p:spPr>
          <a:xfrm rot="5400000">
            <a:off x="3572094" y="4713575"/>
            <a:ext cx="5955235" cy="1915015"/>
          </a:xfrm>
          <a:custGeom>
            <a:avLst/>
            <a:gdLst/>
            <a:ahLst/>
            <a:cxnLst/>
            <a:rect l="l" t="t" r="r" b="b"/>
            <a:pathLst>
              <a:path w="5955235" h="1915015">
                <a:moveTo>
                  <a:pt x="0" y="0"/>
                </a:moveTo>
                <a:lnTo>
                  <a:pt x="5955235" y="0"/>
                </a:lnTo>
                <a:lnTo>
                  <a:pt x="5955235" y="1915015"/>
                </a:lnTo>
                <a:lnTo>
                  <a:pt x="0" y="1915015"/>
                </a:lnTo>
                <a:lnTo>
                  <a:pt x="0" y="0"/>
                </a:lnTo>
                <a:close/>
              </a:path>
            </a:pathLst>
          </a:custGeom>
          <a:blipFill>
            <a:blip>
              <a:extLst>
                <a:ext uri="{96DAC541-7B7A-43D3-8B79-37D633B846F1}">
                  <asvg:svgBlip xmlns:asvg="http://schemas.microsoft.com/office/drawing/2016/SVG/main" r:embed="rId2"/>
                </a:ext>
              </a:extLst>
            </a:blip>
            <a:stretch>
              <a:fillRect b="-55487"/>
            </a:stretch>
          </a:blip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7" name="Freeform 21">
            <a:extLst>
              <a:ext uri="{FF2B5EF4-FFF2-40B4-BE49-F238E27FC236}">
                <a16:creationId xmlns:a16="http://schemas.microsoft.com/office/drawing/2014/main" id="{F5946C4D-9905-7226-5FE4-B38CA7ABDB04}"/>
              </a:ext>
            </a:extLst>
          </p:cNvPr>
          <p:cNvSpPr/>
          <p:nvPr/>
        </p:nvSpPr>
        <p:spPr>
          <a:xfrm rot="10800000">
            <a:off x="6019800" y="7327837"/>
            <a:ext cx="9550578"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6" name="Freeform 21">
            <a:extLst>
              <a:ext uri="{FF2B5EF4-FFF2-40B4-BE49-F238E27FC236}">
                <a16:creationId xmlns:a16="http://schemas.microsoft.com/office/drawing/2014/main" id="{5CFE8CA6-5301-8EC1-22B1-B48B43224522}"/>
              </a:ext>
            </a:extLst>
          </p:cNvPr>
          <p:cNvSpPr/>
          <p:nvPr/>
        </p:nvSpPr>
        <p:spPr>
          <a:xfrm rot="10800000">
            <a:off x="7321860" y="4701674"/>
            <a:ext cx="9899339"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15" name="Freeform 15"/>
          <p:cNvSpPr/>
          <p:nvPr/>
        </p:nvSpPr>
        <p:spPr>
          <a:xfrm>
            <a:off x="2505286" y="4020188"/>
            <a:ext cx="2792829" cy="2792829"/>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28575" cap="sq">
            <a:solidFill>
              <a:schemeClr val="accent4">
                <a:alpha val="98000"/>
              </a:schemeClr>
            </a:solidFill>
            <a:prstDash val="dash"/>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6" name="TextBox 16"/>
          <p:cNvSpPr txBox="1"/>
          <p:nvPr/>
        </p:nvSpPr>
        <p:spPr>
          <a:xfrm>
            <a:off x="2767114" y="4282016"/>
            <a:ext cx="2269174" cy="2269174"/>
          </a:xfrm>
          <a:prstGeom prst="rect">
            <a:avLst/>
          </a:prstGeom>
        </p:spPr>
        <p:txBody>
          <a:bodyPr lIns="50800" tIns="50800" rIns="50800" bIns="50800" rtlCol="0" anchor="ctr"/>
          <a:lstStyle/>
          <a:p>
            <a:pPr algn="ctr">
              <a:lnSpc>
                <a:spcPts val="1107"/>
              </a:lnSpc>
            </a:pPr>
            <a:endParaRPr>
              <a:latin typeface="微软雅黑" panose="020B0503020204020204" pitchFamily="34" charset="-122"/>
              <a:ea typeface="微软雅黑" panose="020B0503020204020204" pitchFamily="34" charset="-122"/>
            </a:endParaRPr>
          </a:p>
        </p:txBody>
      </p:sp>
      <p:grpSp>
        <p:nvGrpSpPr>
          <p:cNvPr id="17" name="Group 17"/>
          <p:cNvGrpSpPr/>
          <p:nvPr/>
        </p:nvGrpSpPr>
        <p:grpSpPr>
          <a:xfrm>
            <a:off x="2747798" y="4262700"/>
            <a:ext cx="2307805" cy="2307805"/>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50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9" name="TextBox 19"/>
            <p:cNvSpPr txBox="1"/>
            <p:nvPr/>
          </p:nvSpPr>
          <p:spPr>
            <a:xfrm>
              <a:off x="76200" y="66675"/>
              <a:ext cx="660400" cy="669925"/>
            </a:xfrm>
            <a:prstGeom prst="rect">
              <a:avLst/>
            </a:prstGeom>
          </p:spPr>
          <p:txBody>
            <a:bodyPr lIns="50800" tIns="50800" rIns="50800" bIns="50800" rtlCol="0" anchor="ctr"/>
            <a:lstStyle/>
            <a:p>
              <a:pPr algn="ctr">
                <a:lnSpc>
                  <a:spcPts val="3936"/>
                </a:lnSpc>
              </a:pPr>
              <a:r>
                <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研究</a:t>
              </a:r>
            </a:p>
            <a:p>
              <a:pPr algn="ctr">
                <a:lnSpc>
                  <a:spcPts val="3936"/>
                </a:lnSpc>
              </a:pPr>
              <a:r>
                <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目</a:t>
              </a:r>
              <a:r>
                <a:rPr lang="zh-CN" alt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标</a:t>
              </a:r>
              <a:endParaRPr lang="en-US" sz="3200"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endParaRPr>
            </a:p>
          </p:txBody>
        </p:sp>
      </p:grpSp>
      <p:sp>
        <p:nvSpPr>
          <p:cNvPr id="21" name="Freeform 21"/>
          <p:cNvSpPr/>
          <p:nvPr/>
        </p:nvSpPr>
        <p:spPr>
          <a:xfrm rot="10800000">
            <a:off x="5718206" y="2196972"/>
            <a:ext cx="9550580" cy="1254707"/>
          </a:xfrm>
          <a:prstGeom prst="roundRect">
            <a:avLst/>
          </a:prstGeom>
          <a:solidFill>
            <a:schemeClr val="accent5">
              <a:lumMod val="40000"/>
              <a:lumOff val="60000"/>
            </a:schemeClr>
          </a:solidFill>
          <a:ln cap="sq">
            <a:noFill/>
            <a:prstDash val="solid"/>
            <a:miter/>
          </a:ln>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28" name="TextBox 28"/>
          <p:cNvSpPr txBox="1"/>
          <p:nvPr/>
        </p:nvSpPr>
        <p:spPr>
          <a:xfrm>
            <a:off x="6918586" y="2555849"/>
            <a:ext cx="8530923" cy="1051570"/>
          </a:xfrm>
          <a:prstGeom prst="rect">
            <a:avLst/>
          </a:prstGeom>
        </p:spPr>
        <p:txBody>
          <a:bodyPr wrap="square" lIns="0" tIns="0" rIns="0" bIns="0" rtlCol="0" anchor="t">
            <a:spAutoFit/>
          </a:bodyPr>
          <a:lstStyle/>
          <a:p>
            <a:pPr algn="just">
              <a:lnSpc>
                <a:spcPts val="4055"/>
              </a:lnSpc>
            </a:pPr>
            <a:r>
              <a:rPr lang="zh-CN" altLang="en-US" sz="3600">
                <a:latin typeface="微软雅黑" panose="020B0503020204020204" pitchFamily="34" charset="-122"/>
                <a:ea typeface="微软雅黑" panose="020B0503020204020204" pitchFamily="34" charset="-122"/>
                <a:cs typeface="字由点字典黑"/>
                <a:sym typeface="字由点字典黑"/>
              </a:rPr>
              <a:t>实时运行主链路已打通（训练、推理、映射、界面）</a:t>
            </a:r>
            <a:endParaRPr lang="en-US" sz="3600" dirty="0">
              <a:latin typeface="微软雅黑" panose="020B0503020204020204" pitchFamily="34" charset="-122"/>
              <a:ea typeface="微软雅黑" panose="020B0503020204020204" pitchFamily="34" charset="-122"/>
              <a:cs typeface="字由点字典黑"/>
              <a:sym typeface="字由点字典黑"/>
            </a:endParaRPr>
          </a:p>
        </p:txBody>
      </p:sp>
      <p:grpSp>
        <p:nvGrpSpPr>
          <p:cNvPr id="30" name="Group 30"/>
          <p:cNvGrpSpPr/>
          <p:nvPr/>
        </p:nvGrpSpPr>
        <p:grpSpPr>
          <a:xfrm>
            <a:off x="5313473" y="2215445"/>
            <a:ext cx="1236239" cy="123623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32" name="TextBox 32"/>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33" name="Group 33"/>
          <p:cNvGrpSpPr/>
          <p:nvPr/>
        </p:nvGrpSpPr>
        <p:grpSpPr>
          <a:xfrm>
            <a:off x="5452350" y="2354322"/>
            <a:ext cx="958485" cy="958485"/>
            <a:chOff x="0" y="0"/>
            <a:chExt cx="812800" cy="812800"/>
          </a:xfrm>
        </p:grpSpPr>
        <p:sp>
          <p:nvSpPr>
            <p:cNvPr id="34" name="Freeform 3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35" name="TextBox 35"/>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1</a:t>
              </a:r>
            </a:p>
          </p:txBody>
        </p:sp>
      </p:grpSp>
      <p:grpSp>
        <p:nvGrpSpPr>
          <p:cNvPr id="40" name="Group 40"/>
          <p:cNvGrpSpPr/>
          <p:nvPr/>
        </p:nvGrpSpPr>
        <p:grpSpPr>
          <a:xfrm>
            <a:off x="5313473" y="7302356"/>
            <a:ext cx="1236239" cy="1236239"/>
            <a:chOff x="0" y="0"/>
            <a:chExt cx="812800" cy="812800"/>
          </a:xfrm>
        </p:grpSpPr>
        <p:sp>
          <p:nvSpPr>
            <p:cNvPr id="41" name="Freeform 4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42" name="TextBox 42"/>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43" name="Group 43"/>
          <p:cNvGrpSpPr/>
          <p:nvPr/>
        </p:nvGrpSpPr>
        <p:grpSpPr>
          <a:xfrm>
            <a:off x="5452350" y="7441233"/>
            <a:ext cx="958485" cy="958485"/>
            <a:chOff x="0" y="0"/>
            <a:chExt cx="812800" cy="812800"/>
          </a:xfrm>
        </p:grpSpPr>
        <p:sp>
          <p:nvSpPr>
            <p:cNvPr id="44" name="Freeform 4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5" name="TextBox 45"/>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3</a:t>
              </a:r>
            </a:p>
          </p:txBody>
        </p:sp>
      </p:grpSp>
      <p:sp>
        <p:nvSpPr>
          <p:cNvPr id="46" name="TextBox 46"/>
          <p:cNvSpPr txBox="1"/>
          <p:nvPr/>
        </p:nvSpPr>
        <p:spPr>
          <a:xfrm>
            <a:off x="6957910" y="7671510"/>
            <a:ext cx="8310876" cy="1051570"/>
          </a:xfrm>
          <a:prstGeom prst="rect">
            <a:avLst/>
          </a:prstGeom>
        </p:spPr>
        <p:txBody>
          <a:bodyPr wrap="square" lIns="0" tIns="0" rIns="0" bIns="0" rtlCol="0" anchor="t">
            <a:spAutoFit/>
          </a:bodyPr>
          <a:lstStyle/>
          <a:p>
            <a:pPr marL="0" lvl="0" indent="0" algn="just">
              <a:lnSpc>
                <a:spcPts val="4055"/>
              </a:lnSpc>
              <a:spcBef>
                <a:spcPct val="0"/>
              </a:spcBef>
            </a:pPr>
            <a:r>
              <a:rPr lang="zh-CN" altLang="en-US" sz="3600" u="none" strike="noStrike">
                <a:latin typeface="微软雅黑" panose="020B0503020204020204" pitchFamily="34" charset="-122"/>
                <a:ea typeface="微软雅黑" panose="020B0503020204020204" pitchFamily="34" charset="-122"/>
                <a:cs typeface="字由点字典黑"/>
                <a:sym typeface="字由点字典黑"/>
              </a:rPr>
              <a:t>数据采集与交互原型已完成，可继续系统化优化</a:t>
            </a:r>
            <a:endParaRPr lang="en-US" sz="3600" u="none" strike="noStrike" dirty="0">
              <a:latin typeface="微软雅黑" panose="020B0503020204020204" pitchFamily="34" charset="-122"/>
              <a:ea typeface="微软雅黑" panose="020B0503020204020204" pitchFamily="34" charset="-122"/>
              <a:cs typeface="字由点字典黑"/>
              <a:sym typeface="字由点字典黑"/>
            </a:endParaRPr>
          </a:p>
        </p:txBody>
      </p:sp>
      <p:grpSp>
        <p:nvGrpSpPr>
          <p:cNvPr id="48" name="Group 48"/>
          <p:cNvGrpSpPr/>
          <p:nvPr/>
        </p:nvGrpSpPr>
        <p:grpSpPr>
          <a:xfrm>
            <a:off x="6856015" y="4710912"/>
            <a:ext cx="1236239" cy="1236239"/>
            <a:chOff x="0" y="0"/>
            <a:chExt cx="812800" cy="812800"/>
          </a:xfrm>
        </p:grpSpPr>
        <p:sp>
          <p:nvSpPr>
            <p:cNvPr id="49" name="Freeform 4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28575" cap="sq">
              <a:solidFill>
                <a:srgbClr val="7767DC"/>
              </a:solidFill>
              <a:prstDash val="dash"/>
              <a:miter/>
            </a:ln>
          </p:spPr>
          <p:txBody>
            <a:bodyPr/>
            <a:lstStyle/>
            <a:p>
              <a:endParaRPr lang="zh-CN" altLang="en-US">
                <a:latin typeface="微软雅黑" panose="020B0503020204020204" pitchFamily="34" charset="-122"/>
                <a:ea typeface="微软雅黑" panose="020B0503020204020204" pitchFamily="34" charset="-122"/>
              </a:endParaRPr>
            </a:p>
          </p:txBody>
        </p:sp>
        <p:sp>
          <p:nvSpPr>
            <p:cNvPr id="50" name="TextBox 50"/>
            <p:cNvSpPr txBox="1"/>
            <p:nvPr/>
          </p:nvSpPr>
          <p:spPr>
            <a:xfrm>
              <a:off x="76200" y="66675"/>
              <a:ext cx="660400" cy="669925"/>
            </a:xfrm>
            <a:prstGeom prst="rect">
              <a:avLst/>
            </a:prstGeom>
          </p:spPr>
          <p:txBody>
            <a:bodyPr lIns="50800" tIns="50800" rIns="50800" bIns="50800" rtlCol="0" anchor="ctr"/>
            <a:lstStyle/>
            <a:p>
              <a:pPr algn="ctr">
                <a:lnSpc>
                  <a:spcPts val="2214"/>
                </a:lnSpc>
              </a:pPr>
              <a:endParaRPr>
                <a:latin typeface="微软雅黑" panose="020B0503020204020204" pitchFamily="34" charset="-122"/>
                <a:ea typeface="微软雅黑" panose="020B0503020204020204" pitchFamily="34" charset="-122"/>
              </a:endParaRPr>
            </a:p>
          </p:txBody>
        </p:sp>
      </p:grpSp>
      <p:grpSp>
        <p:nvGrpSpPr>
          <p:cNvPr id="51" name="Group 51"/>
          <p:cNvGrpSpPr/>
          <p:nvPr/>
        </p:nvGrpSpPr>
        <p:grpSpPr>
          <a:xfrm>
            <a:off x="6994892" y="4849789"/>
            <a:ext cx="958485" cy="958485"/>
            <a:chOff x="0" y="0"/>
            <a:chExt cx="812800" cy="812800"/>
          </a:xfrm>
        </p:grpSpPr>
        <p:sp>
          <p:nvSpPr>
            <p:cNvPr id="52" name="Freeform 5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chemeClr val="accent5">
                <a:lumMod val="75000"/>
              </a:schemeClr>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53" name="TextBox 53"/>
            <p:cNvSpPr txBox="1"/>
            <p:nvPr/>
          </p:nvSpPr>
          <p:spPr>
            <a:xfrm>
              <a:off x="76200" y="66675"/>
              <a:ext cx="660400" cy="669925"/>
            </a:xfrm>
            <a:prstGeom prst="rect">
              <a:avLst/>
            </a:prstGeom>
          </p:spPr>
          <p:txBody>
            <a:bodyPr lIns="50800" tIns="50800" rIns="50800" bIns="50800" rtlCol="0" anchor="ctr"/>
            <a:lstStyle/>
            <a:p>
              <a:pPr algn="ctr">
                <a:lnSpc>
                  <a:spcPts val="4181"/>
                </a:lnSpc>
              </a:pPr>
              <a:r>
                <a:rPr lang="en-US" sz="3399" dirty="0">
                  <a:solidFill>
                    <a:srgbClr val="FFFFFF"/>
                  </a:solidFill>
                  <a:latin typeface="微软雅黑" panose="020B0503020204020204" pitchFamily="34" charset="-122"/>
                  <a:ea typeface="微软雅黑" panose="020B0503020204020204" pitchFamily="34" charset="-122"/>
                  <a:cs typeface="字由点字典黑 Bold"/>
                  <a:sym typeface="字由点字典黑 Bold"/>
                </a:rPr>
                <a:t>2</a:t>
              </a:r>
            </a:p>
          </p:txBody>
        </p:sp>
      </p:grpSp>
      <p:sp>
        <p:nvSpPr>
          <p:cNvPr id="54" name="TextBox 54"/>
          <p:cNvSpPr txBox="1"/>
          <p:nvPr/>
        </p:nvSpPr>
        <p:spPr>
          <a:xfrm>
            <a:off x="8199453" y="5058894"/>
            <a:ext cx="9233718" cy="525785"/>
          </a:xfrm>
          <a:prstGeom prst="rect">
            <a:avLst/>
          </a:prstGeom>
        </p:spPr>
        <p:txBody>
          <a:bodyPr wrap="square" lIns="0" tIns="0" rIns="0" bIns="0" rtlCol="0" anchor="t">
            <a:spAutoFit/>
          </a:bodyPr>
          <a:lstStyle/>
          <a:p>
            <a:pPr marL="0" lvl="0" indent="0" algn="just">
              <a:lnSpc>
                <a:spcPts val="4055"/>
              </a:lnSpc>
              <a:spcBef>
                <a:spcPct val="0"/>
              </a:spcBef>
            </a:pPr>
            <a:r>
              <a:rPr lang="zh-CN" altLang="en-US" sz="3600" u="none" strike="noStrike">
                <a:latin typeface="微软雅黑" panose="020B0503020204020204" pitchFamily="34" charset="-122"/>
                <a:ea typeface="微软雅黑" panose="020B0503020204020204" pitchFamily="34" charset="-122"/>
                <a:cs typeface="字由点字典黑"/>
                <a:sym typeface="字由点字典黑"/>
              </a:rPr>
              <a:t>跨用户可用性已获初步验证（</a:t>
            </a:r>
            <a:r>
              <a:rPr lang="en-US" altLang="zh-CN" sz="3600" u="none" strike="noStrike">
                <a:latin typeface="微软雅黑" panose="020B0503020204020204" pitchFamily="34" charset="-122"/>
                <a:ea typeface="微软雅黑" panose="020B0503020204020204" pitchFamily="34" charset="-122"/>
                <a:cs typeface="字由点字典黑"/>
                <a:sym typeface="字由点字典黑"/>
              </a:rPr>
              <a:t>LOO </a:t>
            </a:r>
            <a:r>
              <a:rPr lang="zh-CN" altLang="en-US" sz="3600" u="none" strike="noStrike">
                <a:latin typeface="微软雅黑" panose="020B0503020204020204" pitchFamily="34" charset="-122"/>
                <a:ea typeface="微软雅黑" panose="020B0503020204020204" pitchFamily="34" charset="-122"/>
                <a:cs typeface="字由点字典黑"/>
                <a:sym typeface="字由点字典黑"/>
              </a:rPr>
              <a:t>平均 </a:t>
            </a:r>
            <a:r>
              <a:rPr lang="en-US" altLang="zh-CN" sz="3600" u="none" strike="noStrike">
                <a:latin typeface="微软雅黑" panose="020B0503020204020204" pitchFamily="34" charset="-122"/>
                <a:ea typeface="微软雅黑" panose="020B0503020204020204" pitchFamily="34" charset="-122"/>
                <a:cs typeface="字由点字典黑"/>
                <a:sym typeface="字由点字典黑"/>
              </a:rPr>
              <a:t>2.48°</a:t>
            </a:r>
            <a:r>
              <a:rPr lang="zh-CN" altLang="en-US" sz="3600" u="none" strike="noStrike">
                <a:latin typeface="微软雅黑" panose="020B0503020204020204" pitchFamily="34" charset="-122"/>
                <a:ea typeface="微软雅黑" panose="020B0503020204020204" pitchFamily="34" charset="-122"/>
                <a:cs typeface="字由点字典黑"/>
                <a:sym typeface="字由点字典黑"/>
              </a:rPr>
              <a:t>）</a:t>
            </a:r>
            <a:endParaRPr lang="en-US" sz="3600" u="none" strike="noStrike" dirty="0">
              <a:latin typeface="微软雅黑" panose="020B0503020204020204" pitchFamily="34" charset="-122"/>
              <a:ea typeface="微软雅黑" panose="020B0503020204020204" pitchFamily="34" charset="-122"/>
              <a:cs typeface="字由点字典黑"/>
              <a:sym typeface="字由点字典黑"/>
            </a:endParaRPr>
          </a:p>
        </p:txBody>
      </p:sp>
      <p:sp>
        <p:nvSpPr>
          <p:cNvPr id="59" name="TextBox 5">
            <a:extLst>
              <a:ext uri="{FF2B5EF4-FFF2-40B4-BE49-F238E27FC236}">
                <a16:creationId xmlns:a16="http://schemas.microsoft.com/office/drawing/2014/main" id="{B9F552D6-FC35-1F08-BB40-6D2A6ED15E80}"/>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2</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60" name="TextBox 5">
            <a:extLst>
              <a:ext uri="{FF2B5EF4-FFF2-40B4-BE49-F238E27FC236}">
                <a16:creationId xmlns:a16="http://schemas.microsoft.com/office/drawing/2014/main" id="{87395C51-73C4-F191-7381-615A3A739E62}"/>
              </a:ext>
            </a:extLst>
          </p:cNvPr>
          <p:cNvSpPr txBox="1"/>
          <p:nvPr/>
        </p:nvSpPr>
        <p:spPr>
          <a:xfrm>
            <a:off x="1020443" y="380719"/>
            <a:ext cx="4542157"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开题目标在中期阶段的完成度</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42A5E-C9B2-8947-8324-1EF1BA6AD5A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5F02EC3D-6F30-948F-0345-3E501889BDF3}"/>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49612C4D-392B-CE5D-A15A-0528BD82EBDA}"/>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AD933EE0-EA70-EF75-B2B8-189F56D1643F}"/>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42ACFBB6-B842-5DB6-1CB1-6AEBB11EFB38}"/>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F65CEFB0-28A8-C9FF-AD53-68D3D7FA36C1}"/>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5D7699B3-C722-0134-FAA8-516B9BA5FF00}"/>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9585045C-B266-B548-68FA-C4B217F2BFCF}"/>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5EEA9638-F21E-2F80-457C-71593AEA918F}"/>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4BE82748-55B8-34F7-625B-4D8717CE9FDD}"/>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73F35C52-C90B-EABC-D6A7-E5CDD17C1203}"/>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4CFCFD72-6533-A02F-D9F4-A098A610AD66}"/>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4C059D0D-3571-A33C-F04D-C4401CDB3AAA}"/>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solidFill>
                  <a:srgbClr val="7030A0"/>
                </a:solidFill>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B520084C-5094-72D4-4361-FD09D828DCE3}"/>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E1133388-F1E2-7C42-8736-75F589B96125}"/>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56103561-2900-65AE-E2CD-7F3DB36B206E}"/>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24C386F7-F9C5-5FD5-2CB9-FA7A47292347}"/>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A452195C-2A86-A523-9691-29FAAA8AAFFD}"/>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D8D86112-5A29-BF45-03C4-8094A6128598}"/>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DC224FA6-EFD9-C642-4304-06297602A85D}"/>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45D33E27-6778-0FD0-F0B7-DF394D172248}"/>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799D8828-041B-461A-B18A-9F64CBCF8731}"/>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842160536"/>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430289"/>
            <a:ext cx="220378" cy="598411"/>
            <a:chOff x="0" y="0"/>
            <a:chExt cx="58042" cy="157606"/>
          </a:xfrm>
        </p:grpSpPr>
        <p:sp>
          <p:nvSpPr>
            <p:cNvPr id="3" name="Freeform 3"/>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6" name="TextBox 5">
            <a:extLst>
              <a:ext uri="{FF2B5EF4-FFF2-40B4-BE49-F238E27FC236}">
                <a16:creationId xmlns:a16="http://schemas.microsoft.com/office/drawing/2014/main" id="{687F88C7-E56E-1B9C-64CA-7E8FF704602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3C6A3CFC-B8A5-8376-83E5-8D36F5F8AA1E}"/>
              </a:ext>
            </a:extLst>
          </p:cNvPr>
          <p:cNvSpPr txBox="1"/>
          <p:nvPr/>
        </p:nvSpPr>
        <p:spPr>
          <a:xfrm>
            <a:off x="1020443" y="380719"/>
            <a:ext cx="3407379"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当前已完成的核心工作</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9" name="文本框 58">
            <a:extLst>
              <a:ext uri="{FF2B5EF4-FFF2-40B4-BE49-F238E27FC236}">
                <a16:creationId xmlns:a16="http://schemas.microsoft.com/office/drawing/2014/main" id="{84632A7D-2096-4233-3E1D-350E3264AFCA}"/>
              </a:ext>
            </a:extLst>
          </p:cNvPr>
          <p:cNvSpPr txBox="1"/>
          <p:nvPr/>
        </p:nvSpPr>
        <p:spPr>
          <a:xfrm>
            <a:off x="4838700" y="1257300"/>
            <a:ext cx="8610600"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bg2">
                    <a:lumMod val="50000"/>
                  </a:schemeClr>
                </a:solidFill>
                <a:latin typeface="微软雅黑" panose="020B0503020204020204" pitchFamily="34" charset="-122"/>
                <a:ea typeface="微软雅黑" panose="020B0503020204020204" pitchFamily="34" charset="-122"/>
              </a:rPr>
              <a:t>数据、模型、映射、交互已形成端到端闭环</a:t>
            </a:r>
            <a:endParaRPr lang="zh-CN" altLang="en-US" sz="3600" b="1" dirty="0">
              <a:ln/>
              <a:solidFill>
                <a:schemeClr val="bg2">
                  <a:lumMod val="50000"/>
                </a:schemeClr>
              </a:solidFill>
              <a:latin typeface="微软雅黑" panose="020B0503020204020204" pitchFamily="34" charset="-122"/>
              <a:ea typeface="微软雅黑" panose="020B0503020204020204" pitchFamily="34" charset="-122"/>
            </a:endParaRPr>
          </a:p>
        </p:txBody>
      </p:sp>
      <p:sp>
        <p:nvSpPr>
          <p:cNvPr id="60" name="矩形: 圆角 59">
            <a:extLst>
              <a:ext uri="{FF2B5EF4-FFF2-40B4-BE49-F238E27FC236}">
                <a16:creationId xmlns:a16="http://schemas.microsoft.com/office/drawing/2014/main" id="{29425401-EC9B-357F-32D9-207210CA0B53}"/>
              </a:ext>
            </a:extLst>
          </p:cNvPr>
          <p:cNvSpPr/>
          <p:nvPr/>
        </p:nvSpPr>
        <p:spPr>
          <a:xfrm>
            <a:off x="2742904" y="2480475"/>
            <a:ext cx="5114290"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63" name="文本框 62">
            <a:extLst>
              <a:ext uri="{FF2B5EF4-FFF2-40B4-BE49-F238E27FC236}">
                <a16:creationId xmlns:a16="http://schemas.microsoft.com/office/drawing/2014/main" id="{CCC50572-88C3-2123-C08C-A3196B893921}"/>
              </a:ext>
            </a:extLst>
          </p:cNvPr>
          <p:cNvSpPr txBox="1"/>
          <p:nvPr/>
        </p:nvSpPr>
        <p:spPr>
          <a:xfrm>
            <a:off x="2895600" y="2608554"/>
            <a:ext cx="4761460" cy="646331"/>
          </a:xfrm>
          <a:prstGeom prst="rect">
            <a:avLst/>
          </a:prstGeom>
          <a:noFill/>
        </p:spPr>
        <p:txBody>
          <a:bodyPr wrap="square" rtlCol="0">
            <a:spAutoFit/>
          </a:bodyPr>
          <a:lstStyle/>
          <a:p>
            <a:pPr algn="ctr"/>
            <a:r>
              <a:rPr lang="zh-CN" altLang="zh-CN" sz="3600" dirty="0">
                <a:latin typeface="微软雅黑" panose="020B0503020204020204" pitchFamily="34" charset="-122"/>
                <a:ea typeface="微软雅黑" panose="020B0503020204020204" pitchFamily="34" charset="-122"/>
              </a:rPr>
              <a:t>人脸与眼部关键点检测</a:t>
            </a:r>
            <a:endParaRPr lang="zh-CN" altLang="en-US" sz="3600" dirty="0">
              <a:latin typeface="微软雅黑" panose="020B0503020204020204" pitchFamily="34" charset="-122"/>
              <a:ea typeface="微软雅黑" panose="020B0503020204020204" pitchFamily="34" charset="-122"/>
            </a:endParaRPr>
          </a:p>
        </p:txBody>
      </p:sp>
      <p:sp>
        <p:nvSpPr>
          <p:cNvPr id="66" name="矩形: 圆角 65">
            <a:extLst>
              <a:ext uri="{FF2B5EF4-FFF2-40B4-BE49-F238E27FC236}">
                <a16:creationId xmlns:a16="http://schemas.microsoft.com/office/drawing/2014/main" id="{26EA75FE-D424-73F1-5506-7F91A3D6639E}"/>
              </a:ext>
            </a:extLst>
          </p:cNvPr>
          <p:cNvSpPr/>
          <p:nvPr/>
        </p:nvSpPr>
        <p:spPr>
          <a:xfrm>
            <a:off x="2742903" y="7399823"/>
            <a:ext cx="6401097"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67" name="文本框 66">
            <a:extLst>
              <a:ext uri="{FF2B5EF4-FFF2-40B4-BE49-F238E27FC236}">
                <a16:creationId xmlns:a16="http://schemas.microsoft.com/office/drawing/2014/main" id="{86D09202-128A-47FA-4B6F-3553769F607B}"/>
              </a:ext>
            </a:extLst>
          </p:cNvPr>
          <p:cNvSpPr txBox="1"/>
          <p:nvPr/>
        </p:nvSpPr>
        <p:spPr>
          <a:xfrm>
            <a:off x="3095733" y="7542573"/>
            <a:ext cx="6208503"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屏幕几何参数（通过校准估计）</a:t>
            </a:r>
          </a:p>
        </p:txBody>
      </p:sp>
      <p:sp>
        <p:nvSpPr>
          <p:cNvPr id="71" name="矩形: 圆角 70">
            <a:extLst>
              <a:ext uri="{FF2B5EF4-FFF2-40B4-BE49-F238E27FC236}">
                <a16:creationId xmlns:a16="http://schemas.microsoft.com/office/drawing/2014/main" id="{61733093-D8CF-DCAA-7438-1BE3A5221698}"/>
              </a:ext>
            </a:extLst>
          </p:cNvPr>
          <p:cNvSpPr/>
          <p:nvPr/>
        </p:nvSpPr>
        <p:spPr>
          <a:xfrm>
            <a:off x="2742903" y="5805289"/>
            <a:ext cx="9500835"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2" name="文本框 71">
            <a:extLst>
              <a:ext uri="{FF2B5EF4-FFF2-40B4-BE49-F238E27FC236}">
                <a16:creationId xmlns:a16="http://schemas.microsoft.com/office/drawing/2014/main" id="{730DFE48-8FFC-88AB-B0C4-36AB81957477}"/>
              </a:ext>
            </a:extLst>
          </p:cNvPr>
          <p:cNvSpPr txBox="1"/>
          <p:nvPr/>
        </p:nvSpPr>
        <p:spPr>
          <a:xfrm>
            <a:off x="2895600" y="5935773"/>
            <a:ext cx="9500835"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深度模型回归 </a:t>
            </a:r>
            <a:r>
              <a:rPr lang="en-US" altLang="zh-CN" sz="3600" dirty="0">
                <a:latin typeface="微软雅黑" panose="020B0503020204020204" pitchFamily="34" charset="-122"/>
                <a:ea typeface="微软雅黑" panose="020B0503020204020204" pitchFamily="34" charset="-122"/>
              </a:rPr>
              <a:t>3D gaze </a:t>
            </a:r>
            <a:r>
              <a:rPr lang="zh-CN" altLang="en-US" sz="3600" dirty="0">
                <a:latin typeface="微软雅黑" panose="020B0503020204020204" pitchFamily="34" charset="-122"/>
                <a:ea typeface="微软雅黑" panose="020B0503020204020204" pitchFamily="34" charset="-122"/>
              </a:rPr>
              <a:t>向量 </a:t>
            </a:r>
            <a:r>
              <a:rPr lang="en-US" altLang="zh-CN" sz="3600" dirty="0">
                <a:latin typeface="微软雅黑" panose="020B0503020204020204" pitchFamily="34" charset="-122"/>
                <a:ea typeface="微软雅黑" panose="020B0503020204020204" pitchFamily="34" charset="-122"/>
              </a:rPr>
              <a:t>g</a:t>
            </a:r>
            <a:r>
              <a:rPr lang="zh-CN" altLang="en-US" sz="3600" dirty="0">
                <a:latin typeface="微软雅黑" panose="020B0503020204020204" pitchFamily="34" charset="-122"/>
                <a:ea typeface="微软雅黑" panose="020B0503020204020204" pitchFamily="34" charset="-122"/>
              </a:rPr>
              <a:t>（相机坐标系）</a:t>
            </a:r>
          </a:p>
        </p:txBody>
      </p:sp>
      <p:sp>
        <p:nvSpPr>
          <p:cNvPr id="74" name="矩形: 圆角 73">
            <a:extLst>
              <a:ext uri="{FF2B5EF4-FFF2-40B4-BE49-F238E27FC236}">
                <a16:creationId xmlns:a16="http://schemas.microsoft.com/office/drawing/2014/main" id="{503B8521-A972-7471-340C-493BEC8E386D}"/>
              </a:ext>
            </a:extLst>
          </p:cNvPr>
          <p:cNvSpPr/>
          <p:nvPr/>
        </p:nvSpPr>
        <p:spPr>
          <a:xfrm>
            <a:off x="2742904" y="4210755"/>
            <a:ext cx="6003304"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5" name="文本框 74">
            <a:extLst>
              <a:ext uri="{FF2B5EF4-FFF2-40B4-BE49-F238E27FC236}">
                <a16:creationId xmlns:a16="http://schemas.microsoft.com/office/drawing/2014/main" id="{F9F572CA-EB6D-BA24-0B51-1408EEC7C33F}"/>
              </a:ext>
            </a:extLst>
          </p:cNvPr>
          <p:cNvSpPr txBox="1"/>
          <p:nvPr/>
        </p:nvSpPr>
        <p:spPr>
          <a:xfrm>
            <a:off x="3040352" y="4344789"/>
            <a:ext cx="5705855"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头姿估计（</a:t>
            </a:r>
            <a:r>
              <a:rPr lang="en-US" altLang="zh-CN" sz="3600" dirty="0">
                <a:latin typeface="微软雅黑" panose="020B0503020204020204" pitchFamily="34" charset="-122"/>
                <a:ea typeface="微软雅黑" panose="020B0503020204020204" pitchFamily="34" charset="-122"/>
              </a:rPr>
              <a:t>yaw/pitch/roll</a:t>
            </a:r>
            <a:r>
              <a:rPr lang="zh-CN" altLang="en-US" sz="3600" dirty="0">
                <a:latin typeface="微软雅黑" panose="020B0503020204020204" pitchFamily="34" charset="-122"/>
                <a:ea typeface="微软雅黑" panose="020B0503020204020204" pitchFamily="34" charset="-122"/>
              </a:rPr>
              <a:t>）</a:t>
            </a:r>
          </a:p>
        </p:txBody>
      </p:sp>
      <p:sp>
        <p:nvSpPr>
          <p:cNvPr id="77" name="矩形: 圆角 76">
            <a:extLst>
              <a:ext uri="{FF2B5EF4-FFF2-40B4-BE49-F238E27FC236}">
                <a16:creationId xmlns:a16="http://schemas.microsoft.com/office/drawing/2014/main" id="{9DC2E140-FADB-FE9B-FC0C-2A1084D5BC11}"/>
              </a:ext>
            </a:extLst>
          </p:cNvPr>
          <p:cNvSpPr/>
          <p:nvPr/>
        </p:nvSpPr>
        <p:spPr>
          <a:xfrm>
            <a:off x="2742903" y="8991881"/>
            <a:ext cx="5478481" cy="914400"/>
          </a:xfrm>
          <a:prstGeom prst="round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75000"/>
                </a:schemeClr>
              </a:solidFill>
              <a:latin typeface="微软雅黑" panose="020B0503020204020204" pitchFamily="34" charset="-122"/>
              <a:ea typeface="微软雅黑" panose="020B0503020204020204" pitchFamily="34" charset="-122"/>
            </a:endParaRPr>
          </a:p>
        </p:txBody>
      </p:sp>
      <p:sp>
        <p:nvSpPr>
          <p:cNvPr id="78" name="文本框 77">
            <a:extLst>
              <a:ext uri="{FF2B5EF4-FFF2-40B4-BE49-F238E27FC236}">
                <a16:creationId xmlns:a16="http://schemas.microsoft.com/office/drawing/2014/main" id="{B4800355-9DFA-3C89-F7A5-6335D8854B18}"/>
              </a:ext>
            </a:extLst>
          </p:cNvPr>
          <p:cNvSpPr txBox="1"/>
          <p:nvPr/>
        </p:nvSpPr>
        <p:spPr>
          <a:xfrm>
            <a:off x="2875090" y="9089417"/>
            <a:ext cx="5346294" cy="646331"/>
          </a:xfrm>
          <a:prstGeom prst="rect">
            <a:avLst/>
          </a:prstGeom>
          <a:noFill/>
        </p:spPr>
        <p:txBody>
          <a:bodyPr wrap="square" rtlCol="0">
            <a:spAutoFit/>
          </a:bodyPr>
          <a:lstStyle/>
          <a:p>
            <a:pPr algn="ctr"/>
            <a:r>
              <a:rPr lang="zh-CN" altLang="en-US" sz="3600" dirty="0">
                <a:latin typeface="微软雅黑" panose="020B0503020204020204" pitchFamily="34" charset="-122"/>
                <a:ea typeface="微软雅黑" panose="020B0503020204020204" pitchFamily="34" charset="-122"/>
              </a:rPr>
              <a:t>视线向量与屏幕平面求交</a:t>
            </a:r>
          </a:p>
        </p:txBody>
      </p:sp>
      <p:sp>
        <p:nvSpPr>
          <p:cNvPr id="82" name="箭头: 右 81">
            <a:extLst>
              <a:ext uri="{FF2B5EF4-FFF2-40B4-BE49-F238E27FC236}">
                <a16:creationId xmlns:a16="http://schemas.microsoft.com/office/drawing/2014/main" id="{F8D6693F-757F-1B57-9218-440C6B0F9986}"/>
              </a:ext>
            </a:extLst>
          </p:cNvPr>
          <p:cNvSpPr/>
          <p:nvPr/>
        </p:nvSpPr>
        <p:spPr>
          <a:xfrm>
            <a:off x="8469915" y="2764120"/>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5" name="文本框 84">
            <a:extLst>
              <a:ext uri="{FF2B5EF4-FFF2-40B4-BE49-F238E27FC236}">
                <a16:creationId xmlns:a16="http://schemas.microsoft.com/office/drawing/2014/main" id="{B7491D2F-DFFE-1D29-7A07-836197F78F08}"/>
              </a:ext>
            </a:extLst>
          </p:cNvPr>
          <p:cNvSpPr txBox="1"/>
          <p:nvPr/>
        </p:nvSpPr>
        <p:spPr>
          <a:xfrm>
            <a:off x="9756721" y="2614544"/>
            <a:ext cx="3455095"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得到眼区 </a:t>
            </a:r>
            <a:r>
              <a:rPr lang="en-US" altLang="zh-CN" sz="3600" b="1" dirty="0">
                <a:latin typeface="微软雅黑" panose="020B0503020204020204" pitchFamily="34" charset="-122"/>
                <a:ea typeface="微软雅黑" panose="020B0503020204020204" pitchFamily="34" charset="-122"/>
              </a:rPr>
              <a:t>ROI</a:t>
            </a:r>
            <a:endParaRPr lang="zh-CN" altLang="en-US" sz="3600" b="1" dirty="0">
              <a:latin typeface="微软雅黑" panose="020B0503020204020204" pitchFamily="34" charset="-122"/>
              <a:ea typeface="微软雅黑" panose="020B0503020204020204" pitchFamily="34" charset="-122"/>
            </a:endParaRPr>
          </a:p>
        </p:txBody>
      </p:sp>
      <p:sp>
        <p:nvSpPr>
          <p:cNvPr id="86" name="箭头: 右 85">
            <a:extLst>
              <a:ext uri="{FF2B5EF4-FFF2-40B4-BE49-F238E27FC236}">
                <a16:creationId xmlns:a16="http://schemas.microsoft.com/office/drawing/2014/main" id="{5CEA6EA8-9E3C-D51B-942F-8C511604933F}"/>
              </a:ext>
            </a:extLst>
          </p:cNvPr>
          <p:cNvSpPr/>
          <p:nvPr/>
        </p:nvSpPr>
        <p:spPr>
          <a:xfrm>
            <a:off x="9204751" y="4483548"/>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7" name="文本框 86">
            <a:extLst>
              <a:ext uri="{FF2B5EF4-FFF2-40B4-BE49-F238E27FC236}">
                <a16:creationId xmlns:a16="http://schemas.microsoft.com/office/drawing/2014/main" id="{78A26A52-36C0-03D3-C190-4F0BBE3B173A}"/>
              </a:ext>
            </a:extLst>
          </p:cNvPr>
          <p:cNvSpPr txBox="1"/>
          <p:nvPr/>
        </p:nvSpPr>
        <p:spPr>
          <a:xfrm>
            <a:off x="10337379" y="4320308"/>
            <a:ext cx="5636428"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提供相机坐标系下的姿态</a:t>
            </a:r>
          </a:p>
        </p:txBody>
      </p:sp>
      <p:sp>
        <p:nvSpPr>
          <p:cNvPr id="88" name="箭头: 右 87">
            <a:extLst>
              <a:ext uri="{FF2B5EF4-FFF2-40B4-BE49-F238E27FC236}">
                <a16:creationId xmlns:a16="http://schemas.microsoft.com/office/drawing/2014/main" id="{64DF9412-AED2-8C29-8912-540A077B87EF}"/>
              </a:ext>
            </a:extLst>
          </p:cNvPr>
          <p:cNvSpPr/>
          <p:nvPr/>
        </p:nvSpPr>
        <p:spPr>
          <a:xfrm>
            <a:off x="9764667" y="7636692"/>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A7E6915C-7946-DFC2-0148-35C17DB237CA}"/>
              </a:ext>
            </a:extLst>
          </p:cNvPr>
          <p:cNvSpPr txBox="1"/>
          <p:nvPr/>
        </p:nvSpPr>
        <p:spPr>
          <a:xfrm>
            <a:off x="10899183" y="7473452"/>
            <a:ext cx="3078933"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空间屏幕平面</a:t>
            </a:r>
          </a:p>
        </p:txBody>
      </p:sp>
      <p:sp>
        <p:nvSpPr>
          <p:cNvPr id="90" name="箭头: 右 89">
            <a:extLst>
              <a:ext uri="{FF2B5EF4-FFF2-40B4-BE49-F238E27FC236}">
                <a16:creationId xmlns:a16="http://schemas.microsoft.com/office/drawing/2014/main" id="{30222182-7F87-A525-D21A-D3739B8EDE4E}"/>
              </a:ext>
            </a:extLst>
          </p:cNvPr>
          <p:cNvSpPr/>
          <p:nvPr/>
        </p:nvSpPr>
        <p:spPr>
          <a:xfrm>
            <a:off x="8691151" y="9281080"/>
            <a:ext cx="674085" cy="319852"/>
          </a:xfrm>
          <a:prstGeom prst="rightArrow">
            <a:avLst/>
          </a:prstGeom>
          <a:solidFill>
            <a:schemeClr val="bg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91" name="文本框 90">
            <a:extLst>
              <a:ext uri="{FF2B5EF4-FFF2-40B4-BE49-F238E27FC236}">
                <a16:creationId xmlns:a16="http://schemas.microsoft.com/office/drawing/2014/main" id="{CD348770-7567-B4EE-D4B1-A32852D560E2}"/>
              </a:ext>
            </a:extLst>
          </p:cNvPr>
          <p:cNvSpPr txBox="1"/>
          <p:nvPr/>
        </p:nvSpPr>
        <p:spPr>
          <a:xfrm>
            <a:off x="9835003" y="9130103"/>
            <a:ext cx="3455095" cy="646331"/>
          </a:xfrm>
          <a:prstGeom prst="rect">
            <a:avLst/>
          </a:prstGeom>
          <a:noFill/>
        </p:spPr>
        <p:txBody>
          <a:bodyPr wrap="square" rtlCol="0">
            <a:spAutoFit/>
          </a:bodyPr>
          <a:lstStyle/>
          <a:p>
            <a:r>
              <a:rPr lang="zh-CN" altLang="en-US" sz="3600" b="1" dirty="0">
                <a:latin typeface="微软雅黑" panose="020B0503020204020204" pitchFamily="34" charset="-122"/>
                <a:ea typeface="微软雅黑" panose="020B0503020204020204" pitchFamily="34" charset="-122"/>
              </a:rPr>
              <a:t>注视点 </a:t>
            </a:r>
            <a:r>
              <a:rPr lang="en-US" altLang="zh-CN" sz="3600" b="1" dirty="0">
                <a:latin typeface="微软雅黑" panose="020B0503020204020204" pitchFamily="34" charset="-122"/>
                <a:ea typeface="微软雅黑" panose="020B0503020204020204" pitchFamily="34" charset="-122"/>
              </a:rPr>
              <a:t>(x, y)</a:t>
            </a:r>
            <a:endParaRPr lang="zh-CN" altLang="en-US" sz="3600" b="1" dirty="0">
              <a:latin typeface="微软雅黑" panose="020B0503020204020204" pitchFamily="34" charset="-122"/>
              <a:ea typeface="微软雅黑" panose="020B0503020204020204" pitchFamily="34" charset="-122"/>
            </a:endParaRPr>
          </a:p>
        </p:txBody>
      </p:sp>
      <p:sp>
        <p:nvSpPr>
          <p:cNvPr id="92" name="箭头: 左弧形 91">
            <a:extLst>
              <a:ext uri="{FF2B5EF4-FFF2-40B4-BE49-F238E27FC236}">
                <a16:creationId xmlns:a16="http://schemas.microsoft.com/office/drawing/2014/main" id="{E63375D3-D374-9F2F-C637-BA8E144F9FC3}"/>
              </a:ext>
            </a:extLst>
          </p:cNvPr>
          <p:cNvSpPr/>
          <p:nvPr/>
        </p:nvSpPr>
        <p:spPr>
          <a:xfrm>
            <a:off x="2051975" y="3254885"/>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3" name="箭头: 左弧形 92">
            <a:extLst>
              <a:ext uri="{FF2B5EF4-FFF2-40B4-BE49-F238E27FC236}">
                <a16:creationId xmlns:a16="http://schemas.microsoft.com/office/drawing/2014/main" id="{8A51AF1E-D92C-6B68-6ED3-6A7818930A85}"/>
              </a:ext>
            </a:extLst>
          </p:cNvPr>
          <p:cNvSpPr/>
          <p:nvPr/>
        </p:nvSpPr>
        <p:spPr>
          <a:xfrm>
            <a:off x="2064603" y="5006393"/>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4" name="箭头: 左弧形 93">
            <a:extLst>
              <a:ext uri="{FF2B5EF4-FFF2-40B4-BE49-F238E27FC236}">
                <a16:creationId xmlns:a16="http://schemas.microsoft.com/office/drawing/2014/main" id="{4F0B7BD4-7FD0-79A4-2E94-1C71891B7C26}"/>
              </a:ext>
            </a:extLst>
          </p:cNvPr>
          <p:cNvSpPr/>
          <p:nvPr/>
        </p:nvSpPr>
        <p:spPr>
          <a:xfrm>
            <a:off x="2033350" y="6581540"/>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95" name="箭头: 左弧形 94">
            <a:extLst>
              <a:ext uri="{FF2B5EF4-FFF2-40B4-BE49-F238E27FC236}">
                <a16:creationId xmlns:a16="http://schemas.microsoft.com/office/drawing/2014/main" id="{9812F86D-5AB1-1513-DD98-0AC818B5BA15}"/>
              </a:ext>
            </a:extLst>
          </p:cNvPr>
          <p:cNvSpPr/>
          <p:nvPr/>
        </p:nvSpPr>
        <p:spPr>
          <a:xfrm>
            <a:off x="2074858" y="8266362"/>
            <a:ext cx="601952" cy="1109124"/>
          </a:xfrm>
          <a:prstGeom prst="curvedRightArrow">
            <a:avLst/>
          </a:prstGeom>
          <a:solidFill>
            <a:schemeClr val="bg2">
              <a:lumMod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F8068-8289-C309-17A9-F50EB9B16526}"/>
            </a:ext>
          </a:extLst>
        </p:cNvPr>
        <p:cNvGrpSpPr/>
        <p:nvPr/>
      </p:nvGrpSpPr>
      <p:grpSpPr>
        <a:xfrm>
          <a:off x="0" y="0"/>
          <a:ext cx="0" cy="0"/>
          <a:chOff x="0" y="0"/>
          <a:chExt cx="0" cy="0"/>
        </a:xfrm>
      </p:grpSpPr>
      <p:pic>
        <p:nvPicPr>
          <p:cNvPr id="6" name="图片 5">
            <a:extLst>
              <a:ext uri="{FF2B5EF4-FFF2-40B4-BE49-F238E27FC236}">
                <a16:creationId xmlns:a16="http://schemas.microsoft.com/office/drawing/2014/main" id="{FA6EE21A-DC3A-E3F5-2929-F142C4759789}"/>
              </a:ext>
            </a:extLst>
          </p:cNvPr>
          <p:cNvPicPr>
            <a:picLocks/>
          </p:cNvPicPr>
          <p:nvPr/>
        </p:nvPicPr>
        <p:blipFill>
          <a:blip r:embed="rId2" cstate="print">
            <a:extLst>
              <a:ext uri="{28A0092B-C50C-407E-A947-70E740481C1C}">
                <a14:useLocalDpi xmlns:a14="http://schemas.microsoft.com/office/drawing/2010/main" val="0"/>
              </a:ext>
            </a:extLst>
          </a:blip>
          <a:stretch>
            <a:fillRect/>
          </a:stretch>
        </p:blipFill>
        <p:spPr>
          <a:xfrm>
            <a:off x="0" y="1028700"/>
            <a:ext cx="18288000" cy="9423105"/>
          </a:xfrm>
          <a:prstGeom prst="rect">
            <a:avLst/>
          </a:prstGeom>
        </p:spPr>
      </p:pic>
      <p:grpSp>
        <p:nvGrpSpPr>
          <p:cNvPr id="2" name="Group 2">
            <a:extLst>
              <a:ext uri="{FF2B5EF4-FFF2-40B4-BE49-F238E27FC236}">
                <a16:creationId xmlns:a16="http://schemas.microsoft.com/office/drawing/2014/main" id="{E5E2D457-6596-9D39-FA2C-8899F800497A}"/>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2EA76F3B-DD2C-DED4-81EB-726B0AC4994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9F00C7A2-6EF9-D60E-025A-2A272FE64A13}"/>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9" name="TextBox 5">
            <a:extLst>
              <a:ext uri="{FF2B5EF4-FFF2-40B4-BE49-F238E27FC236}">
                <a16:creationId xmlns:a16="http://schemas.microsoft.com/office/drawing/2014/main" id="{22D7C2F0-3C54-ADC5-BB10-D8685187E8EA}"/>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10" name="TextBox 5">
            <a:extLst>
              <a:ext uri="{FF2B5EF4-FFF2-40B4-BE49-F238E27FC236}">
                <a16:creationId xmlns:a16="http://schemas.microsoft.com/office/drawing/2014/main" id="{958184F4-CA9A-3E1C-5B6A-85CE8843568B}"/>
              </a:ext>
            </a:extLst>
          </p:cNvPr>
          <p:cNvSpPr txBox="1"/>
          <p:nvPr/>
        </p:nvSpPr>
        <p:spPr>
          <a:xfrm>
            <a:off x="1020443" y="380719"/>
            <a:ext cx="3407379" cy="1873141"/>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普通 </a:t>
            </a:r>
            <a:r>
              <a:rPr lang="en-US" altLang="zh-CN"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RGB </a:t>
            </a: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桌面视线追踪整体示意</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Tree>
    <p:extLst>
      <p:ext uri="{BB962C8B-B14F-4D97-AF65-F5344CB8AC3E}">
        <p14:creationId xmlns:p14="http://schemas.microsoft.com/office/powerpoint/2010/main" val="30572827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94181-3DE9-BD52-2309-9DD1BA62F5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08235B3-1DF1-DE91-F43A-55EB6A5A62DF}"/>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FEDD40C7-D53F-318A-52C9-9A1CD5DA86F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8C3F1C0F-85AF-2662-3049-50A8D7E68276}"/>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56" name="TextBox 5">
            <a:extLst>
              <a:ext uri="{FF2B5EF4-FFF2-40B4-BE49-F238E27FC236}">
                <a16:creationId xmlns:a16="http://schemas.microsoft.com/office/drawing/2014/main" id="{FB7EE6B8-75FA-E935-9FD9-8B5B710AB2AD}"/>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47FF71B7-1FE6-2AAF-56BD-24BB813B1A57}"/>
              </a:ext>
            </a:extLst>
          </p:cNvPr>
          <p:cNvSpPr txBox="1"/>
          <p:nvPr/>
        </p:nvSpPr>
        <p:spPr>
          <a:xfrm>
            <a:off x="1020443" y="380719"/>
            <a:ext cx="4542157"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当前已完成的核心工作</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9" name="文本框 58">
            <a:extLst>
              <a:ext uri="{FF2B5EF4-FFF2-40B4-BE49-F238E27FC236}">
                <a16:creationId xmlns:a16="http://schemas.microsoft.com/office/drawing/2014/main" id="{A15E66C6-CB12-10FD-D06E-F8A0837C82C9}"/>
              </a:ext>
            </a:extLst>
          </p:cNvPr>
          <p:cNvSpPr txBox="1"/>
          <p:nvPr/>
        </p:nvSpPr>
        <p:spPr>
          <a:xfrm>
            <a:off x="6524625" y="1296769"/>
            <a:ext cx="5238750"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pPr algn="ctr"/>
            <a:r>
              <a:rPr lang="zh-CN" altLang="en-US" sz="3600" b="1">
                <a:ln/>
                <a:solidFill>
                  <a:schemeClr val="tx2">
                    <a:lumMod val="60000"/>
                    <a:lumOff val="40000"/>
                  </a:schemeClr>
                </a:solidFill>
                <a:latin typeface="微软雅黑" panose="020B0503020204020204" pitchFamily="34" charset="-122"/>
                <a:ea typeface="微软雅黑" panose="020B0503020204020204" pitchFamily="34" charset="-122"/>
              </a:rPr>
              <a:t>公开数据预训练 </a:t>
            </a:r>
            <a:r>
              <a:rPr lang="en-US" altLang="zh-CN" sz="3600" b="1">
                <a:ln/>
                <a:solidFill>
                  <a:schemeClr val="tx2">
                    <a:lumMod val="60000"/>
                    <a:lumOff val="40000"/>
                  </a:schemeClr>
                </a:solidFill>
                <a:latin typeface="微软雅黑" panose="020B0503020204020204" pitchFamily="34" charset="-122"/>
                <a:ea typeface="微软雅黑" panose="020B0503020204020204" pitchFamily="34" charset="-122"/>
              </a:rPr>
              <a:t>+ </a:t>
            </a:r>
            <a:r>
              <a:rPr lang="zh-CN" altLang="en-US" sz="3600" b="1">
                <a:ln/>
                <a:solidFill>
                  <a:schemeClr val="tx2">
                    <a:lumMod val="60000"/>
                    <a:lumOff val="40000"/>
                  </a:schemeClr>
                </a:solidFill>
                <a:latin typeface="微软雅黑" panose="020B0503020204020204" pitchFamily="34" charset="-122"/>
                <a:ea typeface="微软雅黑" panose="020B0503020204020204" pitchFamily="34" charset="-122"/>
              </a:rPr>
              <a:t>自采数据微调</a:t>
            </a:r>
            <a:endParaRPr lang="zh-CN" altLang="en-US" sz="3600" b="1" dirty="0">
              <a:ln/>
              <a:solidFill>
                <a:schemeClr val="tx2">
                  <a:lumMod val="60000"/>
                  <a:lumOff val="40000"/>
                </a:schemeClr>
              </a:solidFill>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609191D1-6F1F-1CA6-894F-353874042B9C}"/>
              </a:ext>
            </a:extLst>
          </p:cNvPr>
          <p:cNvSpPr/>
          <p:nvPr/>
        </p:nvSpPr>
        <p:spPr>
          <a:xfrm>
            <a:off x="3124201" y="2480475"/>
            <a:ext cx="2438399" cy="9144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当前规模</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9" name="矩形: 圆角 8">
            <a:extLst>
              <a:ext uri="{FF2B5EF4-FFF2-40B4-BE49-F238E27FC236}">
                <a16:creationId xmlns:a16="http://schemas.microsoft.com/office/drawing/2014/main" id="{79560C0F-7F6A-C505-6801-E1E5BB45F4ED}"/>
              </a:ext>
            </a:extLst>
          </p:cNvPr>
          <p:cNvSpPr/>
          <p:nvPr/>
        </p:nvSpPr>
        <p:spPr>
          <a:xfrm>
            <a:off x="5562600" y="2480475"/>
            <a:ext cx="5238751" cy="91440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2800">
                <a:solidFill>
                  <a:schemeClr val="tx1"/>
                </a:solidFill>
                <a:latin typeface="微软雅黑" panose="020B0503020204020204" pitchFamily="34" charset="-122"/>
                <a:ea typeface="微软雅黑" panose="020B0503020204020204" pitchFamily="34" charset="-122"/>
              </a:rPr>
              <a:t>31 </a:t>
            </a:r>
            <a:r>
              <a:rPr lang="zh-CN" altLang="en-US" sz="2800">
                <a:solidFill>
                  <a:schemeClr val="tx1"/>
                </a:solidFill>
                <a:latin typeface="微软雅黑" panose="020B0503020204020204" pitchFamily="34" charset="-122"/>
                <a:ea typeface="微软雅黑" panose="020B0503020204020204" pitchFamily="34" charset="-122"/>
              </a:rPr>
              <a:t>名用户 </a:t>
            </a:r>
            <a:r>
              <a:rPr lang="en-US" altLang="zh-CN" sz="2800">
                <a:solidFill>
                  <a:schemeClr val="tx1"/>
                </a:solidFill>
                <a:latin typeface="微软雅黑" panose="020B0503020204020204" pitchFamily="34" charset="-122"/>
                <a:ea typeface="微软雅黑" panose="020B0503020204020204" pitchFamily="34" charset="-122"/>
              </a:rPr>
              <a:t>/ 16 </a:t>
            </a:r>
            <a:r>
              <a:rPr lang="zh-CN" altLang="en-US" sz="2800">
                <a:solidFill>
                  <a:schemeClr val="tx1"/>
                </a:solidFill>
                <a:latin typeface="微软雅黑" panose="020B0503020204020204" pitchFamily="34" charset="-122"/>
                <a:ea typeface="微软雅黑" panose="020B0503020204020204" pitchFamily="34" charset="-122"/>
              </a:rPr>
              <a:t>台设备 </a:t>
            </a:r>
            <a:r>
              <a:rPr lang="en-US" altLang="zh-CN" sz="2800">
                <a:solidFill>
                  <a:schemeClr val="tx1"/>
                </a:solidFill>
                <a:latin typeface="微软雅黑" panose="020B0503020204020204" pitchFamily="34" charset="-122"/>
                <a:ea typeface="微软雅黑" panose="020B0503020204020204" pitchFamily="34" charset="-122"/>
              </a:rPr>
              <a:t>/ 7395 </a:t>
            </a:r>
            <a:r>
              <a:rPr lang="zh-CN" altLang="en-US" sz="2800">
                <a:solidFill>
                  <a:schemeClr val="tx1"/>
                </a:solidFill>
                <a:latin typeface="微软雅黑" panose="020B0503020204020204" pitchFamily="34" charset="-122"/>
                <a:ea typeface="微软雅黑" panose="020B0503020204020204" pitchFamily="34" charset="-122"/>
              </a:rPr>
              <a:t>条样本</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FAB409E5-8045-BEC1-0FE2-E671CCB97995}"/>
              </a:ext>
            </a:extLst>
          </p:cNvPr>
          <p:cNvSpPr/>
          <p:nvPr/>
        </p:nvSpPr>
        <p:spPr>
          <a:xfrm>
            <a:off x="3124201" y="3852512"/>
            <a:ext cx="2438399" cy="129098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数据内容</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F4AFEF8C-47FF-5000-153B-D2AFE16D2FA3}"/>
              </a:ext>
            </a:extLst>
          </p:cNvPr>
          <p:cNvSpPr/>
          <p:nvPr/>
        </p:nvSpPr>
        <p:spPr>
          <a:xfrm>
            <a:off x="5562600" y="3852513"/>
            <a:ext cx="9601199" cy="1290986"/>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左右眼图像 </a:t>
            </a:r>
            <a:r>
              <a:rPr lang="en-US" altLang="zh-CN" sz="2800">
                <a:solidFill>
                  <a:schemeClr val="tx1"/>
                </a:solidFill>
                <a:latin typeface="微软雅黑" panose="020B0503020204020204" pitchFamily="34" charset="-122"/>
                <a:ea typeface="微软雅黑" panose="020B0503020204020204" pitchFamily="34" charset="-122"/>
              </a:rPr>
              <a:t>+ head pose + </a:t>
            </a:r>
            <a:r>
              <a:rPr lang="zh-CN" altLang="en-US" sz="2800">
                <a:solidFill>
                  <a:schemeClr val="tx1"/>
                </a:solidFill>
                <a:latin typeface="微软雅黑" panose="020B0503020204020204" pitchFamily="34" charset="-122"/>
                <a:ea typeface="微软雅黑" panose="020B0503020204020204" pitchFamily="34" charset="-122"/>
              </a:rPr>
              <a:t>屏幕注视点标签</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5" name="箭头: 左弧形 14">
            <a:extLst>
              <a:ext uri="{FF2B5EF4-FFF2-40B4-BE49-F238E27FC236}">
                <a16:creationId xmlns:a16="http://schemas.microsoft.com/office/drawing/2014/main" id="{0974EB86-AF47-01BD-76C3-FEBEB20CE512}"/>
              </a:ext>
            </a:extLst>
          </p:cNvPr>
          <p:cNvSpPr/>
          <p:nvPr/>
        </p:nvSpPr>
        <p:spPr>
          <a:xfrm>
            <a:off x="2658036" y="4838700"/>
            <a:ext cx="457200" cy="914400"/>
          </a:xfrm>
          <a:prstGeom prst="curvedRightArrow">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F1F1D1B9-424B-F10A-D643-87683411EDCA}"/>
              </a:ext>
            </a:extLst>
          </p:cNvPr>
          <p:cNvSpPr/>
          <p:nvPr/>
        </p:nvSpPr>
        <p:spPr>
          <a:xfrm>
            <a:off x="3115236" y="5601136"/>
            <a:ext cx="2438399" cy="1290987"/>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阶段结论</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4827C58C-CA8A-C299-3654-3189A98FFE04}"/>
              </a:ext>
            </a:extLst>
          </p:cNvPr>
          <p:cNvSpPr/>
          <p:nvPr/>
        </p:nvSpPr>
        <p:spPr>
          <a:xfrm>
            <a:off x="5553635" y="5601137"/>
            <a:ext cx="9601199" cy="1290986"/>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真实桌面场景数据是保证模型与映射结论可信的关键</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33D2D39A-AFD0-1E3B-E486-71DEE4B0ACB6}"/>
              </a:ext>
            </a:extLst>
          </p:cNvPr>
          <p:cNvSpPr/>
          <p:nvPr/>
        </p:nvSpPr>
        <p:spPr>
          <a:xfrm>
            <a:off x="3124201" y="7810500"/>
            <a:ext cx="2438399" cy="9144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b="1">
                <a:solidFill>
                  <a:schemeClr val="tx1"/>
                </a:solidFill>
                <a:latin typeface="微软雅黑" panose="020B0503020204020204" pitchFamily="34" charset="-122"/>
                <a:ea typeface="微软雅黑" panose="020B0503020204020204" pitchFamily="34" charset="-122"/>
              </a:rPr>
              <a:t>后续策略</a:t>
            </a:r>
            <a:endParaRPr lang="zh-CN" altLang="en-US" sz="2800" b="1" dirty="0">
              <a:solidFill>
                <a:schemeClr val="tx1"/>
              </a:solidFill>
              <a:latin typeface="微软雅黑" panose="020B0503020204020204" pitchFamily="34" charset="-122"/>
              <a:ea typeface="微软雅黑" panose="020B0503020204020204" pitchFamily="34" charset="-122"/>
            </a:endParaRPr>
          </a:p>
        </p:txBody>
      </p:sp>
      <p:sp>
        <p:nvSpPr>
          <p:cNvPr id="23" name="矩形: 圆角 22">
            <a:extLst>
              <a:ext uri="{FF2B5EF4-FFF2-40B4-BE49-F238E27FC236}">
                <a16:creationId xmlns:a16="http://schemas.microsoft.com/office/drawing/2014/main" id="{029F0B5B-762E-F5E3-E9CE-724486A8705E}"/>
              </a:ext>
            </a:extLst>
          </p:cNvPr>
          <p:cNvSpPr/>
          <p:nvPr/>
        </p:nvSpPr>
        <p:spPr>
          <a:xfrm>
            <a:off x="5562600" y="7810500"/>
            <a:ext cx="9601199" cy="914400"/>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zh-CN" altLang="en-US" sz="2800" b="1">
                <a:solidFill>
                  <a:schemeClr val="tx1"/>
                </a:solidFill>
                <a:latin typeface="微软雅黑" panose="020B0503020204020204" pitchFamily="34" charset="-122"/>
                <a:ea typeface="微软雅黑" panose="020B0503020204020204" pitchFamily="34" charset="-122"/>
              </a:rPr>
              <a:t>继续补充长尾样本，并围绕难例做针对性分析</a:t>
            </a:r>
            <a:endParaRPr lang="en-US" altLang="zh-CN" sz="2800" b="1" dirty="0">
              <a:solidFill>
                <a:schemeClr val="tx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61468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95093-ED36-FBC0-39DF-1A09378C25A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9ED65A9-723C-A1ED-24A9-7006FB8F13BD}"/>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343AF5E0-19BE-CA1C-19FD-49084580E6C8}"/>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5DA9DCA5-D014-7DC9-CAC0-98899FEE2C38}"/>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8F806131-166C-849B-6B95-02687B0B3941}"/>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阶段结果</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E499ECB4-3CAF-856C-CF9E-45538EAA5BE2}"/>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DCF64B56-F8CF-0A58-D88E-7F7ED97D33B0}"/>
              </a:ext>
            </a:extLst>
          </p:cNvPr>
          <p:cNvSpPr txBox="1"/>
          <p:nvPr/>
        </p:nvSpPr>
        <p:spPr>
          <a:xfrm>
            <a:off x="1020443" y="380719"/>
            <a:ext cx="4542157"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阶段性实验结果与系统实现</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9" name="文本框 58">
            <a:extLst>
              <a:ext uri="{FF2B5EF4-FFF2-40B4-BE49-F238E27FC236}">
                <a16:creationId xmlns:a16="http://schemas.microsoft.com/office/drawing/2014/main" id="{90D515AC-D3C9-9C7C-52EE-C59922586F3A}"/>
              </a:ext>
            </a:extLst>
          </p:cNvPr>
          <p:cNvSpPr txBox="1"/>
          <p:nvPr/>
        </p:nvSpPr>
        <p:spPr>
          <a:xfrm>
            <a:off x="5962650" y="1314171"/>
            <a:ext cx="6362700"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3">
                    <a:lumMod val="75000"/>
                  </a:schemeClr>
                </a:solidFill>
                <a:latin typeface="微软雅黑" panose="020B0503020204020204" pitchFamily="34" charset="-122"/>
                <a:ea typeface="微软雅黑" panose="020B0503020204020204" pitchFamily="34" charset="-122"/>
              </a:rPr>
              <a:t>阶段性实验结果：基础性能、泛化与关键因素</a:t>
            </a:r>
            <a:endParaRPr lang="zh-CN" altLang="en-US" sz="3600" b="1" dirty="0">
              <a:ln/>
              <a:solidFill>
                <a:schemeClr val="accent3">
                  <a:lumMod val="75000"/>
                </a:schemeClr>
              </a:solidFill>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F6CD8D72-9AD2-B35C-0DF6-D7B829A9E657}"/>
              </a:ext>
            </a:extLst>
          </p:cNvPr>
          <p:cNvSpPr/>
          <p:nvPr/>
        </p:nvSpPr>
        <p:spPr>
          <a:xfrm>
            <a:off x="7924800" y="2138871"/>
            <a:ext cx="2438399" cy="914400"/>
          </a:xfrm>
          <a:prstGeom prst="roundRect">
            <a:avLst/>
          </a:prstGeom>
          <a:solidFill>
            <a:schemeClr val="accent3">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核心结果</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6191AA70-5ADC-36DD-9D05-B9E9D8703BB0}"/>
              </a:ext>
            </a:extLst>
          </p:cNvPr>
          <p:cNvSpPr/>
          <p:nvPr/>
        </p:nvSpPr>
        <p:spPr>
          <a:xfrm>
            <a:off x="509579"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基础误差分布</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9CD10338-3FEA-4F33-77ED-174E3D093248}"/>
              </a:ext>
            </a:extLst>
          </p:cNvPr>
          <p:cNvSpPr/>
          <p:nvPr/>
        </p:nvSpPr>
        <p:spPr>
          <a:xfrm>
            <a:off x="11834821" y="8163226"/>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注视点分布热图</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BCFE5494-538F-F4C0-292E-A88E1C5B73CB}"/>
              </a:ext>
            </a:extLst>
          </p:cNvPr>
          <p:cNvSpPr/>
          <p:nvPr/>
        </p:nvSpPr>
        <p:spPr>
          <a:xfrm>
            <a:off x="6172200"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预测与目标对比</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14" name="图片 13">
            <a:extLst>
              <a:ext uri="{FF2B5EF4-FFF2-40B4-BE49-F238E27FC236}">
                <a16:creationId xmlns:a16="http://schemas.microsoft.com/office/drawing/2014/main" id="{80536C2D-95A4-AD3C-DB76-D648424757E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172200" y="10691812"/>
            <a:ext cx="5430372" cy="3976688"/>
          </a:xfrm>
          <a:prstGeom prst="rect">
            <a:avLst/>
          </a:prstGeom>
        </p:spPr>
      </p:pic>
      <p:pic>
        <p:nvPicPr>
          <p:cNvPr id="16" name="图片 15">
            <a:extLst>
              <a:ext uri="{FF2B5EF4-FFF2-40B4-BE49-F238E27FC236}">
                <a16:creationId xmlns:a16="http://schemas.microsoft.com/office/drawing/2014/main" id="{2B1CB290-5356-2F12-1113-20002989F1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858308" y="10691812"/>
            <a:ext cx="5215264" cy="3976688"/>
          </a:xfrm>
          <a:prstGeom prst="rect">
            <a:avLst/>
          </a:prstGeom>
        </p:spPr>
      </p:pic>
      <p:pic>
        <p:nvPicPr>
          <p:cNvPr id="18" name="图片 17">
            <a:extLst>
              <a:ext uri="{FF2B5EF4-FFF2-40B4-BE49-F238E27FC236}">
                <a16:creationId xmlns:a16="http://schemas.microsoft.com/office/drawing/2014/main" id="{28693FC2-9835-C3FF-EF3A-F9B924F4508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5225" y="10686996"/>
            <a:ext cx="5127457" cy="3981504"/>
          </a:xfrm>
          <a:prstGeom prst="rect">
            <a:avLst/>
          </a:prstGeom>
        </p:spPr>
      </p:pic>
    </p:spTree>
    <p:extLst>
      <p:ext uri="{BB962C8B-B14F-4D97-AF65-F5344CB8AC3E}">
        <p14:creationId xmlns:p14="http://schemas.microsoft.com/office/powerpoint/2010/main" val="32982110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4A802-827C-DC00-B49D-2D72FBB87C0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0B9AF0B-B2E5-0878-3FC5-CE10DC02F5BF}"/>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99EAF1C5-5EC8-956F-CD69-A37586FF90E4}"/>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923DB6F-BA71-3261-9439-AC5CA4F79D0B}"/>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26B351E1-1E0E-A288-E81E-9971EE2BE3CF}"/>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阶段结果</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C1D95540-DA97-1474-353E-01B507624FB3}"/>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FA34275-3C76-28CD-311E-F71E94DB8B59}"/>
              </a:ext>
            </a:extLst>
          </p:cNvPr>
          <p:cNvSpPr txBox="1"/>
          <p:nvPr/>
        </p:nvSpPr>
        <p:spPr>
          <a:xfrm>
            <a:off x="1020443" y="380719"/>
            <a:ext cx="4542157"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阶段性实验结果与系统实现</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9" name="文本框 58">
            <a:extLst>
              <a:ext uri="{FF2B5EF4-FFF2-40B4-BE49-F238E27FC236}">
                <a16:creationId xmlns:a16="http://schemas.microsoft.com/office/drawing/2014/main" id="{A6BBB7A1-A86C-08AE-0063-7378448F0259}"/>
              </a:ext>
            </a:extLst>
          </p:cNvPr>
          <p:cNvSpPr txBox="1"/>
          <p:nvPr/>
        </p:nvSpPr>
        <p:spPr>
          <a:xfrm>
            <a:off x="5962650" y="1314171"/>
            <a:ext cx="6362700"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3">
                    <a:lumMod val="75000"/>
                  </a:schemeClr>
                </a:solidFill>
                <a:latin typeface="微软雅黑" panose="020B0503020204020204" pitchFamily="34" charset="-122"/>
                <a:ea typeface="微软雅黑" panose="020B0503020204020204" pitchFamily="34" charset="-122"/>
              </a:rPr>
              <a:t>阶段性实验结果：从离线指标到可分析结果</a:t>
            </a:r>
            <a:endParaRPr lang="zh-CN" altLang="en-US" sz="3600" b="1" dirty="0">
              <a:ln/>
              <a:solidFill>
                <a:schemeClr val="accent3">
                  <a:lumMod val="75000"/>
                </a:schemeClr>
              </a:solidFill>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0F703EC5-6F4F-1715-C630-D487479A0171}"/>
              </a:ext>
            </a:extLst>
          </p:cNvPr>
          <p:cNvSpPr/>
          <p:nvPr/>
        </p:nvSpPr>
        <p:spPr>
          <a:xfrm>
            <a:off x="7924800" y="2138871"/>
            <a:ext cx="2438399" cy="914400"/>
          </a:xfrm>
          <a:prstGeom prst="roundRect">
            <a:avLst/>
          </a:prstGeom>
          <a:solidFill>
            <a:schemeClr val="accent3">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核心结果</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6" name="矩形: 圆角 5">
            <a:extLst>
              <a:ext uri="{FF2B5EF4-FFF2-40B4-BE49-F238E27FC236}">
                <a16:creationId xmlns:a16="http://schemas.microsoft.com/office/drawing/2014/main" id="{251F1267-30C4-FEB1-7A2B-7538913E7A86}"/>
              </a:ext>
            </a:extLst>
          </p:cNvPr>
          <p:cNvSpPr/>
          <p:nvPr/>
        </p:nvSpPr>
        <p:spPr>
          <a:xfrm>
            <a:off x="509579"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基础误差分布</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34B8D502-56CA-B9A5-EBCB-A75492F10330}"/>
              </a:ext>
            </a:extLst>
          </p:cNvPr>
          <p:cNvSpPr/>
          <p:nvPr/>
        </p:nvSpPr>
        <p:spPr>
          <a:xfrm>
            <a:off x="11834821" y="8163226"/>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注视点分布热图</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DA9103D8-5A6F-F872-BF2D-4497E54ACC85}"/>
              </a:ext>
            </a:extLst>
          </p:cNvPr>
          <p:cNvSpPr/>
          <p:nvPr/>
        </p:nvSpPr>
        <p:spPr>
          <a:xfrm>
            <a:off x="6172200"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预测与目标对比</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19" name="图片 18">
            <a:extLst>
              <a:ext uri="{FF2B5EF4-FFF2-40B4-BE49-F238E27FC236}">
                <a16:creationId xmlns:a16="http://schemas.microsoft.com/office/drawing/2014/main" id="{90D94D48-6E90-7FA6-BBE7-3419EDB12DA2}"/>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172200" y="3851504"/>
            <a:ext cx="5430372" cy="3976688"/>
          </a:xfrm>
          <a:prstGeom prst="rect">
            <a:avLst/>
          </a:prstGeom>
        </p:spPr>
      </p:pic>
      <p:pic>
        <p:nvPicPr>
          <p:cNvPr id="21" name="图片 20">
            <a:extLst>
              <a:ext uri="{FF2B5EF4-FFF2-40B4-BE49-F238E27FC236}">
                <a16:creationId xmlns:a16="http://schemas.microsoft.com/office/drawing/2014/main" id="{6744BBA5-4BFA-DAA4-7F30-167364EE0EF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1858308" y="3851504"/>
            <a:ext cx="5215264" cy="3976688"/>
          </a:xfrm>
          <a:prstGeom prst="rect">
            <a:avLst/>
          </a:prstGeom>
        </p:spPr>
      </p:pic>
      <p:pic>
        <p:nvPicPr>
          <p:cNvPr id="15" name="图片 14">
            <a:extLst>
              <a:ext uri="{FF2B5EF4-FFF2-40B4-BE49-F238E27FC236}">
                <a16:creationId xmlns:a16="http://schemas.microsoft.com/office/drawing/2014/main" id="{6DD500AC-BE92-7594-E53B-FCFA7F544FA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565225" y="3846688"/>
            <a:ext cx="5127457" cy="3981504"/>
          </a:xfrm>
          <a:prstGeom prst="rect">
            <a:avLst/>
          </a:prstGeom>
        </p:spPr>
      </p:pic>
      <p:pic>
        <p:nvPicPr>
          <p:cNvPr id="9" name="图片 8">
            <a:extLst>
              <a:ext uri="{FF2B5EF4-FFF2-40B4-BE49-F238E27FC236}">
                <a16:creationId xmlns:a16="http://schemas.microsoft.com/office/drawing/2014/main" id="{5CFFFF87-C234-F6E4-9E38-15A4D71CC0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820766" y="3231640"/>
            <a:ext cx="9906634" cy="5572481"/>
          </a:xfrm>
          <a:prstGeom prst="rect">
            <a:avLst/>
          </a:prstGeom>
        </p:spPr>
      </p:pic>
      <p:sp>
        <p:nvSpPr>
          <p:cNvPr id="10" name="流程图: 接点 9">
            <a:extLst>
              <a:ext uri="{FF2B5EF4-FFF2-40B4-BE49-F238E27FC236}">
                <a16:creationId xmlns:a16="http://schemas.microsoft.com/office/drawing/2014/main" id="{223C5870-0067-AF7A-BA14-C8751CF9BA06}"/>
              </a:ext>
            </a:extLst>
          </p:cNvPr>
          <p:cNvSpPr/>
          <p:nvPr/>
        </p:nvSpPr>
        <p:spPr>
          <a:xfrm>
            <a:off x="25907683" y="6017880"/>
            <a:ext cx="419101" cy="457200"/>
          </a:xfrm>
          <a:prstGeom prst="flowChartConnector">
            <a:avLst/>
          </a:prstGeom>
          <a:solidFill>
            <a:srgbClr val="C00000"/>
          </a:solidFill>
          <a:ln>
            <a:solidFill>
              <a:schemeClr val="tx1">
                <a:lumMod val="95000"/>
                <a:lumOff val="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1" name="箭头: 左 10">
            <a:extLst>
              <a:ext uri="{FF2B5EF4-FFF2-40B4-BE49-F238E27FC236}">
                <a16:creationId xmlns:a16="http://schemas.microsoft.com/office/drawing/2014/main" id="{8B73F01C-ADE0-36A8-1255-0D105C380974}"/>
              </a:ext>
            </a:extLst>
          </p:cNvPr>
          <p:cNvSpPr/>
          <p:nvPr/>
        </p:nvSpPr>
        <p:spPr>
          <a:xfrm rot="6342818">
            <a:off x="24362237" y="7519023"/>
            <a:ext cx="2630349" cy="609132"/>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F7BAA163-2805-82C3-FFC3-B2BCA3F687A1}"/>
              </a:ext>
            </a:extLst>
          </p:cNvPr>
          <p:cNvSpPr/>
          <p:nvPr/>
        </p:nvSpPr>
        <p:spPr>
          <a:xfrm>
            <a:off x="20116482" y="8991881"/>
            <a:ext cx="7315200"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系统级输入注入，实现跨应用注视控制</a:t>
            </a:r>
          </a:p>
        </p:txBody>
      </p:sp>
    </p:spTree>
    <p:extLst>
      <p:ext uri="{BB962C8B-B14F-4D97-AF65-F5344CB8AC3E}">
        <p14:creationId xmlns:p14="http://schemas.microsoft.com/office/powerpoint/2010/main" val="2414173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A2509-BE44-86C6-3B8F-B0874815F1A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3515EE2-5474-85F2-4A0A-75848B51DB50}"/>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45632A3A-5DF4-2DF5-CF22-BCBDC5AB7D5E}"/>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5F0418ED-D4A5-72CC-0DB0-3AD693590325}"/>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B2D92C7D-C843-0291-C46D-3D0C0A0AE0F5}"/>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阶段结果</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85A96F55-68A9-6237-9BAD-376E4C00E8EB}"/>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3</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E45A49F-ECCD-CF8E-1117-0C00C912F517}"/>
              </a:ext>
            </a:extLst>
          </p:cNvPr>
          <p:cNvSpPr txBox="1"/>
          <p:nvPr/>
        </p:nvSpPr>
        <p:spPr>
          <a:xfrm>
            <a:off x="1020443" y="380719"/>
            <a:ext cx="4542157" cy="1231940"/>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阶段性实验结果与系统实现</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9" name="文本框 58">
            <a:extLst>
              <a:ext uri="{FF2B5EF4-FFF2-40B4-BE49-F238E27FC236}">
                <a16:creationId xmlns:a16="http://schemas.microsoft.com/office/drawing/2014/main" id="{866560A8-945E-A984-14B1-C192D99D430D}"/>
              </a:ext>
            </a:extLst>
          </p:cNvPr>
          <p:cNvSpPr txBox="1"/>
          <p:nvPr/>
        </p:nvSpPr>
        <p:spPr>
          <a:xfrm>
            <a:off x="5962650" y="1314171"/>
            <a:ext cx="63627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3">
                    <a:lumMod val="75000"/>
                  </a:schemeClr>
                </a:solidFill>
                <a:latin typeface="微软雅黑" panose="020B0503020204020204" pitchFamily="34" charset="-122"/>
                <a:ea typeface="微软雅黑" panose="020B0503020204020204" pitchFamily="34" charset="-122"/>
              </a:rPr>
              <a:t>泛化与关键因素进一步分析</a:t>
            </a:r>
            <a:endParaRPr lang="zh-CN" altLang="en-US" sz="3600" b="1" dirty="0">
              <a:ln/>
              <a:solidFill>
                <a:schemeClr val="accent3">
                  <a:lumMod val="75000"/>
                </a:schemeClr>
              </a:solidFill>
              <a:latin typeface="微软雅黑" panose="020B0503020204020204" pitchFamily="34" charset="-122"/>
              <a:ea typeface="微软雅黑" panose="020B0503020204020204" pitchFamily="34" charset="-122"/>
            </a:endParaRPr>
          </a:p>
        </p:txBody>
      </p:sp>
      <p:sp>
        <p:nvSpPr>
          <p:cNvPr id="5" name="矩形: 圆角 4">
            <a:extLst>
              <a:ext uri="{FF2B5EF4-FFF2-40B4-BE49-F238E27FC236}">
                <a16:creationId xmlns:a16="http://schemas.microsoft.com/office/drawing/2014/main" id="{8B51C454-AEF0-8EDA-FBAB-CF7E9092D8CF}"/>
              </a:ext>
            </a:extLst>
          </p:cNvPr>
          <p:cNvSpPr/>
          <p:nvPr/>
        </p:nvSpPr>
        <p:spPr>
          <a:xfrm>
            <a:off x="7924800" y="2138871"/>
            <a:ext cx="2438399" cy="914400"/>
          </a:xfrm>
          <a:prstGeom prst="roundRect">
            <a:avLst/>
          </a:prstGeom>
          <a:solidFill>
            <a:schemeClr val="accent3">
              <a:lumMod val="75000"/>
            </a:schemeClr>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深入分析</a:t>
            </a:r>
            <a:endParaRPr lang="zh-CN" altLang="en-US" sz="2800" dirty="0">
              <a:solidFill>
                <a:schemeClr val="tx1"/>
              </a:solidFill>
              <a:latin typeface="微软雅黑" panose="020B0503020204020204" pitchFamily="34" charset="-122"/>
              <a:ea typeface="微软雅黑" panose="020B0503020204020204" pitchFamily="34" charset="-122"/>
            </a:endParaRPr>
          </a:p>
        </p:txBody>
      </p:sp>
      <p:pic>
        <p:nvPicPr>
          <p:cNvPr id="7" name="图片 6">
            <a:extLst>
              <a:ext uri="{FF2B5EF4-FFF2-40B4-BE49-F238E27FC236}">
                <a16:creationId xmlns:a16="http://schemas.microsoft.com/office/drawing/2014/main" id="{0AEF5C39-F050-80D4-69C4-ADE228195DB0}"/>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4190683" y="3231640"/>
            <a:ext cx="9906634" cy="5572481"/>
          </a:xfrm>
          <a:prstGeom prst="rect">
            <a:avLst/>
          </a:prstGeom>
        </p:spPr>
      </p:pic>
      <p:sp>
        <p:nvSpPr>
          <p:cNvPr id="11" name="流程图: 接点 10">
            <a:extLst>
              <a:ext uri="{FF2B5EF4-FFF2-40B4-BE49-F238E27FC236}">
                <a16:creationId xmlns:a16="http://schemas.microsoft.com/office/drawing/2014/main" id="{467632FE-C296-767E-BCBC-F343C8185668}"/>
              </a:ext>
            </a:extLst>
          </p:cNvPr>
          <p:cNvSpPr/>
          <p:nvPr/>
        </p:nvSpPr>
        <p:spPr>
          <a:xfrm>
            <a:off x="11277600" y="6017880"/>
            <a:ext cx="419101" cy="457200"/>
          </a:xfrm>
          <a:prstGeom prst="flowChartConnector">
            <a:avLst/>
          </a:prstGeom>
          <a:solidFill>
            <a:srgbClr val="C00000"/>
          </a:solidFill>
          <a:ln>
            <a:solidFill>
              <a:schemeClr val="tx1">
                <a:lumMod val="95000"/>
                <a:lumOff val="5000"/>
              </a:schemeClr>
            </a:solidFill>
          </a:ln>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5" name="箭头: 左 14">
            <a:extLst>
              <a:ext uri="{FF2B5EF4-FFF2-40B4-BE49-F238E27FC236}">
                <a16:creationId xmlns:a16="http://schemas.microsoft.com/office/drawing/2014/main" id="{F0E41E1B-D504-4095-39E0-C8C83F1A0502}"/>
              </a:ext>
            </a:extLst>
          </p:cNvPr>
          <p:cNvSpPr/>
          <p:nvPr/>
        </p:nvSpPr>
        <p:spPr>
          <a:xfrm rot="6342818">
            <a:off x="9732154" y="7519023"/>
            <a:ext cx="2630349" cy="609132"/>
          </a:xfrm>
          <a:prstGeom prst="leftArrow">
            <a:avLst/>
          </a:prstGeom>
        </p:spPr>
        <p:style>
          <a:lnRef idx="1">
            <a:schemeClr val="accent2"/>
          </a:lnRef>
          <a:fillRef idx="2">
            <a:schemeClr val="accent2"/>
          </a:fillRef>
          <a:effectRef idx="1">
            <a:schemeClr val="accent2"/>
          </a:effectRef>
          <a:fontRef idx="minor">
            <a:schemeClr val="dk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8" name="矩形: 圆角 7">
            <a:extLst>
              <a:ext uri="{FF2B5EF4-FFF2-40B4-BE49-F238E27FC236}">
                <a16:creationId xmlns:a16="http://schemas.microsoft.com/office/drawing/2014/main" id="{70F04F11-49FC-3095-1E84-BC02344861D6}"/>
              </a:ext>
            </a:extLst>
          </p:cNvPr>
          <p:cNvSpPr/>
          <p:nvPr/>
        </p:nvSpPr>
        <p:spPr>
          <a:xfrm>
            <a:off x="5486399" y="8991881"/>
            <a:ext cx="7315200"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a:solidFill>
                  <a:schemeClr val="tx1"/>
                </a:solidFill>
                <a:latin typeface="微软雅黑" panose="020B0503020204020204" pitchFamily="34" charset="-122"/>
                <a:ea typeface="微软雅黑" panose="020B0503020204020204" pitchFamily="34" charset="-122"/>
              </a:rPr>
              <a:t>跨用户泛化、</a:t>
            </a:r>
            <a:r>
              <a:rPr lang="en-US" altLang="zh-CN" sz="2800">
                <a:solidFill>
                  <a:schemeClr val="tx1"/>
                </a:solidFill>
                <a:latin typeface="微软雅黑" panose="020B0503020204020204" pitchFamily="34" charset="-122"/>
                <a:ea typeface="微软雅黑" panose="020B0503020204020204" pitchFamily="34" charset="-122"/>
              </a:rPr>
              <a:t>head pose </a:t>
            </a:r>
            <a:r>
              <a:rPr lang="zh-CN" altLang="en-US" sz="2800">
                <a:solidFill>
                  <a:schemeClr val="tx1"/>
                </a:solidFill>
                <a:latin typeface="微软雅黑" panose="020B0503020204020204" pitchFamily="34" charset="-122"/>
                <a:ea typeface="微软雅黑" panose="020B0503020204020204" pitchFamily="34" charset="-122"/>
              </a:rPr>
              <a:t>消融与校准策略分析</a:t>
            </a:r>
            <a:endParaRPr lang="zh-CN" altLang="en-US" sz="2800" dirty="0">
              <a:solidFill>
                <a:schemeClr val="tx1"/>
              </a:solidFill>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17EE2876-EA3F-378F-48D8-F27EF6C36E56}"/>
              </a:ext>
            </a:extLst>
          </p:cNvPr>
          <p:cNvSpPr/>
          <p:nvPr/>
        </p:nvSpPr>
        <p:spPr>
          <a:xfrm>
            <a:off x="-17068800"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注视点可视化</a:t>
            </a:r>
          </a:p>
        </p:txBody>
      </p:sp>
      <p:sp>
        <p:nvSpPr>
          <p:cNvPr id="20" name="矩形: 圆角 19">
            <a:extLst>
              <a:ext uri="{FF2B5EF4-FFF2-40B4-BE49-F238E27FC236}">
                <a16:creationId xmlns:a16="http://schemas.microsoft.com/office/drawing/2014/main" id="{6ADCA159-2EC5-2BB9-1B29-333DA0F3782F}"/>
              </a:ext>
            </a:extLst>
          </p:cNvPr>
          <p:cNvSpPr/>
          <p:nvPr/>
        </p:nvSpPr>
        <p:spPr>
          <a:xfrm>
            <a:off x="-5743558" y="8163226"/>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稳定凝视</a:t>
            </a:r>
            <a:r>
              <a:rPr lang="en-US" altLang="zh-CN" sz="2800" dirty="0">
                <a:solidFill>
                  <a:schemeClr val="tx1"/>
                </a:solidFill>
                <a:latin typeface="微软雅黑" panose="020B0503020204020204" pitchFamily="34" charset="-122"/>
                <a:ea typeface="微软雅黑" panose="020B0503020204020204" pitchFamily="34" charset="-122"/>
              </a:rPr>
              <a:t>3s</a:t>
            </a:r>
            <a:r>
              <a:rPr lang="zh-CN" altLang="en-US" sz="2800" dirty="0">
                <a:solidFill>
                  <a:schemeClr val="tx1"/>
                </a:solidFill>
                <a:latin typeface="微软雅黑" panose="020B0503020204020204" pitchFamily="34" charset="-122"/>
                <a:ea typeface="微软雅黑" panose="020B0503020204020204" pitchFamily="34" charset="-122"/>
              </a:rPr>
              <a:t>触发操作</a:t>
            </a:r>
          </a:p>
        </p:txBody>
      </p:sp>
      <p:sp>
        <p:nvSpPr>
          <p:cNvPr id="21" name="矩形: 圆角 20">
            <a:extLst>
              <a:ext uri="{FF2B5EF4-FFF2-40B4-BE49-F238E27FC236}">
                <a16:creationId xmlns:a16="http://schemas.microsoft.com/office/drawing/2014/main" id="{0BCC70E2-0908-4DE0-036F-8A632C2246DB}"/>
              </a:ext>
            </a:extLst>
          </p:cNvPr>
          <p:cNvSpPr/>
          <p:nvPr/>
        </p:nvSpPr>
        <p:spPr>
          <a:xfrm>
            <a:off x="-11406179" y="8152020"/>
            <a:ext cx="5238751" cy="9144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r>
              <a:rPr lang="zh-CN" altLang="en-US" sz="2800" dirty="0">
                <a:solidFill>
                  <a:schemeClr val="tx1"/>
                </a:solidFill>
                <a:latin typeface="微软雅黑" panose="020B0503020204020204" pitchFamily="34" charset="-122"/>
                <a:ea typeface="微软雅黑" panose="020B0503020204020204" pitchFamily="34" charset="-122"/>
              </a:rPr>
              <a:t>基础点击</a:t>
            </a:r>
            <a:r>
              <a:rPr lang="en-US" altLang="zh-CN" sz="2800" dirty="0">
                <a:solidFill>
                  <a:schemeClr val="tx1"/>
                </a:solidFill>
                <a:latin typeface="微软雅黑" panose="020B0503020204020204" pitchFamily="34" charset="-122"/>
                <a:ea typeface="微软雅黑" panose="020B0503020204020204" pitchFamily="34" charset="-122"/>
              </a:rPr>
              <a:t>/</a:t>
            </a:r>
            <a:r>
              <a:rPr lang="zh-CN" altLang="en-US" sz="2800" dirty="0">
                <a:solidFill>
                  <a:schemeClr val="tx1"/>
                </a:solidFill>
                <a:latin typeface="微软雅黑" panose="020B0503020204020204" pitchFamily="34" charset="-122"/>
                <a:ea typeface="微软雅黑" panose="020B0503020204020204" pitchFamily="34" charset="-122"/>
              </a:rPr>
              <a:t>启动程序</a:t>
            </a:r>
          </a:p>
        </p:txBody>
      </p:sp>
      <p:pic>
        <p:nvPicPr>
          <p:cNvPr id="22" name="图片 21">
            <a:extLst>
              <a:ext uri="{FF2B5EF4-FFF2-40B4-BE49-F238E27FC236}">
                <a16:creationId xmlns:a16="http://schemas.microsoft.com/office/drawing/2014/main" id="{69C8678F-788A-1DAF-E315-DC0CA6C99EC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06179" y="3851504"/>
            <a:ext cx="5430372" cy="3976688"/>
          </a:xfrm>
          <a:prstGeom prst="rect">
            <a:avLst/>
          </a:prstGeom>
        </p:spPr>
      </p:pic>
      <p:pic>
        <p:nvPicPr>
          <p:cNvPr id="23" name="图片 22">
            <a:extLst>
              <a:ext uri="{FF2B5EF4-FFF2-40B4-BE49-F238E27FC236}">
                <a16:creationId xmlns:a16="http://schemas.microsoft.com/office/drawing/2014/main" id="{6D33FAA9-DF52-8DB9-6B15-9C36FDF2A4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20071" y="3851504"/>
            <a:ext cx="5215264" cy="3976688"/>
          </a:xfrm>
          <a:prstGeom prst="rect">
            <a:avLst/>
          </a:prstGeom>
        </p:spPr>
      </p:pic>
      <p:pic>
        <p:nvPicPr>
          <p:cNvPr id="24" name="图片 23">
            <a:extLst>
              <a:ext uri="{FF2B5EF4-FFF2-40B4-BE49-F238E27FC236}">
                <a16:creationId xmlns:a16="http://schemas.microsoft.com/office/drawing/2014/main" id="{51D49927-3A58-1775-B6B8-E020CEACDBA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013154" y="3846688"/>
            <a:ext cx="5127457" cy="3981504"/>
          </a:xfrm>
          <a:prstGeom prst="rect">
            <a:avLst/>
          </a:prstGeom>
        </p:spPr>
      </p:pic>
    </p:spTree>
    <p:extLst>
      <p:ext uri="{BB962C8B-B14F-4D97-AF65-F5344CB8AC3E}">
        <p14:creationId xmlns:p14="http://schemas.microsoft.com/office/powerpoint/2010/main" val="42903589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64B2-BAA2-D163-83CD-602593F3A83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75162200-66E0-0725-53FD-C91E30616395}"/>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CC885A20-5EF3-EBA3-D352-52B38AE34A1C}"/>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A2F71CED-DD26-2B6F-D584-8653226CF7C8}"/>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0D38189B-CE54-BCF8-1D5E-198654A396D6}"/>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EC2F5CA6-EA46-AEE4-C6FD-B8E014D06B85}"/>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0BF47636-1CE4-774D-7E40-7C828D3B8426}"/>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solidFill>
                  <a:srgbClr val="7030A0"/>
                </a:solidFill>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2CED4CD0-5716-0860-2197-5E593B31DCCA}"/>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1A0543B0-4E4A-B7AA-7F48-428590A7F906}"/>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68C05D77-7E8C-1FBD-6EF8-5814F709E9C8}"/>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6A160D56-F8D2-DE4A-47C5-83B83994CB3E}"/>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48A5A58E-2782-B577-3F6B-4D517CDB1FB0}"/>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89DBC605-A74F-D00E-C832-6F2F70C67294}"/>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2E8ACB06-D16A-C190-D032-5B941AF01A19}"/>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54C939C6-67AC-98E3-E8E4-B98802AEEC09}"/>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C0D3DA8B-1889-FCA4-520E-195B9965536F}"/>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AFD246CB-CDA2-4D1A-8C14-34EA243E7756}"/>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724E1297-4648-AEB9-707C-EA4199B11166}"/>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013AF9EE-971E-2AF5-BEB1-F3FBA3266FE4}"/>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7A75F59F-8FC6-8D17-0592-C14BAC7EF6E0}"/>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F29E4ED6-98DB-C419-8B5B-FFFC9687195A}"/>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9F30FDBC-E35E-BB6D-3369-C40AEB02F523}"/>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77866659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FAC6B-066B-17B2-2261-1FC51B7D0CEE}"/>
            </a:ext>
          </a:extLst>
        </p:cNvPr>
        <p:cNvGrpSpPr/>
        <p:nvPr/>
      </p:nvGrpSpPr>
      <p:grpSpPr>
        <a:xfrm>
          <a:off x="0" y="0"/>
          <a:ext cx="0" cy="0"/>
          <a:chOff x="0" y="0"/>
          <a:chExt cx="0" cy="0"/>
        </a:xfrm>
      </p:grpSpPr>
      <p:sp>
        <p:nvSpPr>
          <p:cNvPr id="33" name="箭头: 左右 32">
            <a:extLst>
              <a:ext uri="{FF2B5EF4-FFF2-40B4-BE49-F238E27FC236}">
                <a16:creationId xmlns:a16="http://schemas.microsoft.com/office/drawing/2014/main" id="{15E25213-57BC-633C-0DEB-81EBE1DEC9F1}"/>
              </a:ext>
            </a:extLst>
          </p:cNvPr>
          <p:cNvSpPr/>
          <p:nvPr/>
        </p:nvSpPr>
        <p:spPr>
          <a:xfrm>
            <a:off x="7485650" y="7664823"/>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2" name="箭头: 左右 31">
            <a:extLst>
              <a:ext uri="{FF2B5EF4-FFF2-40B4-BE49-F238E27FC236}">
                <a16:creationId xmlns:a16="http://schemas.microsoft.com/office/drawing/2014/main" id="{8D653021-C2CD-9870-55E9-B97858D74D0E}"/>
              </a:ext>
            </a:extLst>
          </p:cNvPr>
          <p:cNvSpPr/>
          <p:nvPr/>
        </p:nvSpPr>
        <p:spPr>
          <a:xfrm>
            <a:off x="7485650" y="6069105"/>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1" name="箭头: 左右 30">
            <a:extLst>
              <a:ext uri="{FF2B5EF4-FFF2-40B4-BE49-F238E27FC236}">
                <a16:creationId xmlns:a16="http://schemas.microsoft.com/office/drawing/2014/main" id="{05DD2471-B31B-E8CF-A917-F6500D5AC865}"/>
              </a:ext>
            </a:extLst>
          </p:cNvPr>
          <p:cNvSpPr/>
          <p:nvPr/>
        </p:nvSpPr>
        <p:spPr>
          <a:xfrm>
            <a:off x="7485650" y="4535020"/>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30" name="箭头: 左右 29">
            <a:extLst>
              <a:ext uri="{FF2B5EF4-FFF2-40B4-BE49-F238E27FC236}">
                <a16:creationId xmlns:a16="http://schemas.microsoft.com/office/drawing/2014/main" id="{3B4451F8-5C4C-BEB4-518D-8057F17D2F87}"/>
              </a:ext>
            </a:extLst>
          </p:cNvPr>
          <p:cNvSpPr/>
          <p:nvPr/>
        </p:nvSpPr>
        <p:spPr>
          <a:xfrm>
            <a:off x="7485650" y="2938182"/>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grpSp>
        <p:nvGrpSpPr>
          <p:cNvPr id="2" name="Group 2">
            <a:extLst>
              <a:ext uri="{FF2B5EF4-FFF2-40B4-BE49-F238E27FC236}">
                <a16:creationId xmlns:a16="http://schemas.microsoft.com/office/drawing/2014/main" id="{699B0E02-D921-00BE-0691-155EF678BC14}"/>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AAFAACE3-FBA6-00F9-AEE9-FA981D3C783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BC84B3C-CA25-E8AE-FB4A-6C9EDE59624F}"/>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58C4EC4F-7DD7-2ED8-11DB-56AB604BF7F4}"/>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问题分析</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C9B7608C-A7A8-84AA-C813-939AF397670F}"/>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4</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B541CCEE-9C2E-0E86-8A5D-FBFF487F66A7}"/>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现存问题与原因分析</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6" name="箭头: 下 5">
            <a:extLst>
              <a:ext uri="{FF2B5EF4-FFF2-40B4-BE49-F238E27FC236}">
                <a16:creationId xmlns:a16="http://schemas.microsoft.com/office/drawing/2014/main" id="{E8325DBD-9370-0D47-CC40-3770CDE4E680}"/>
              </a:ext>
            </a:extLst>
          </p:cNvPr>
          <p:cNvSpPr/>
          <p:nvPr/>
        </p:nvSpPr>
        <p:spPr>
          <a:xfrm>
            <a:off x="8413313" y="2100771"/>
            <a:ext cx="1461374" cy="8071929"/>
          </a:xfrm>
          <a:prstGeom prst="down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7" name="矩形: 圆角 6">
            <a:extLst>
              <a:ext uri="{FF2B5EF4-FFF2-40B4-BE49-F238E27FC236}">
                <a16:creationId xmlns:a16="http://schemas.microsoft.com/office/drawing/2014/main" id="{B8842E37-4969-B813-95BC-BE05A7E944F2}"/>
              </a:ext>
            </a:extLst>
          </p:cNvPr>
          <p:cNvSpPr/>
          <p:nvPr/>
        </p:nvSpPr>
        <p:spPr>
          <a:xfrm>
            <a:off x="8199328" y="2729753"/>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a:latin typeface="微软雅黑" panose="020B0503020204020204" pitchFamily="34" charset="-122"/>
                <a:ea typeface="微软雅黑" panose="020B0503020204020204" pitchFamily="34" charset="-122"/>
              </a:rPr>
              <a:t>数据基础</a:t>
            </a:r>
            <a:endParaRPr lang="zh-CN" altLang="en-US" sz="2800" dirty="0">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70E37D97-95E0-2C9E-EA2A-78431D44421A}"/>
              </a:ext>
            </a:extLst>
          </p:cNvPr>
          <p:cNvSpPr/>
          <p:nvPr/>
        </p:nvSpPr>
        <p:spPr>
          <a:xfrm>
            <a:off x="8199328" y="4285129"/>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a:latin typeface="微软雅黑" panose="020B0503020204020204" pitchFamily="34" charset="-122"/>
                <a:ea typeface="微软雅黑" panose="020B0503020204020204" pitchFamily="34" charset="-122"/>
              </a:rPr>
              <a:t>基础性能</a:t>
            </a:r>
            <a:endParaRPr lang="zh-CN" altLang="en-US" sz="2800"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4C3AADB3-6EA1-464B-D994-62D14C27CE13}"/>
              </a:ext>
            </a:extLst>
          </p:cNvPr>
          <p:cNvSpPr/>
          <p:nvPr/>
        </p:nvSpPr>
        <p:spPr>
          <a:xfrm>
            <a:off x="8199328" y="5840505"/>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a:latin typeface="微软雅黑" panose="020B0503020204020204" pitchFamily="34" charset="-122"/>
                <a:ea typeface="微软雅黑" panose="020B0503020204020204" pitchFamily="34" charset="-122"/>
              </a:rPr>
              <a:t>跨用户泛化</a:t>
            </a:r>
            <a:endParaRPr lang="zh-CN" altLang="en-US" sz="2800" dirty="0">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1596D15E-3AD0-941D-749C-BC4B94558ED8}"/>
              </a:ext>
            </a:extLst>
          </p:cNvPr>
          <p:cNvSpPr/>
          <p:nvPr/>
        </p:nvSpPr>
        <p:spPr>
          <a:xfrm>
            <a:off x="8199328" y="7395881"/>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r>
              <a:rPr lang="zh-CN" altLang="en-US" sz="2800">
                <a:latin typeface="微软雅黑" panose="020B0503020204020204" pitchFamily="34" charset="-122"/>
                <a:ea typeface="微软雅黑" panose="020B0503020204020204" pitchFamily="34" charset="-122"/>
              </a:rPr>
              <a:t>关键因素</a:t>
            </a:r>
            <a:endParaRPr lang="zh-CN" altLang="en-US" sz="2800"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A8C2F65B-0841-8210-25FE-2B49F0A9FDEA}"/>
              </a:ext>
            </a:extLst>
          </p:cNvPr>
          <p:cNvSpPr/>
          <p:nvPr/>
        </p:nvSpPr>
        <p:spPr>
          <a:xfrm>
            <a:off x="10802349" y="2729753"/>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7395 </a:t>
            </a:r>
            <a:r>
              <a:rPr lang="zh-CN" altLang="en-US" sz="2800">
                <a:latin typeface="微软雅黑" panose="020B0503020204020204" pitchFamily="34" charset="-122"/>
                <a:ea typeface="微软雅黑" panose="020B0503020204020204" pitchFamily="34" charset="-122"/>
              </a:rPr>
              <a:t>条样本</a:t>
            </a:r>
            <a:endParaRPr lang="zh-CN" altLang="en-US" sz="2800" dirty="0">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B89C7561-5B51-3495-BCAC-9B2F2D5046E6}"/>
              </a:ext>
            </a:extLst>
          </p:cNvPr>
          <p:cNvSpPr/>
          <p:nvPr/>
        </p:nvSpPr>
        <p:spPr>
          <a:xfrm>
            <a:off x="4953000" y="270958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31 </a:t>
            </a:r>
            <a:r>
              <a:rPr lang="zh-CN" altLang="en-US" sz="2800">
                <a:latin typeface="微软雅黑" panose="020B0503020204020204" pitchFamily="34" charset="-122"/>
                <a:ea typeface="微软雅黑" panose="020B0503020204020204" pitchFamily="34" charset="-122"/>
              </a:rPr>
              <a:t>名用户</a:t>
            </a:r>
            <a:endParaRPr lang="zh-CN" altLang="en-US" sz="2800" dirty="0">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4CD19F0C-A748-7FBB-2608-8564EDD9D7C2}"/>
              </a:ext>
            </a:extLst>
          </p:cNvPr>
          <p:cNvSpPr/>
          <p:nvPr/>
        </p:nvSpPr>
        <p:spPr>
          <a:xfrm>
            <a:off x="4952999"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2.82° </a:t>
            </a:r>
            <a:r>
              <a:rPr lang="zh-CN" altLang="en-US" sz="2800">
                <a:latin typeface="微软雅黑" panose="020B0503020204020204" pitchFamily="34" charset="-122"/>
                <a:ea typeface="微软雅黑" panose="020B0503020204020204" pitchFamily="34" charset="-122"/>
              </a:rPr>
              <a:t>平均角度误差</a:t>
            </a:r>
            <a:endParaRPr lang="zh-CN" altLang="en-US" sz="2800" dirty="0">
              <a:latin typeface="微软雅黑" panose="020B0503020204020204" pitchFamily="34" charset="-122"/>
              <a:ea typeface="微软雅黑" panose="020B0503020204020204" pitchFamily="34" charset="-122"/>
            </a:endParaRPr>
          </a:p>
        </p:txBody>
      </p:sp>
      <p:sp>
        <p:nvSpPr>
          <p:cNvPr id="22" name="矩形: 圆角 21">
            <a:extLst>
              <a:ext uri="{FF2B5EF4-FFF2-40B4-BE49-F238E27FC236}">
                <a16:creationId xmlns:a16="http://schemas.microsoft.com/office/drawing/2014/main" id="{172EB7BA-99B0-7B5C-652D-F793A584549A}"/>
              </a:ext>
            </a:extLst>
          </p:cNvPr>
          <p:cNvSpPr/>
          <p:nvPr/>
        </p:nvSpPr>
        <p:spPr>
          <a:xfrm>
            <a:off x="10802348"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314.5 px </a:t>
            </a:r>
            <a:r>
              <a:rPr lang="zh-CN" altLang="en-US" sz="2800">
                <a:latin typeface="微软雅黑" panose="020B0503020204020204" pitchFamily="34" charset="-122"/>
                <a:ea typeface="微软雅黑" panose="020B0503020204020204" pitchFamily="34" charset="-122"/>
              </a:rPr>
              <a:t>平均像素误差</a:t>
            </a:r>
            <a:endParaRPr lang="zh-CN" altLang="en-US" sz="2800" dirty="0">
              <a:latin typeface="微软雅黑" panose="020B0503020204020204" pitchFamily="34" charset="-122"/>
              <a:ea typeface="微软雅黑" panose="020B0503020204020204" pitchFamily="34" charset="-122"/>
            </a:endParaRPr>
          </a:p>
        </p:txBody>
      </p:sp>
      <p:sp>
        <p:nvSpPr>
          <p:cNvPr id="23" name="矩形: 圆角 22">
            <a:extLst>
              <a:ext uri="{FF2B5EF4-FFF2-40B4-BE49-F238E27FC236}">
                <a16:creationId xmlns:a16="http://schemas.microsoft.com/office/drawing/2014/main" id="{FCD8D08C-B7FA-2B0A-3EBB-76E0624AD7E1}"/>
              </a:ext>
            </a:extLst>
          </p:cNvPr>
          <p:cNvSpPr/>
          <p:nvPr/>
        </p:nvSpPr>
        <p:spPr>
          <a:xfrm>
            <a:off x="4952999"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31 </a:t>
            </a:r>
            <a:r>
              <a:rPr lang="zh-CN" altLang="en-US" sz="2800">
                <a:latin typeface="微软雅黑" panose="020B0503020204020204" pitchFamily="34" charset="-122"/>
                <a:ea typeface="微软雅黑" panose="020B0503020204020204" pitchFamily="34" charset="-122"/>
              </a:rPr>
              <a:t>用户 </a:t>
            </a:r>
            <a:r>
              <a:rPr lang="en-US" altLang="zh-CN" sz="2800">
                <a:latin typeface="微软雅黑" panose="020B0503020204020204" pitchFamily="34" charset="-122"/>
                <a:ea typeface="微软雅黑" panose="020B0503020204020204" pitchFamily="34" charset="-122"/>
              </a:rPr>
              <a:t>LOO</a:t>
            </a:r>
            <a:endParaRPr lang="zh-CN" altLang="en-US" sz="2800" dirty="0">
              <a:latin typeface="微软雅黑" panose="020B0503020204020204" pitchFamily="34" charset="-122"/>
              <a:ea typeface="微软雅黑" panose="020B0503020204020204" pitchFamily="34" charset="-122"/>
            </a:endParaRPr>
          </a:p>
        </p:txBody>
      </p:sp>
      <p:sp>
        <p:nvSpPr>
          <p:cNvPr id="24" name="矩形: 圆角 23">
            <a:extLst>
              <a:ext uri="{FF2B5EF4-FFF2-40B4-BE49-F238E27FC236}">
                <a16:creationId xmlns:a16="http://schemas.microsoft.com/office/drawing/2014/main" id="{B7D4B309-7D1A-CE58-A77A-274217A9F41D}"/>
              </a:ext>
            </a:extLst>
          </p:cNvPr>
          <p:cNvSpPr/>
          <p:nvPr/>
        </p:nvSpPr>
        <p:spPr>
          <a:xfrm>
            <a:off x="10802348"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平均 </a:t>
            </a:r>
            <a:r>
              <a:rPr lang="en-US" altLang="zh-CN" sz="2800">
                <a:latin typeface="微软雅黑" panose="020B0503020204020204" pitchFamily="34" charset="-122"/>
                <a:ea typeface="微软雅黑" panose="020B0503020204020204" pitchFamily="34" charset="-122"/>
              </a:rPr>
              <a:t>2.48°</a:t>
            </a:r>
            <a:endParaRPr lang="zh-CN" altLang="en-US" sz="2800" dirty="0">
              <a:latin typeface="微软雅黑" panose="020B0503020204020204" pitchFamily="34" charset="-122"/>
              <a:ea typeface="微软雅黑" panose="020B0503020204020204" pitchFamily="34" charset="-122"/>
            </a:endParaRPr>
          </a:p>
        </p:txBody>
      </p:sp>
      <p:sp>
        <p:nvSpPr>
          <p:cNvPr id="27" name="矩形: 圆角 26">
            <a:extLst>
              <a:ext uri="{FF2B5EF4-FFF2-40B4-BE49-F238E27FC236}">
                <a16:creationId xmlns:a16="http://schemas.microsoft.com/office/drawing/2014/main" id="{ECFB52BB-55EC-4F78-F74F-4B31BAB02934}"/>
              </a:ext>
            </a:extLst>
          </p:cNvPr>
          <p:cNvSpPr/>
          <p:nvPr/>
        </p:nvSpPr>
        <p:spPr>
          <a:xfrm>
            <a:off x="4952999"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head pose </a:t>
            </a:r>
            <a:r>
              <a:rPr lang="zh-CN" altLang="en-US" sz="2800">
                <a:latin typeface="微软雅黑" panose="020B0503020204020204" pitchFamily="34" charset="-122"/>
                <a:ea typeface="微软雅黑" panose="020B0503020204020204" pitchFamily="34" charset="-122"/>
              </a:rPr>
              <a:t>降低 </a:t>
            </a:r>
            <a:r>
              <a:rPr lang="en-US" altLang="zh-CN" sz="2800">
                <a:latin typeface="微软雅黑" panose="020B0503020204020204" pitchFamily="34" charset="-122"/>
                <a:ea typeface="微软雅黑" panose="020B0503020204020204" pitchFamily="34" charset="-122"/>
              </a:rPr>
              <a:t>27.3% </a:t>
            </a:r>
            <a:r>
              <a:rPr lang="zh-CN" altLang="en-US" sz="2800">
                <a:latin typeface="微软雅黑" panose="020B0503020204020204" pitchFamily="34" charset="-122"/>
                <a:ea typeface="微软雅黑" panose="020B0503020204020204" pitchFamily="34" charset="-122"/>
              </a:rPr>
              <a:t>像素误差</a:t>
            </a:r>
            <a:endParaRPr lang="zh-CN" altLang="en-US" sz="2800" dirty="0">
              <a:latin typeface="微软雅黑" panose="020B0503020204020204" pitchFamily="34" charset="-122"/>
              <a:ea typeface="微软雅黑" panose="020B0503020204020204" pitchFamily="34" charset="-122"/>
            </a:endParaRPr>
          </a:p>
        </p:txBody>
      </p:sp>
      <p:sp>
        <p:nvSpPr>
          <p:cNvPr id="28" name="矩形: 圆角 27">
            <a:extLst>
              <a:ext uri="{FF2B5EF4-FFF2-40B4-BE49-F238E27FC236}">
                <a16:creationId xmlns:a16="http://schemas.microsoft.com/office/drawing/2014/main" id="{41017617-784B-0435-906C-5A735587E01E}"/>
              </a:ext>
            </a:extLst>
          </p:cNvPr>
          <p:cNvSpPr/>
          <p:nvPr/>
        </p:nvSpPr>
        <p:spPr>
          <a:xfrm>
            <a:off x="10802348"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9 </a:t>
            </a:r>
            <a:r>
              <a:rPr lang="zh-CN" altLang="en-US" sz="2800">
                <a:latin typeface="微软雅黑" panose="020B0503020204020204" pitchFamily="34" charset="-122"/>
                <a:ea typeface="微软雅黑" panose="020B0503020204020204" pitchFamily="34" charset="-122"/>
              </a:rPr>
              <a:t>点 </a:t>
            </a:r>
            <a:r>
              <a:rPr lang="en-US" altLang="zh-CN" sz="2800">
                <a:latin typeface="微软雅黑" panose="020B0503020204020204" pitchFamily="34" charset="-122"/>
                <a:ea typeface="微软雅黑" panose="020B0503020204020204" pitchFamily="34" charset="-122"/>
              </a:rPr>
              <a:t>affine </a:t>
            </a:r>
            <a:r>
              <a:rPr lang="zh-CN" altLang="en-US" sz="2800">
                <a:latin typeface="微软雅黑" panose="020B0503020204020204" pitchFamily="34" charset="-122"/>
                <a:ea typeface="微软雅黑" panose="020B0503020204020204" pitchFamily="34" charset="-122"/>
              </a:rPr>
              <a:t>校准降至 </a:t>
            </a:r>
            <a:r>
              <a:rPr lang="en-US" altLang="zh-CN" sz="2800">
                <a:latin typeface="微软雅黑" panose="020B0503020204020204" pitchFamily="34" charset="-122"/>
                <a:ea typeface="微软雅黑" panose="020B0503020204020204" pitchFamily="34" charset="-122"/>
              </a:rPr>
              <a:t>221.2 px</a:t>
            </a:r>
            <a:endParaRPr lang="zh-CN" altLang="en-US" sz="2800" dirty="0">
              <a:latin typeface="微软雅黑" panose="020B0503020204020204" pitchFamily="34" charset="-122"/>
              <a:ea typeface="微软雅黑" panose="020B0503020204020204" pitchFamily="34" charset="-122"/>
            </a:endParaRPr>
          </a:p>
        </p:txBody>
      </p:sp>
      <p:sp>
        <p:nvSpPr>
          <p:cNvPr id="34" name="文本框 33">
            <a:extLst>
              <a:ext uri="{FF2B5EF4-FFF2-40B4-BE49-F238E27FC236}">
                <a16:creationId xmlns:a16="http://schemas.microsoft.com/office/drawing/2014/main" id="{95D9BE30-6104-00CD-32B2-57747417C83A}"/>
              </a:ext>
            </a:extLst>
          </p:cNvPr>
          <p:cNvSpPr txBox="1"/>
          <p:nvPr/>
        </p:nvSpPr>
        <p:spPr>
          <a:xfrm>
            <a:off x="7019924" y="1329494"/>
            <a:ext cx="4248150"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2">
                    <a:lumMod val="75000"/>
                  </a:schemeClr>
                </a:solidFill>
                <a:latin typeface="微软雅黑" panose="020B0503020204020204" pitchFamily="34" charset="-122"/>
                <a:ea typeface="微软雅黑" panose="020B0503020204020204" pitchFamily="34" charset="-122"/>
              </a:rPr>
              <a:t>中期已获得的关键实验结论</a:t>
            </a:r>
            <a:endParaRPr lang="zh-CN" altLang="en-US" sz="3600" b="1" dirty="0">
              <a:ln/>
              <a:solidFill>
                <a:schemeClr val="accent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869462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B4C8F-AD39-1127-25E3-FB1A8028159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7A6F91E-9249-E6F9-4C74-9F622A062BBC}"/>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1BE46D3B-7BDD-9753-9B1A-165090D250D5}"/>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B2E6417B-A285-692E-958F-6B1BCFE337A7}"/>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6314FEAC-499A-F48D-32E8-7F7E3DFE91F4}"/>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问题分析</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F60519BB-ECC5-1C15-EF1E-B246CD13612A}"/>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4</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CFE705F1-4B4A-B3E0-FE06-A421C1A690DE}"/>
              </a:ext>
            </a:extLst>
          </p:cNvPr>
          <p:cNvSpPr txBox="1"/>
          <p:nvPr/>
        </p:nvSpPr>
        <p:spPr>
          <a:xfrm>
            <a:off x="1020443" y="380719"/>
            <a:ext cx="4542157" cy="590739"/>
          </a:xfrm>
          <a:prstGeom prst="rect">
            <a:avLst/>
          </a:prstGeom>
        </p:spPr>
        <p:txBody>
          <a:bodyPr wrap="square" lIns="0" tIns="0" rIns="0" bIns="0" rtlCol="0" anchor="t">
            <a:spAutoFit/>
          </a:bodyPr>
          <a:lstStyle/>
          <a:p>
            <a:pPr algn="l">
              <a:lnSpc>
                <a:spcPts val="5040"/>
              </a:lnSpc>
              <a:spcBef>
                <a:spcPct val="0"/>
              </a:spcBef>
            </a:pPr>
            <a:r>
              <a:rPr lang="zh-CN" altLang="en-US" sz="3600" b="1" spc="334">
                <a:solidFill>
                  <a:srgbClr val="7030A0"/>
                </a:solidFill>
                <a:latin typeface="微软雅黑" panose="020B0503020204020204" pitchFamily="34" charset="-122"/>
                <a:ea typeface="微软雅黑" panose="020B0503020204020204" pitchFamily="34" charset="-122"/>
                <a:cs typeface="思源黑体-超粗体"/>
                <a:sym typeface="思源黑体-超粗体"/>
              </a:rPr>
              <a:t>现存问题与原因分析</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 name="箭头: 左右 4">
            <a:extLst>
              <a:ext uri="{FF2B5EF4-FFF2-40B4-BE49-F238E27FC236}">
                <a16:creationId xmlns:a16="http://schemas.microsoft.com/office/drawing/2014/main" id="{41795A42-98CA-DD7D-14BA-F1F9C3D0C395}"/>
              </a:ext>
            </a:extLst>
          </p:cNvPr>
          <p:cNvSpPr/>
          <p:nvPr/>
        </p:nvSpPr>
        <p:spPr>
          <a:xfrm>
            <a:off x="7485650" y="7664823"/>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6" name="箭头: 左右 5">
            <a:extLst>
              <a:ext uri="{FF2B5EF4-FFF2-40B4-BE49-F238E27FC236}">
                <a16:creationId xmlns:a16="http://schemas.microsoft.com/office/drawing/2014/main" id="{777383AD-4394-814E-08C6-1DA9BE7238EE}"/>
              </a:ext>
            </a:extLst>
          </p:cNvPr>
          <p:cNvSpPr/>
          <p:nvPr/>
        </p:nvSpPr>
        <p:spPr>
          <a:xfrm>
            <a:off x="7485650" y="6069105"/>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7" name="箭头: 左右 6">
            <a:extLst>
              <a:ext uri="{FF2B5EF4-FFF2-40B4-BE49-F238E27FC236}">
                <a16:creationId xmlns:a16="http://schemas.microsoft.com/office/drawing/2014/main" id="{D27882FF-295D-3851-A539-C669757C3EB8}"/>
              </a:ext>
            </a:extLst>
          </p:cNvPr>
          <p:cNvSpPr/>
          <p:nvPr/>
        </p:nvSpPr>
        <p:spPr>
          <a:xfrm>
            <a:off x="7485650" y="4535020"/>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8" name="箭头: 左右 7">
            <a:extLst>
              <a:ext uri="{FF2B5EF4-FFF2-40B4-BE49-F238E27FC236}">
                <a16:creationId xmlns:a16="http://schemas.microsoft.com/office/drawing/2014/main" id="{4DF65D18-0D94-09E0-2014-1A822A51DC25}"/>
              </a:ext>
            </a:extLst>
          </p:cNvPr>
          <p:cNvSpPr/>
          <p:nvPr/>
        </p:nvSpPr>
        <p:spPr>
          <a:xfrm>
            <a:off x="7485650" y="2938182"/>
            <a:ext cx="3316698" cy="685800"/>
          </a:xfrm>
          <a:prstGeom prst="lef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zh-CN" altLang="en-US"/>
          </a:p>
        </p:txBody>
      </p:sp>
      <p:sp>
        <p:nvSpPr>
          <p:cNvPr id="9" name="箭头: 下 8">
            <a:extLst>
              <a:ext uri="{FF2B5EF4-FFF2-40B4-BE49-F238E27FC236}">
                <a16:creationId xmlns:a16="http://schemas.microsoft.com/office/drawing/2014/main" id="{20A939CD-4AA5-3368-BB4B-F2FED452D710}"/>
              </a:ext>
            </a:extLst>
          </p:cNvPr>
          <p:cNvSpPr/>
          <p:nvPr/>
        </p:nvSpPr>
        <p:spPr>
          <a:xfrm>
            <a:off x="8413313" y="2100771"/>
            <a:ext cx="1461374" cy="8071929"/>
          </a:xfrm>
          <a:prstGeom prst="downArrow">
            <a:avLst/>
          </a:prstGeom>
          <a:solidFill>
            <a:schemeClr val="accent2">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0" name="矩形: 圆角 9">
            <a:extLst>
              <a:ext uri="{FF2B5EF4-FFF2-40B4-BE49-F238E27FC236}">
                <a16:creationId xmlns:a16="http://schemas.microsoft.com/office/drawing/2014/main" id="{4E902FAA-7EE6-FE52-D13C-829455A36E8D}"/>
              </a:ext>
            </a:extLst>
          </p:cNvPr>
          <p:cNvSpPr/>
          <p:nvPr/>
        </p:nvSpPr>
        <p:spPr>
          <a:xfrm>
            <a:off x="8199328" y="2729753"/>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映射误差</a:t>
            </a:r>
            <a:endParaRPr lang="zh-CN" altLang="en-US" sz="2800" dirty="0">
              <a:latin typeface="微软雅黑" panose="020B0503020204020204" pitchFamily="34" charset="-122"/>
              <a:ea typeface="微软雅黑" panose="020B0503020204020204" pitchFamily="34" charset="-122"/>
            </a:endParaRPr>
          </a:p>
        </p:txBody>
      </p:sp>
      <p:sp>
        <p:nvSpPr>
          <p:cNvPr id="11" name="矩形: 圆角 10">
            <a:extLst>
              <a:ext uri="{FF2B5EF4-FFF2-40B4-BE49-F238E27FC236}">
                <a16:creationId xmlns:a16="http://schemas.microsoft.com/office/drawing/2014/main" id="{F6702A29-DA65-4173-D6F9-6540F66AC972}"/>
              </a:ext>
            </a:extLst>
          </p:cNvPr>
          <p:cNvSpPr/>
          <p:nvPr/>
        </p:nvSpPr>
        <p:spPr>
          <a:xfrm>
            <a:off x="8199328" y="4285129"/>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长尾用户</a:t>
            </a:r>
            <a:endParaRPr lang="zh-CN" altLang="en-US" sz="2800" dirty="0">
              <a:latin typeface="微软雅黑" panose="020B0503020204020204" pitchFamily="34" charset="-122"/>
              <a:ea typeface="微软雅黑" panose="020B0503020204020204" pitchFamily="34" charset="-122"/>
            </a:endParaRPr>
          </a:p>
        </p:txBody>
      </p:sp>
      <p:sp>
        <p:nvSpPr>
          <p:cNvPr id="12" name="矩形: 圆角 11">
            <a:extLst>
              <a:ext uri="{FF2B5EF4-FFF2-40B4-BE49-F238E27FC236}">
                <a16:creationId xmlns:a16="http://schemas.microsoft.com/office/drawing/2014/main" id="{E9A86F63-1E1C-4B94-87FC-15D2AFB65B1E}"/>
              </a:ext>
            </a:extLst>
          </p:cNvPr>
          <p:cNvSpPr/>
          <p:nvPr/>
        </p:nvSpPr>
        <p:spPr>
          <a:xfrm>
            <a:off x="8199328" y="5840505"/>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系统验证</a:t>
            </a:r>
            <a:endParaRPr lang="zh-CN" altLang="en-US" sz="2800" dirty="0">
              <a:latin typeface="微软雅黑" panose="020B0503020204020204" pitchFamily="34" charset="-122"/>
              <a:ea typeface="微软雅黑" panose="020B0503020204020204" pitchFamily="34" charset="-122"/>
            </a:endParaRPr>
          </a:p>
        </p:txBody>
      </p:sp>
      <p:sp>
        <p:nvSpPr>
          <p:cNvPr id="13" name="矩形: 圆角 12">
            <a:extLst>
              <a:ext uri="{FF2B5EF4-FFF2-40B4-BE49-F238E27FC236}">
                <a16:creationId xmlns:a16="http://schemas.microsoft.com/office/drawing/2014/main" id="{8894035E-4C41-43B6-DA96-DF06A7B56D87}"/>
              </a:ext>
            </a:extLst>
          </p:cNvPr>
          <p:cNvSpPr/>
          <p:nvPr/>
        </p:nvSpPr>
        <p:spPr>
          <a:xfrm>
            <a:off x="8199328" y="7395881"/>
            <a:ext cx="1889344" cy="1143000"/>
          </a:xfrm>
          <a:prstGeom prst="roundRect">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zh-CN" altLang="en-US" sz="2800">
                <a:latin typeface="微软雅黑" panose="020B0503020204020204" pitchFamily="34" charset="-122"/>
                <a:ea typeface="微软雅黑" panose="020B0503020204020204" pitchFamily="34" charset="-122"/>
              </a:rPr>
              <a:t>校准策略</a:t>
            </a:r>
            <a:endParaRPr lang="zh-CN" altLang="en-US" sz="2800" dirty="0">
              <a:latin typeface="微软雅黑" panose="020B0503020204020204" pitchFamily="34" charset="-122"/>
              <a:ea typeface="微软雅黑" panose="020B0503020204020204" pitchFamily="34" charset="-122"/>
            </a:endParaRPr>
          </a:p>
        </p:txBody>
      </p:sp>
      <p:sp>
        <p:nvSpPr>
          <p:cNvPr id="14" name="矩形: 圆角 13">
            <a:extLst>
              <a:ext uri="{FF2B5EF4-FFF2-40B4-BE49-F238E27FC236}">
                <a16:creationId xmlns:a16="http://schemas.microsoft.com/office/drawing/2014/main" id="{E97DD9A8-0AED-7677-3FF4-4CFE7CDCAD80}"/>
              </a:ext>
            </a:extLst>
          </p:cNvPr>
          <p:cNvSpPr/>
          <p:nvPr/>
        </p:nvSpPr>
        <p:spPr>
          <a:xfrm>
            <a:off x="10802349" y="2729753"/>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像素误差仍有提升空间</a:t>
            </a:r>
            <a:endParaRPr lang="zh-CN" altLang="en-US" sz="2800" dirty="0">
              <a:latin typeface="微软雅黑" panose="020B0503020204020204" pitchFamily="34" charset="-122"/>
              <a:ea typeface="微软雅黑" panose="020B0503020204020204" pitchFamily="34" charset="-122"/>
            </a:endParaRPr>
          </a:p>
        </p:txBody>
      </p:sp>
      <p:sp>
        <p:nvSpPr>
          <p:cNvPr id="15" name="矩形: 圆角 14">
            <a:extLst>
              <a:ext uri="{FF2B5EF4-FFF2-40B4-BE49-F238E27FC236}">
                <a16:creationId xmlns:a16="http://schemas.microsoft.com/office/drawing/2014/main" id="{F4838C76-1598-79C2-3F30-754B0BB56B52}"/>
              </a:ext>
            </a:extLst>
          </p:cNvPr>
          <p:cNvSpPr/>
          <p:nvPr/>
        </p:nvSpPr>
        <p:spPr>
          <a:xfrm>
            <a:off x="4953000" y="270958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角度误差已降至 </a:t>
            </a:r>
            <a:r>
              <a:rPr lang="en-US" altLang="zh-CN" sz="2800">
                <a:latin typeface="微软雅黑" panose="020B0503020204020204" pitchFamily="34" charset="-122"/>
                <a:ea typeface="微软雅黑" panose="020B0503020204020204" pitchFamily="34" charset="-122"/>
              </a:rPr>
              <a:t>2.82°</a:t>
            </a:r>
            <a:endParaRPr lang="zh-CN" altLang="en-US" sz="2800" dirty="0">
              <a:latin typeface="微软雅黑" panose="020B0503020204020204" pitchFamily="34" charset="-122"/>
              <a:ea typeface="微软雅黑" panose="020B0503020204020204" pitchFamily="34" charset="-122"/>
            </a:endParaRPr>
          </a:p>
        </p:txBody>
      </p:sp>
      <p:sp>
        <p:nvSpPr>
          <p:cNvPr id="16" name="矩形: 圆角 15">
            <a:extLst>
              <a:ext uri="{FF2B5EF4-FFF2-40B4-BE49-F238E27FC236}">
                <a16:creationId xmlns:a16="http://schemas.microsoft.com/office/drawing/2014/main" id="{1908347F-C42E-905B-53AC-B962DF5E52BD}"/>
              </a:ext>
            </a:extLst>
          </p:cNvPr>
          <p:cNvSpPr/>
          <p:nvPr/>
        </p:nvSpPr>
        <p:spPr>
          <a:xfrm>
            <a:off x="4952999"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23/31 </a:t>
            </a:r>
            <a:r>
              <a:rPr lang="zh-CN" altLang="en-US" sz="2800">
                <a:latin typeface="微软雅黑" panose="020B0503020204020204" pitchFamily="34" charset="-122"/>
                <a:ea typeface="微软雅黑" panose="020B0503020204020204" pitchFamily="34" charset="-122"/>
              </a:rPr>
              <a:t>用户角误差 </a:t>
            </a:r>
            <a:r>
              <a:rPr lang="en-US" altLang="zh-CN" sz="2800">
                <a:latin typeface="微软雅黑" panose="020B0503020204020204" pitchFamily="34" charset="-122"/>
                <a:ea typeface="微软雅黑" panose="020B0503020204020204" pitchFamily="34" charset="-122"/>
              </a:rPr>
              <a:t>&lt; 3°</a:t>
            </a:r>
            <a:endParaRPr lang="zh-CN" altLang="en-US" sz="2800" dirty="0">
              <a:latin typeface="微软雅黑" panose="020B0503020204020204" pitchFamily="34" charset="-122"/>
              <a:ea typeface="微软雅黑" panose="020B0503020204020204" pitchFamily="34" charset="-122"/>
            </a:endParaRPr>
          </a:p>
        </p:txBody>
      </p:sp>
      <p:sp>
        <p:nvSpPr>
          <p:cNvPr id="17" name="矩形: 圆角 16">
            <a:extLst>
              <a:ext uri="{FF2B5EF4-FFF2-40B4-BE49-F238E27FC236}">
                <a16:creationId xmlns:a16="http://schemas.microsoft.com/office/drawing/2014/main" id="{C19E619A-2F8D-4427-42F2-FF0A6255CDDC}"/>
              </a:ext>
            </a:extLst>
          </p:cNvPr>
          <p:cNvSpPr/>
          <p:nvPr/>
        </p:nvSpPr>
        <p:spPr>
          <a:xfrm>
            <a:off x="10802348" y="4305300"/>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少数用户仍存在 </a:t>
            </a:r>
            <a:r>
              <a:rPr lang="en-US" altLang="zh-CN" sz="2800">
                <a:latin typeface="微软雅黑" panose="020B0503020204020204" pitchFamily="34" charset="-122"/>
                <a:ea typeface="微软雅黑" panose="020B0503020204020204" pitchFamily="34" charset="-122"/>
              </a:rPr>
              <a:t>4°-7° </a:t>
            </a:r>
            <a:r>
              <a:rPr lang="zh-CN" altLang="en-US" sz="2800">
                <a:latin typeface="微软雅黑" panose="020B0503020204020204" pitchFamily="34" charset="-122"/>
                <a:ea typeface="微软雅黑" panose="020B0503020204020204" pitchFamily="34" charset="-122"/>
              </a:rPr>
              <a:t>长尾</a:t>
            </a:r>
            <a:endParaRPr lang="zh-CN" altLang="en-US" sz="2800" dirty="0">
              <a:latin typeface="微软雅黑" panose="020B0503020204020204" pitchFamily="34" charset="-122"/>
              <a:ea typeface="微软雅黑" panose="020B0503020204020204" pitchFamily="34" charset="-122"/>
            </a:endParaRPr>
          </a:p>
        </p:txBody>
      </p:sp>
      <p:sp>
        <p:nvSpPr>
          <p:cNvPr id="18" name="矩形: 圆角 17">
            <a:extLst>
              <a:ext uri="{FF2B5EF4-FFF2-40B4-BE49-F238E27FC236}">
                <a16:creationId xmlns:a16="http://schemas.microsoft.com/office/drawing/2014/main" id="{4E297D1F-3C6A-2C6E-85C2-F944AB0E1CBB}"/>
              </a:ext>
            </a:extLst>
          </p:cNvPr>
          <p:cNvSpPr/>
          <p:nvPr/>
        </p:nvSpPr>
        <p:spPr>
          <a:xfrm>
            <a:off x="4952999"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训练</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推理</a:t>
            </a:r>
            <a:r>
              <a:rPr lang="en-US" altLang="zh-CN" sz="2800">
                <a:latin typeface="微软雅黑" panose="020B0503020204020204" pitchFamily="34" charset="-122"/>
                <a:ea typeface="微软雅黑" panose="020B0503020204020204" pitchFamily="34" charset="-122"/>
              </a:rPr>
              <a:t>/</a:t>
            </a:r>
            <a:r>
              <a:rPr lang="zh-CN" altLang="en-US" sz="2800">
                <a:latin typeface="微软雅黑" panose="020B0503020204020204" pitchFamily="34" charset="-122"/>
                <a:ea typeface="微软雅黑" panose="020B0503020204020204" pitchFamily="34" charset="-122"/>
              </a:rPr>
              <a:t>映射主链路已跑通</a:t>
            </a:r>
            <a:endParaRPr lang="zh-CN" altLang="en-US" sz="2800" dirty="0">
              <a:latin typeface="微软雅黑" panose="020B0503020204020204" pitchFamily="34" charset="-122"/>
              <a:ea typeface="微软雅黑" panose="020B0503020204020204" pitchFamily="34" charset="-122"/>
            </a:endParaRPr>
          </a:p>
        </p:txBody>
      </p:sp>
      <p:sp>
        <p:nvSpPr>
          <p:cNvPr id="19" name="矩形: 圆角 18">
            <a:extLst>
              <a:ext uri="{FF2B5EF4-FFF2-40B4-BE49-F238E27FC236}">
                <a16:creationId xmlns:a16="http://schemas.microsoft.com/office/drawing/2014/main" id="{905E7D7C-70C3-6DE0-1B74-9116F735CE0F}"/>
              </a:ext>
            </a:extLst>
          </p:cNvPr>
          <p:cNvSpPr/>
          <p:nvPr/>
        </p:nvSpPr>
        <p:spPr>
          <a:xfrm>
            <a:off x="10802348" y="5880847"/>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仍需完善 </a:t>
            </a:r>
            <a:r>
              <a:rPr lang="en-US" altLang="zh-CN" sz="2800">
                <a:latin typeface="微软雅黑" panose="020B0503020204020204" pitchFamily="34" charset="-122"/>
                <a:ea typeface="微软雅黑" panose="020B0503020204020204" pitchFamily="34" charset="-122"/>
              </a:rPr>
              <a:t>FPS</a:t>
            </a:r>
            <a:r>
              <a:rPr lang="zh-CN" altLang="en-US" sz="2800">
                <a:latin typeface="微软雅黑" panose="020B0503020204020204" pitchFamily="34" charset="-122"/>
                <a:ea typeface="微软雅黑" panose="020B0503020204020204" pitchFamily="34" charset="-122"/>
              </a:rPr>
              <a:t>、延迟与稳定性测试</a:t>
            </a:r>
            <a:endParaRPr lang="zh-CN" altLang="en-US" sz="2800" dirty="0">
              <a:latin typeface="微软雅黑" panose="020B0503020204020204" pitchFamily="34" charset="-122"/>
              <a:ea typeface="微软雅黑" panose="020B0503020204020204" pitchFamily="34" charset="-122"/>
            </a:endParaRPr>
          </a:p>
        </p:txBody>
      </p:sp>
      <p:sp>
        <p:nvSpPr>
          <p:cNvPr id="20" name="矩形: 圆角 19">
            <a:extLst>
              <a:ext uri="{FF2B5EF4-FFF2-40B4-BE49-F238E27FC236}">
                <a16:creationId xmlns:a16="http://schemas.microsoft.com/office/drawing/2014/main" id="{1C41CB6C-6ACE-D50C-9A37-D92DAFF8D305}"/>
              </a:ext>
            </a:extLst>
          </p:cNvPr>
          <p:cNvSpPr/>
          <p:nvPr/>
        </p:nvSpPr>
        <p:spPr>
          <a:xfrm>
            <a:off x="4952999"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altLang="zh-CN" sz="2800">
                <a:latin typeface="微软雅黑" panose="020B0503020204020204" pitchFamily="34" charset="-122"/>
                <a:ea typeface="微软雅黑" panose="020B0503020204020204" pitchFamily="34" charset="-122"/>
              </a:rPr>
              <a:t>9 </a:t>
            </a:r>
            <a:r>
              <a:rPr lang="zh-CN" altLang="en-US" sz="2800">
                <a:latin typeface="微软雅黑" panose="020B0503020204020204" pitchFamily="34" charset="-122"/>
                <a:ea typeface="微软雅黑" panose="020B0503020204020204" pitchFamily="34" charset="-122"/>
              </a:rPr>
              <a:t>点 </a:t>
            </a:r>
            <a:r>
              <a:rPr lang="en-US" altLang="zh-CN" sz="2800">
                <a:latin typeface="微软雅黑" panose="020B0503020204020204" pitchFamily="34" charset="-122"/>
                <a:ea typeface="微软雅黑" panose="020B0503020204020204" pitchFamily="34" charset="-122"/>
              </a:rPr>
              <a:t>affine </a:t>
            </a:r>
            <a:r>
              <a:rPr lang="zh-CN" altLang="en-US" sz="2800">
                <a:latin typeface="微软雅黑" panose="020B0503020204020204" pitchFamily="34" charset="-122"/>
                <a:ea typeface="微软雅黑" panose="020B0503020204020204" pitchFamily="34" charset="-122"/>
              </a:rPr>
              <a:t>校准有效</a:t>
            </a:r>
            <a:endParaRPr lang="zh-CN" altLang="en-US" sz="2800" dirty="0">
              <a:latin typeface="微软雅黑" panose="020B0503020204020204" pitchFamily="34" charset="-122"/>
              <a:ea typeface="微软雅黑" panose="020B0503020204020204" pitchFamily="34" charset="-122"/>
            </a:endParaRPr>
          </a:p>
        </p:txBody>
      </p:sp>
      <p:sp>
        <p:nvSpPr>
          <p:cNvPr id="21" name="矩形: 圆角 20">
            <a:extLst>
              <a:ext uri="{FF2B5EF4-FFF2-40B4-BE49-F238E27FC236}">
                <a16:creationId xmlns:a16="http://schemas.microsoft.com/office/drawing/2014/main" id="{EA9CA614-0E6D-C594-D85B-187B1B6188C6}"/>
              </a:ext>
            </a:extLst>
          </p:cNvPr>
          <p:cNvSpPr/>
          <p:nvPr/>
        </p:nvSpPr>
        <p:spPr>
          <a:xfrm>
            <a:off x="10802348" y="7416052"/>
            <a:ext cx="2532651" cy="1143000"/>
          </a:xfrm>
          <a:prstGeom prst="round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2800">
                <a:latin typeface="微软雅黑" panose="020B0503020204020204" pitchFamily="34" charset="-122"/>
                <a:ea typeface="微软雅黑" panose="020B0503020204020204" pitchFamily="34" charset="-122"/>
              </a:rPr>
              <a:t>高阶拟合不稳定，存在过拟合</a:t>
            </a:r>
            <a:endParaRPr lang="zh-CN" altLang="en-US" sz="2800" dirty="0">
              <a:latin typeface="微软雅黑" panose="020B0503020204020204" pitchFamily="34" charset="-122"/>
              <a:ea typeface="微软雅黑" panose="020B0503020204020204" pitchFamily="34" charset="-122"/>
            </a:endParaRPr>
          </a:p>
        </p:txBody>
      </p:sp>
      <p:sp>
        <p:nvSpPr>
          <p:cNvPr id="22" name="文本框 21">
            <a:extLst>
              <a:ext uri="{FF2B5EF4-FFF2-40B4-BE49-F238E27FC236}">
                <a16:creationId xmlns:a16="http://schemas.microsoft.com/office/drawing/2014/main" id="{96F11BB9-FE6B-43AB-7B5E-10BE33D22F61}"/>
              </a:ext>
            </a:extLst>
          </p:cNvPr>
          <p:cNvSpPr txBox="1"/>
          <p:nvPr/>
        </p:nvSpPr>
        <p:spPr>
          <a:xfrm>
            <a:off x="8181399" y="1322087"/>
            <a:ext cx="2276476" cy="1754326"/>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2">
                    <a:lumMod val="75000"/>
                  </a:schemeClr>
                </a:solidFill>
                <a:latin typeface="微软雅黑" panose="020B0503020204020204" pitchFamily="34" charset="-122"/>
                <a:ea typeface="微软雅黑" panose="020B0503020204020204" pitchFamily="34" charset="-122"/>
              </a:rPr>
              <a:t>当前问题与原因分析</a:t>
            </a:r>
            <a:endParaRPr lang="zh-CN" altLang="en-US" sz="3600" b="1" dirty="0">
              <a:ln/>
              <a:solidFill>
                <a:schemeClr val="accent2">
                  <a:lumMod val="7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467555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82A86-3A21-E80B-58F1-B12B943FD3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C33D3FEE-F480-F7C6-1ECF-498B9CF86451}"/>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06D4BF3A-376C-2322-8B9D-4B6737CB9338}"/>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767873F8-C12A-65CD-611D-A0CC783AC6E0}"/>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90A706BA-E48E-3766-D4AA-8D21E9233299}"/>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AB33A585-E652-DD6A-EDE7-500C99870FD0}"/>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58D8473E-1A9E-2885-594D-4FC02AC6B75F}"/>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B7BB17D8-108C-EB8A-7B3B-3B67E420DB14}"/>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30F83CDF-9B47-65B3-527D-F1466ADBDCAC}"/>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77723F58-6872-C1EC-F0F0-99E47EE2DAE8}"/>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rgbClr val="7030A0">
                    <a:alpha val="15686"/>
                  </a:srgb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8CF1AE21-5A63-6084-BE95-31D1A15326AA}"/>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solidFill>
                  <a:srgbClr val="7030A0"/>
                </a:solidFill>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23ABE5EC-C583-18C6-5496-345E585F51D1}"/>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96BB0F2A-DF0E-7104-B2A5-BC916759D534}"/>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ACDEFC8E-A16A-E5B7-DC2D-7F982761F53C}"/>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D7FE6926-0A79-CE6F-2737-0AE4FB440F0E}"/>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提问环节</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5B866763-07A4-B66C-0B8F-6C16C90470B2}"/>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D031B465-FB65-88DD-1BE5-DB3760F93DD9}"/>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7509E7C2-B6C7-2459-4731-552A0CCF9F6F}"/>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BCFB6362-9ABD-93A9-A73A-71AEE5779349}"/>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E5E0C40A-3B8E-9200-5E10-137B1252BD3C}"/>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1EFF2CB4-EDA1-76DD-C5EA-CFFA7ED04113}"/>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CF6FB738-DF0C-91CE-3A31-2BE01F6EDF1D}"/>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123517193"/>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574F4-D076-37F0-2927-5C41375D2F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B03A79F-49E7-697C-28BD-2E1A8DC70861}"/>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2F359EB0-8FAE-B633-E3AB-21DC7665C9FB}"/>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AD956D1A-3159-189A-5794-B8A97A673F0A}"/>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28423F56-63E5-C909-8444-46F62FFE08D1}"/>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后续计划</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E9553793-ED50-0DF5-5D94-47CCB6461B00}"/>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07286BAD-EE38-B437-5541-FA6555F02E13}"/>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后续计划与预期成果</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34" name="文本框 33">
            <a:extLst>
              <a:ext uri="{FF2B5EF4-FFF2-40B4-BE49-F238E27FC236}">
                <a16:creationId xmlns:a16="http://schemas.microsoft.com/office/drawing/2014/main" id="{6DDACAFF-E2D4-CE3A-B47B-B65F526A0568}"/>
              </a:ext>
            </a:extLst>
          </p:cNvPr>
          <p:cNvSpPr txBox="1"/>
          <p:nvPr/>
        </p:nvSpPr>
        <p:spPr>
          <a:xfrm>
            <a:off x="7319961" y="1329494"/>
            <a:ext cx="3648076" cy="1200329"/>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从“证明可行”走向“证明可用”</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11" name="图形 10">
            <a:extLst>
              <a:ext uri="{FF2B5EF4-FFF2-40B4-BE49-F238E27FC236}">
                <a16:creationId xmlns:a16="http://schemas.microsoft.com/office/drawing/2014/main" id="{72AD8F0F-7FBD-0D9B-202F-9FBB0A89E081}"/>
              </a:ext>
            </a:extLst>
          </p:cNvPr>
          <p:cNvPicPr>
            <a:picLocks noChangeAspect="1"/>
          </p:cNvPicPr>
          <p:nvPr/>
        </p:nvPicPr>
        <p:blipFill>
          <a:blip>
            <a:extLst>
              <a:ext uri="{96DAC541-7B7A-43D3-8B79-37D633B846F1}">
                <asvg:svgBlip xmlns:asvg="http://schemas.microsoft.com/office/drawing/2016/SVG/main" r:embed="rId2"/>
              </a:ext>
            </a:extLst>
          </a:blip>
          <a:srcRect l="-74" t="14603" r="43407" b="41929"/>
          <a:stretch>
            <a:fillRect/>
          </a:stretch>
        </p:blipFill>
        <p:spPr>
          <a:xfrm>
            <a:off x="8965" y="2423480"/>
            <a:ext cx="17866759" cy="6408996"/>
          </a:xfrm>
          <a:prstGeom prst="rect">
            <a:avLst/>
          </a:prstGeom>
        </p:spPr>
      </p:pic>
    </p:spTree>
    <p:extLst>
      <p:ext uri="{BB962C8B-B14F-4D97-AF65-F5344CB8AC3E}">
        <p14:creationId xmlns:p14="http://schemas.microsoft.com/office/powerpoint/2010/main" val="25635091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B998D-5BC6-4432-25BA-A454CF914589}"/>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FD47BCC-2F35-1CDA-9094-C6E47744D59E}"/>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98559585-55C6-B964-799D-0FE37C5DDA27}"/>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2284327C-D6EC-93A0-AB0D-AD2F2DC3018C}"/>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242176AF-C5CB-EDD4-6022-6A3F48B3C67D}"/>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工程实现</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0AE0BA51-2C24-EB2A-D48B-5CB926D3F5F9}"/>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929611AC-B93A-DF92-82E0-377817388A8B}"/>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工程实现与数据采集</a:t>
            </a:r>
            <a:endPar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34" name="文本框 33">
            <a:extLst>
              <a:ext uri="{FF2B5EF4-FFF2-40B4-BE49-F238E27FC236}">
                <a16:creationId xmlns:a16="http://schemas.microsoft.com/office/drawing/2014/main" id="{6AAA9126-4F9E-420A-9772-34F1820DB2C4}"/>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工程实现：自建数据集采集系统</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65541E24-B217-89CC-7150-0BBE6BDE205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pic>
        <p:nvPicPr>
          <p:cNvPr id="19" name="图片 18">
            <a:extLst>
              <a:ext uri="{FF2B5EF4-FFF2-40B4-BE49-F238E27FC236}">
                <a16:creationId xmlns:a16="http://schemas.microsoft.com/office/drawing/2014/main" id="{0DFF8941-19AA-DC52-D9F6-54715D35211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680227" y="3621611"/>
            <a:ext cx="8064000" cy="5040000"/>
          </a:xfrm>
          <a:prstGeom prst="rect">
            <a:avLst/>
          </a:prstGeom>
        </p:spPr>
      </p:pic>
      <p:pic>
        <p:nvPicPr>
          <p:cNvPr id="21" name="图片 20">
            <a:extLst>
              <a:ext uri="{FF2B5EF4-FFF2-40B4-BE49-F238E27FC236}">
                <a16:creationId xmlns:a16="http://schemas.microsoft.com/office/drawing/2014/main" id="{89242352-800A-9503-F80D-33DEC8C59D9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7369000" y="3621611"/>
            <a:ext cx="8064000" cy="5040000"/>
          </a:xfrm>
          <a:prstGeom prst="rect">
            <a:avLst/>
          </a:prstGeom>
        </p:spPr>
      </p:pic>
      <p:sp>
        <p:nvSpPr>
          <p:cNvPr id="22" name="文本框 21">
            <a:extLst>
              <a:ext uri="{FF2B5EF4-FFF2-40B4-BE49-F238E27FC236}">
                <a16:creationId xmlns:a16="http://schemas.microsoft.com/office/drawing/2014/main" id="{3B41D96E-2AFC-9F13-59B0-6B888D07CC2A}"/>
              </a:ext>
            </a:extLst>
          </p:cNvPr>
          <p:cNvSpPr txBox="1"/>
          <p:nvPr/>
        </p:nvSpPr>
        <p:spPr>
          <a:xfrm>
            <a:off x="20502427" y="8877300"/>
            <a:ext cx="4419600"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首页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采集者了解使用流程 </a:t>
            </a:r>
          </a:p>
        </p:txBody>
      </p:sp>
      <p:sp>
        <p:nvSpPr>
          <p:cNvPr id="24" name="文本框 23">
            <a:extLst>
              <a:ext uri="{FF2B5EF4-FFF2-40B4-BE49-F238E27FC236}">
                <a16:creationId xmlns:a16="http://schemas.microsoft.com/office/drawing/2014/main" id="{E7914CB7-0C49-4C91-BEF6-1685E3BEF6AA}"/>
              </a:ext>
            </a:extLst>
          </p:cNvPr>
          <p:cNvSpPr txBox="1"/>
          <p:nvPr/>
        </p:nvSpPr>
        <p:spPr>
          <a:xfrm>
            <a:off x="28984384"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配置页面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每位采集者输入自己的</a:t>
            </a:r>
            <a:r>
              <a:rPr lang="en-US" altLang="zh-CN" sz="2800" dirty="0">
                <a:latin typeface="微软雅黑" panose="020B0503020204020204" pitchFamily="34" charset="-122"/>
                <a:ea typeface="微软雅黑" panose="020B0503020204020204" pitchFamily="34" charset="-122"/>
              </a:rPr>
              <a:t>ID</a:t>
            </a:r>
            <a:r>
              <a:rPr lang="zh-CN" altLang="en-US" sz="2800" dirty="0">
                <a:latin typeface="微软雅黑" panose="020B0503020204020204" pitchFamily="34" charset="-122"/>
                <a:ea typeface="微软雅黑" panose="020B0503020204020204" pitchFamily="34" charset="-122"/>
              </a:rPr>
              <a:t>并配置条件 </a:t>
            </a:r>
          </a:p>
        </p:txBody>
      </p:sp>
    </p:spTree>
    <p:extLst>
      <p:ext uri="{BB962C8B-B14F-4D97-AF65-F5344CB8AC3E}">
        <p14:creationId xmlns:p14="http://schemas.microsoft.com/office/powerpoint/2010/main" val="8815399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2151C-5E99-AA44-84BD-A706084A859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EC9F98E-D66B-0269-CA9A-7629E2E2F85B}"/>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7F48C0A5-2F17-E28C-8DC5-BA12D121785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2069C35D-E9EC-08CB-6395-E5ECDB56C597}"/>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5A336C35-6AB9-26C8-10A7-EA12367BD83C}"/>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工程实现</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5D479ECE-D86D-2852-E6FE-5200D989C726}"/>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55EDF247-994F-AA7F-3BD2-869BBAC05BF2}"/>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工程实现与数据采集</a:t>
            </a:r>
            <a:endPar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34" name="文本框 33">
            <a:extLst>
              <a:ext uri="{FF2B5EF4-FFF2-40B4-BE49-F238E27FC236}">
                <a16:creationId xmlns:a16="http://schemas.microsoft.com/office/drawing/2014/main" id="{F9965192-7759-6CAA-7D19-C7036A8D0793}"/>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采集流程：配置与状态检查</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ECAF7622-19A0-635A-1AA1-647A972EF30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pic>
        <p:nvPicPr>
          <p:cNvPr id="19" name="图片 18">
            <a:extLst>
              <a:ext uri="{FF2B5EF4-FFF2-40B4-BE49-F238E27FC236}">
                <a16:creationId xmlns:a16="http://schemas.microsoft.com/office/drawing/2014/main" id="{C67FFDE4-B220-524E-392D-2431B5ED0BE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3996" y="3621611"/>
            <a:ext cx="8064000" cy="5040000"/>
          </a:xfrm>
          <a:prstGeom prst="rect">
            <a:avLst/>
          </a:prstGeom>
        </p:spPr>
      </p:pic>
      <p:pic>
        <p:nvPicPr>
          <p:cNvPr id="21" name="图片 20">
            <a:extLst>
              <a:ext uri="{FF2B5EF4-FFF2-40B4-BE49-F238E27FC236}">
                <a16:creationId xmlns:a16="http://schemas.microsoft.com/office/drawing/2014/main" id="{EC07F8E5-F4A0-E5B0-4384-244CDE73415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422769" y="3621611"/>
            <a:ext cx="8064000" cy="5040000"/>
          </a:xfrm>
          <a:prstGeom prst="rect">
            <a:avLst/>
          </a:prstGeom>
        </p:spPr>
      </p:pic>
      <p:sp>
        <p:nvSpPr>
          <p:cNvPr id="22" name="文本框 21">
            <a:extLst>
              <a:ext uri="{FF2B5EF4-FFF2-40B4-BE49-F238E27FC236}">
                <a16:creationId xmlns:a16="http://schemas.microsoft.com/office/drawing/2014/main" id="{11FC497E-4274-5601-08B6-6D0CEC6258EC}"/>
              </a:ext>
            </a:extLst>
          </p:cNvPr>
          <p:cNvSpPr txBox="1"/>
          <p:nvPr/>
        </p:nvSpPr>
        <p:spPr>
          <a:xfrm>
            <a:off x="2556196" y="8877300"/>
            <a:ext cx="4419600"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首页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采集者了解使用流程 </a:t>
            </a:r>
          </a:p>
        </p:txBody>
      </p:sp>
      <p:sp>
        <p:nvSpPr>
          <p:cNvPr id="24" name="文本框 23">
            <a:extLst>
              <a:ext uri="{FF2B5EF4-FFF2-40B4-BE49-F238E27FC236}">
                <a16:creationId xmlns:a16="http://schemas.microsoft.com/office/drawing/2014/main" id="{3AADF430-FD8B-CF4C-1FBA-C4B2FCCD7F93}"/>
              </a:ext>
            </a:extLst>
          </p:cNvPr>
          <p:cNvSpPr txBox="1"/>
          <p:nvPr/>
        </p:nvSpPr>
        <p:spPr>
          <a:xfrm>
            <a:off x="11038153"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配置页面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每位采集者输入自己的</a:t>
            </a:r>
            <a:r>
              <a:rPr lang="en-US" altLang="zh-CN" sz="2800" dirty="0">
                <a:latin typeface="微软雅黑" panose="020B0503020204020204" pitchFamily="34" charset="-122"/>
                <a:ea typeface="微软雅黑" panose="020B0503020204020204" pitchFamily="34" charset="-122"/>
              </a:rPr>
              <a:t>ID</a:t>
            </a:r>
            <a:r>
              <a:rPr lang="zh-CN" altLang="en-US" sz="2800" dirty="0">
                <a:latin typeface="微软雅黑" panose="020B0503020204020204" pitchFamily="34" charset="-122"/>
                <a:ea typeface="微软雅黑" panose="020B0503020204020204" pitchFamily="34" charset="-122"/>
              </a:rPr>
              <a:t>并配置条件 </a:t>
            </a:r>
          </a:p>
        </p:txBody>
      </p:sp>
      <p:sp>
        <p:nvSpPr>
          <p:cNvPr id="5" name="文本框 4">
            <a:extLst>
              <a:ext uri="{FF2B5EF4-FFF2-40B4-BE49-F238E27FC236}">
                <a16:creationId xmlns:a16="http://schemas.microsoft.com/office/drawing/2014/main" id="{3E1620C5-2D9E-A6D3-0FB9-65A7BC90E3F5}"/>
              </a:ext>
            </a:extLst>
          </p:cNvPr>
          <p:cNvSpPr txBox="1"/>
          <p:nvPr/>
        </p:nvSpPr>
        <p:spPr>
          <a:xfrm>
            <a:off x="19410122" y="8771477"/>
            <a:ext cx="7273604" cy="1384995"/>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检查页面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采集者确认自己的摄像头有效并且看到实时信息和最终效果图，为下一步的采</a:t>
            </a:r>
          </a:p>
          <a:p>
            <a:pPr algn="ctr"/>
            <a:r>
              <a:rPr lang="zh-CN" altLang="en-US" sz="2800" dirty="0">
                <a:latin typeface="微软雅黑" panose="020B0503020204020204" pitchFamily="34" charset="-122"/>
                <a:ea typeface="微软雅黑" panose="020B0503020204020204" pitchFamily="34" charset="-122"/>
              </a:rPr>
              <a:t>集做准备 </a:t>
            </a:r>
          </a:p>
        </p:txBody>
      </p:sp>
      <p:sp>
        <p:nvSpPr>
          <p:cNvPr id="6" name="文本框 5">
            <a:extLst>
              <a:ext uri="{FF2B5EF4-FFF2-40B4-BE49-F238E27FC236}">
                <a16:creationId xmlns:a16="http://schemas.microsoft.com/office/drawing/2014/main" id="{A9D7A14A-5ADB-D44B-939A-9CAF285C6067}"/>
              </a:ext>
            </a:extLst>
          </p:cNvPr>
          <p:cNvSpPr txBox="1"/>
          <p:nvPr/>
        </p:nvSpPr>
        <p:spPr>
          <a:xfrm>
            <a:off x="28848075"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正式采集页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用户依次注视</a:t>
            </a:r>
            <a:r>
              <a:rPr lang="en-US" altLang="zh-CN" sz="2800" dirty="0">
                <a:latin typeface="微软雅黑" panose="020B0503020204020204" pitchFamily="34" charset="-122"/>
                <a:ea typeface="微软雅黑" panose="020B0503020204020204" pitchFamily="34" charset="-122"/>
              </a:rPr>
              <a:t>25</a:t>
            </a:r>
            <a:r>
              <a:rPr lang="zh-CN" altLang="en-US" sz="2800" dirty="0">
                <a:latin typeface="微软雅黑" panose="020B0503020204020204" pitchFamily="34" charset="-122"/>
                <a:ea typeface="微软雅黑" panose="020B0503020204020204" pitchFamily="34" charset="-122"/>
              </a:rPr>
              <a:t>个顺序随机出现的红点即可</a:t>
            </a:r>
          </a:p>
        </p:txBody>
      </p:sp>
      <p:pic>
        <p:nvPicPr>
          <p:cNvPr id="7" name="图片 6">
            <a:extLst>
              <a:ext uri="{FF2B5EF4-FFF2-40B4-BE49-F238E27FC236}">
                <a16:creationId xmlns:a16="http://schemas.microsoft.com/office/drawing/2014/main" id="{AEA640FF-8BFF-BFB3-2D1C-B93D7C4AB04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21400" y="3580607"/>
            <a:ext cx="8064000" cy="5040000"/>
          </a:xfrm>
          <a:prstGeom prst="rect">
            <a:avLst/>
          </a:prstGeom>
        </p:spPr>
      </p:pic>
      <p:pic>
        <p:nvPicPr>
          <p:cNvPr id="8" name="图片 7">
            <a:extLst>
              <a:ext uri="{FF2B5EF4-FFF2-40B4-BE49-F238E27FC236}">
                <a16:creationId xmlns:a16="http://schemas.microsoft.com/office/drawing/2014/main" id="{FC70D87C-DF8E-08A9-F69F-3FCF3ACBB3C6}"/>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7487322" y="3580607"/>
            <a:ext cx="8064000" cy="5040000"/>
          </a:xfrm>
          <a:prstGeom prst="rect">
            <a:avLst/>
          </a:prstGeom>
        </p:spPr>
      </p:pic>
    </p:spTree>
    <p:extLst>
      <p:ext uri="{BB962C8B-B14F-4D97-AF65-F5344CB8AC3E}">
        <p14:creationId xmlns:p14="http://schemas.microsoft.com/office/powerpoint/2010/main" val="37918284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9D131-35EC-688B-2916-B6EA400F44B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37F7DBF-9022-25D6-9C97-BB40DEEE0C2C}"/>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92CEA416-5C78-A937-F107-457E87DFB30C}"/>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7DE6FFF7-22AE-B0CA-DA29-558C2C9E117B}"/>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943F2FE6-A041-80BD-B18C-D1C340C16E66}"/>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工程实现</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7AD13B63-BE84-A990-46E1-4A4F0D1ECF06}"/>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95F68416-9CA1-13ED-E487-7B423DA9AAB0}"/>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工程实现与数据采集</a:t>
            </a:r>
            <a:endPar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34" name="文本框 33">
            <a:extLst>
              <a:ext uri="{FF2B5EF4-FFF2-40B4-BE49-F238E27FC236}">
                <a16:creationId xmlns:a16="http://schemas.microsoft.com/office/drawing/2014/main" id="{6BB7C0B8-9C88-9F91-2B10-38A4C5A2EAD9}"/>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采集流程：状态确认与正式采集</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D7F7F469-3E75-CA48-3EFE-C57D18F5A8A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sp>
        <p:nvSpPr>
          <p:cNvPr id="22" name="文本框 21">
            <a:extLst>
              <a:ext uri="{FF2B5EF4-FFF2-40B4-BE49-F238E27FC236}">
                <a16:creationId xmlns:a16="http://schemas.microsoft.com/office/drawing/2014/main" id="{5A38FED7-09DE-0EC2-2442-3BF9233B9EAE}"/>
              </a:ext>
            </a:extLst>
          </p:cNvPr>
          <p:cNvSpPr txBox="1"/>
          <p:nvPr/>
        </p:nvSpPr>
        <p:spPr>
          <a:xfrm>
            <a:off x="1600200" y="8771477"/>
            <a:ext cx="7273604" cy="1384995"/>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检查页面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采集者确认自己的摄像头有效并且看到实时信息和最终效果图，为下一步的采</a:t>
            </a:r>
          </a:p>
          <a:p>
            <a:pPr algn="ctr"/>
            <a:r>
              <a:rPr lang="zh-CN" altLang="en-US" sz="2800" dirty="0">
                <a:latin typeface="微软雅黑" panose="020B0503020204020204" pitchFamily="34" charset="-122"/>
                <a:ea typeface="微软雅黑" panose="020B0503020204020204" pitchFamily="34" charset="-122"/>
              </a:rPr>
              <a:t>集做准备 </a:t>
            </a:r>
          </a:p>
        </p:txBody>
      </p:sp>
      <p:sp>
        <p:nvSpPr>
          <p:cNvPr id="24" name="文本框 23">
            <a:extLst>
              <a:ext uri="{FF2B5EF4-FFF2-40B4-BE49-F238E27FC236}">
                <a16:creationId xmlns:a16="http://schemas.microsoft.com/office/drawing/2014/main" id="{2651428D-8105-CAEF-51C1-FBF686BD311A}"/>
              </a:ext>
            </a:extLst>
          </p:cNvPr>
          <p:cNvSpPr txBox="1"/>
          <p:nvPr/>
        </p:nvSpPr>
        <p:spPr>
          <a:xfrm>
            <a:off x="11038153"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正式采集页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用户依次注视</a:t>
            </a:r>
            <a:r>
              <a:rPr lang="en-US" altLang="zh-CN" sz="2800" dirty="0">
                <a:latin typeface="微软雅黑" panose="020B0503020204020204" pitchFamily="34" charset="-122"/>
                <a:ea typeface="微软雅黑" panose="020B0503020204020204" pitchFamily="34" charset="-122"/>
              </a:rPr>
              <a:t>25</a:t>
            </a:r>
            <a:r>
              <a:rPr lang="zh-CN" altLang="en-US" sz="2800" dirty="0">
                <a:latin typeface="微软雅黑" panose="020B0503020204020204" pitchFamily="34" charset="-122"/>
                <a:ea typeface="微软雅黑" panose="020B0503020204020204" pitchFamily="34" charset="-122"/>
              </a:rPr>
              <a:t>个顺序随机出现的红点即可</a:t>
            </a:r>
          </a:p>
        </p:txBody>
      </p:sp>
      <p:pic>
        <p:nvPicPr>
          <p:cNvPr id="6" name="图片 5">
            <a:extLst>
              <a:ext uri="{FF2B5EF4-FFF2-40B4-BE49-F238E27FC236}">
                <a16:creationId xmlns:a16="http://schemas.microsoft.com/office/drawing/2014/main" id="{0400EBC8-144E-4DDE-CB4E-9F5DE81CBEC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1478" y="3580607"/>
            <a:ext cx="8064000" cy="5040000"/>
          </a:xfrm>
          <a:prstGeom prst="rect">
            <a:avLst/>
          </a:prstGeom>
        </p:spPr>
      </p:pic>
      <p:pic>
        <p:nvPicPr>
          <p:cNvPr id="8" name="图片 7">
            <a:extLst>
              <a:ext uri="{FF2B5EF4-FFF2-40B4-BE49-F238E27FC236}">
                <a16:creationId xmlns:a16="http://schemas.microsoft.com/office/drawing/2014/main" id="{7D557618-BD4A-5391-5825-42664FD4EC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77400" y="3580607"/>
            <a:ext cx="8064000" cy="5040000"/>
          </a:xfrm>
          <a:prstGeom prst="rect">
            <a:avLst/>
          </a:prstGeom>
        </p:spPr>
      </p:pic>
      <p:pic>
        <p:nvPicPr>
          <p:cNvPr id="9" name="图片 8">
            <a:extLst>
              <a:ext uri="{FF2B5EF4-FFF2-40B4-BE49-F238E27FC236}">
                <a16:creationId xmlns:a16="http://schemas.microsoft.com/office/drawing/2014/main" id="{AD78162E-D29F-97EA-DD28-615CE86CDC8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7373600" y="3774011"/>
            <a:ext cx="8064000" cy="5040000"/>
          </a:xfrm>
          <a:prstGeom prst="rect">
            <a:avLst/>
          </a:prstGeom>
        </p:spPr>
      </p:pic>
      <p:pic>
        <p:nvPicPr>
          <p:cNvPr id="10" name="图片 9">
            <a:extLst>
              <a:ext uri="{FF2B5EF4-FFF2-40B4-BE49-F238E27FC236}">
                <a16:creationId xmlns:a16="http://schemas.microsoft.com/office/drawing/2014/main" id="{E52E2565-06EB-121C-571E-BCCA625C4DB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684827" y="3774011"/>
            <a:ext cx="8064000" cy="5040000"/>
          </a:xfrm>
          <a:prstGeom prst="rect">
            <a:avLst/>
          </a:prstGeom>
        </p:spPr>
      </p:pic>
      <p:sp>
        <p:nvSpPr>
          <p:cNvPr id="11" name="文本框 10">
            <a:extLst>
              <a:ext uri="{FF2B5EF4-FFF2-40B4-BE49-F238E27FC236}">
                <a16:creationId xmlns:a16="http://schemas.microsoft.com/office/drawing/2014/main" id="{E3E84C3B-1ED2-C2AE-7C9B-9015717FC799}"/>
              </a:ext>
            </a:extLst>
          </p:cNvPr>
          <p:cNvSpPr txBox="1"/>
          <p:nvPr/>
        </p:nvSpPr>
        <p:spPr>
          <a:xfrm>
            <a:off x="-15551400" y="9029700"/>
            <a:ext cx="4419600" cy="523220"/>
          </a:xfrm>
          <a:prstGeom prst="rect">
            <a:avLst/>
          </a:prstGeom>
          <a:noFill/>
        </p:spPr>
        <p:txBody>
          <a:bodyPr wrap="square" rtlCol="0">
            <a:spAutoFit/>
          </a:bodyPr>
          <a:lstStyle/>
          <a:p>
            <a:r>
              <a:rPr lang="zh-CN" altLang="en-US" sz="2800" dirty="0">
                <a:latin typeface="微软雅黑" panose="020B0503020204020204" pitchFamily="34" charset="-122"/>
                <a:ea typeface="微软雅黑" panose="020B0503020204020204" pitchFamily="34" charset="-122"/>
              </a:rPr>
              <a:t>首页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采集者了解使用流程 </a:t>
            </a:r>
          </a:p>
        </p:txBody>
      </p:sp>
      <p:sp>
        <p:nvSpPr>
          <p:cNvPr id="12" name="文本框 11">
            <a:extLst>
              <a:ext uri="{FF2B5EF4-FFF2-40B4-BE49-F238E27FC236}">
                <a16:creationId xmlns:a16="http://schemas.microsoft.com/office/drawing/2014/main" id="{0F0CDF2B-EB84-7ABB-47FB-EB90D042792C}"/>
              </a:ext>
            </a:extLst>
          </p:cNvPr>
          <p:cNvSpPr txBox="1"/>
          <p:nvPr/>
        </p:nvSpPr>
        <p:spPr>
          <a:xfrm>
            <a:off x="-7069443" y="90297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配置页面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每位采集者输入自己的</a:t>
            </a:r>
            <a:r>
              <a:rPr lang="en-US" altLang="zh-CN" sz="2800" dirty="0">
                <a:latin typeface="微软雅黑" panose="020B0503020204020204" pitchFamily="34" charset="-122"/>
                <a:ea typeface="微软雅黑" panose="020B0503020204020204" pitchFamily="34" charset="-122"/>
              </a:rPr>
              <a:t>ID</a:t>
            </a:r>
            <a:r>
              <a:rPr lang="zh-CN" altLang="en-US" sz="2800" dirty="0">
                <a:latin typeface="微软雅黑" panose="020B0503020204020204" pitchFamily="34" charset="-122"/>
                <a:ea typeface="微软雅黑" panose="020B0503020204020204" pitchFamily="34" charset="-122"/>
              </a:rPr>
              <a:t>并配置条件 </a:t>
            </a:r>
          </a:p>
        </p:txBody>
      </p:sp>
      <p:sp>
        <p:nvSpPr>
          <p:cNvPr id="13" name="文本框 12">
            <a:extLst>
              <a:ext uri="{FF2B5EF4-FFF2-40B4-BE49-F238E27FC236}">
                <a16:creationId xmlns:a16="http://schemas.microsoft.com/office/drawing/2014/main" id="{455A6578-6698-F3DF-FCE2-F61F796141E4}"/>
              </a:ext>
            </a:extLst>
          </p:cNvPr>
          <p:cNvSpPr txBox="1"/>
          <p:nvPr/>
        </p:nvSpPr>
        <p:spPr>
          <a:xfrm>
            <a:off x="19699836" y="8771477"/>
            <a:ext cx="7273604"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采集完成页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采集者可以看到自己的结果例图并一键打开输出文件夹</a:t>
            </a:r>
          </a:p>
        </p:txBody>
      </p:sp>
      <p:sp>
        <p:nvSpPr>
          <p:cNvPr id="14" name="文本框 13">
            <a:extLst>
              <a:ext uri="{FF2B5EF4-FFF2-40B4-BE49-F238E27FC236}">
                <a16:creationId xmlns:a16="http://schemas.microsoft.com/office/drawing/2014/main" id="{CE5EBE5A-490A-CB2C-6B6F-FC3A768C1D31}"/>
              </a:ext>
            </a:extLst>
          </p:cNvPr>
          <p:cNvSpPr txBox="1"/>
          <p:nvPr/>
        </p:nvSpPr>
        <p:spPr>
          <a:xfrm>
            <a:off x="29137789" y="8877300"/>
            <a:ext cx="4833231" cy="523220"/>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 采集完后生成的数据表效果  </a:t>
            </a:r>
          </a:p>
        </p:txBody>
      </p:sp>
      <p:pic>
        <p:nvPicPr>
          <p:cNvPr id="15" name="图片 14">
            <a:extLst>
              <a:ext uri="{FF2B5EF4-FFF2-40B4-BE49-F238E27FC236}">
                <a16:creationId xmlns:a16="http://schemas.microsoft.com/office/drawing/2014/main" id="{38A6FB6B-DD81-E4C8-74B9-B24056D18C50}"/>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996107" y="3580607"/>
            <a:ext cx="8064000" cy="5040000"/>
          </a:xfrm>
          <a:prstGeom prst="rect">
            <a:avLst/>
          </a:prstGeom>
        </p:spPr>
      </p:pic>
      <p:pic>
        <p:nvPicPr>
          <p:cNvPr id="16" name="图片 15">
            <a:extLst>
              <a:ext uri="{FF2B5EF4-FFF2-40B4-BE49-F238E27FC236}">
                <a16:creationId xmlns:a16="http://schemas.microsoft.com/office/drawing/2014/main" id="{0CF6A11E-00DD-BB86-3CE1-F4354569A253}"/>
              </a:ext>
            </a:extLst>
          </p:cNvPr>
          <p:cNvPicPr>
            <a:picLocks noChangeAspect="1"/>
          </p:cNvPicPr>
          <p:nvPr/>
        </p:nvPicPr>
        <p:blipFill>
          <a:blip r:embed="rId8">
            <a:extLst>
              <a:ext uri="{28A0092B-C50C-407E-A947-70E740481C1C}">
                <a14:useLocalDpi xmlns:a14="http://schemas.microsoft.com/office/drawing/2010/main" val="0"/>
              </a:ext>
            </a:extLst>
          </a:blip>
          <a:srcRect b="33329"/>
          <a:stretch>
            <a:fillRect/>
          </a:stretch>
        </p:blipFill>
        <p:spPr>
          <a:xfrm>
            <a:off x="27310976" y="3580607"/>
            <a:ext cx="8884024" cy="5040000"/>
          </a:xfrm>
          <a:prstGeom prst="rect">
            <a:avLst/>
          </a:prstGeom>
        </p:spPr>
      </p:pic>
    </p:spTree>
    <p:extLst>
      <p:ext uri="{BB962C8B-B14F-4D97-AF65-F5344CB8AC3E}">
        <p14:creationId xmlns:p14="http://schemas.microsoft.com/office/powerpoint/2010/main" val="966081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39B06-A6F2-EDA9-81DF-15F877810AD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5794225-E97E-B7A8-80AA-D52A918EEFBD}"/>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C73832E8-25EB-E9FA-AE7A-3480505F4ABD}"/>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1C21467A-FAC1-9560-158A-3D7CD92820B0}"/>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3730E5A4-2ACE-21DE-88C8-3F829326AE40}"/>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工程实现</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44FCBA50-89AC-2801-F2DD-AEFE6C7D390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A12A99CF-EA73-57F2-9BB1-2568A745779B}"/>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工程实现与数据采集</a:t>
            </a:r>
            <a:endPar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34" name="文本框 33">
            <a:extLst>
              <a:ext uri="{FF2B5EF4-FFF2-40B4-BE49-F238E27FC236}">
                <a16:creationId xmlns:a16="http://schemas.microsoft.com/office/drawing/2014/main" id="{F6856319-A149-4317-420E-717723522571}"/>
              </a:ext>
            </a:extLst>
          </p:cNvPr>
          <p:cNvSpPr txBox="1"/>
          <p:nvPr/>
        </p:nvSpPr>
        <p:spPr>
          <a:xfrm>
            <a:off x="3962400" y="1930694"/>
            <a:ext cx="7637928"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采集完成：结果预览与数据导出</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17" name="图片 16">
            <a:extLst>
              <a:ext uri="{FF2B5EF4-FFF2-40B4-BE49-F238E27FC236}">
                <a16:creationId xmlns:a16="http://schemas.microsoft.com/office/drawing/2014/main" id="{C8C69669-8E92-39A9-9C73-AB3D5C39AD1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600328" y="1305789"/>
            <a:ext cx="1896141" cy="1896141"/>
          </a:xfrm>
          <a:prstGeom prst="rect">
            <a:avLst/>
          </a:prstGeom>
        </p:spPr>
      </p:pic>
      <p:sp>
        <p:nvSpPr>
          <p:cNvPr id="22" name="文本框 21">
            <a:extLst>
              <a:ext uri="{FF2B5EF4-FFF2-40B4-BE49-F238E27FC236}">
                <a16:creationId xmlns:a16="http://schemas.microsoft.com/office/drawing/2014/main" id="{A7E097BA-563B-4C57-895E-7E8DCE56586C}"/>
              </a:ext>
            </a:extLst>
          </p:cNvPr>
          <p:cNvSpPr txBox="1"/>
          <p:nvPr/>
        </p:nvSpPr>
        <p:spPr>
          <a:xfrm>
            <a:off x="1600200" y="8771477"/>
            <a:ext cx="7273604"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采集完成页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采集者可以看到自己的结果例图并一键打开输出文件夹</a:t>
            </a:r>
          </a:p>
        </p:txBody>
      </p:sp>
      <p:sp>
        <p:nvSpPr>
          <p:cNvPr id="24" name="文本框 23">
            <a:extLst>
              <a:ext uri="{FF2B5EF4-FFF2-40B4-BE49-F238E27FC236}">
                <a16:creationId xmlns:a16="http://schemas.microsoft.com/office/drawing/2014/main" id="{2CEE1A25-4D73-2B1D-AF98-96A89E75213F}"/>
              </a:ext>
            </a:extLst>
          </p:cNvPr>
          <p:cNvSpPr txBox="1"/>
          <p:nvPr/>
        </p:nvSpPr>
        <p:spPr>
          <a:xfrm>
            <a:off x="11038153" y="8877300"/>
            <a:ext cx="4833231" cy="523220"/>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 采集完后生成的数据表效果  </a:t>
            </a:r>
          </a:p>
        </p:txBody>
      </p:sp>
      <p:pic>
        <p:nvPicPr>
          <p:cNvPr id="7" name="图片 6">
            <a:extLst>
              <a:ext uri="{FF2B5EF4-FFF2-40B4-BE49-F238E27FC236}">
                <a16:creationId xmlns:a16="http://schemas.microsoft.com/office/drawing/2014/main" id="{09E3475A-DF4B-4119-904F-AB7CFBF4FE6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6471" y="3580607"/>
            <a:ext cx="8064000" cy="5040000"/>
          </a:xfrm>
          <a:prstGeom prst="rect">
            <a:avLst/>
          </a:prstGeom>
        </p:spPr>
      </p:pic>
      <p:pic>
        <p:nvPicPr>
          <p:cNvPr id="10" name="图片 9">
            <a:extLst>
              <a:ext uri="{FF2B5EF4-FFF2-40B4-BE49-F238E27FC236}">
                <a16:creationId xmlns:a16="http://schemas.microsoft.com/office/drawing/2014/main" id="{70B295F0-B408-2A0E-9197-DFECE1D09BD1}"/>
              </a:ext>
            </a:extLst>
          </p:cNvPr>
          <p:cNvPicPr>
            <a:picLocks noChangeAspect="1"/>
          </p:cNvPicPr>
          <p:nvPr/>
        </p:nvPicPr>
        <p:blipFill>
          <a:blip r:embed="rId4">
            <a:extLst>
              <a:ext uri="{28A0092B-C50C-407E-A947-70E740481C1C}">
                <a14:useLocalDpi xmlns:a14="http://schemas.microsoft.com/office/drawing/2010/main" val="0"/>
              </a:ext>
            </a:extLst>
          </a:blip>
          <a:srcRect b="33329"/>
          <a:stretch>
            <a:fillRect/>
          </a:stretch>
        </p:blipFill>
        <p:spPr>
          <a:xfrm>
            <a:off x="9211340" y="3580607"/>
            <a:ext cx="8884024" cy="5040000"/>
          </a:xfrm>
          <a:prstGeom prst="rect">
            <a:avLst/>
          </a:prstGeom>
        </p:spPr>
      </p:pic>
      <p:sp>
        <p:nvSpPr>
          <p:cNvPr id="11" name="文本框 10">
            <a:extLst>
              <a:ext uri="{FF2B5EF4-FFF2-40B4-BE49-F238E27FC236}">
                <a16:creationId xmlns:a16="http://schemas.microsoft.com/office/drawing/2014/main" id="{D4D6375E-968E-3FD3-8D3C-14E307D04F39}"/>
              </a:ext>
            </a:extLst>
          </p:cNvPr>
          <p:cNvSpPr txBox="1"/>
          <p:nvPr/>
        </p:nvSpPr>
        <p:spPr>
          <a:xfrm>
            <a:off x="-16403878" y="8771477"/>
            <a:ext cx="7273604" cy="1384995"/>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检查页面</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采集者确认自己的摄像头有效并且看到实时信息和最终效果图，为下一步的采</a:t>
            </a:r>
          </a:p>
          <a:p>
            <a:pPr algn="ctr"/>
            <a:r>
              <a:rPr lang="zh-CN" altLang="en-US" sz="2800" dirty="0">
                <a:latin typeface="微软雅黑" panose="020B0503020204020204" pitchFamily="34" charset="-122"/>
                <a:ea typeface="微软雅黑" panose="020B0503020204020204" pitchFamily="34" charset="-122"/>
              </a:rPr>
              <a:t>集做准备 </a:t>
            </a:r>
          </a:p>
        </p:txBody>
      </p:sp>
      <p:sp>
        <p:nvSpPr>
          <p:cNvPr id="12" name="文本框 11">
            <a:extLst>
              <a:ext uri="{FF2B5EF4-FFF2-40B4-BE49-F238E27FC236}">
                <a16:creationId xmlns:a16="http://schemas.microsoft.com/office/drawing/2014/main" id="{797050CD-C26A-1CE8-D34F-7C27F04F3179}"/>
              </a:ext>
            </a:extLst>
          </p:cNvPr>
          <p:cNvSpPr txBox="1"/>
          <p:nvPr/>
        </p:nvSpPr>
        <p:spPr>
          <a:xfrm>
            <a:off x="-6965925" y="8877300"/>
            <a:ext cx="4833231" cy="954107"/>
          </a:xfrm>
          <a:prstGeom prst="rect">
            <a:avLst/>
          </a:prstGeom>
          <a:noFill/>
        </p:spPr>
        <p:txBody>
          <a:bodyPr wrap="square" rtlCol="0">
            <a:spAutoFit/>
          </a:bodyPr>
          <a:lstStyle/>
          <a:p>
            <a:pPr algn="ctr"/>
            <a:r>
              <a:rPr lang="zh-CN" altLang="en-US" sz="2800" dirty="0">
                <a:latin typeface="微软雅黑" panose="020B0503020204020204" pitchFamily="34" charset="-122"/>
                <a:ea typeface="微软雅黑" panose="020B0503020204020204" pitchFamily="34" charset="-122"/>
              </a:rPr>
              <a:t>正式采集页</a:t>
            </a:r>
            <a:r>
              <a:rPr lang="en-US" altLang="zh-CN" sz="2800" dirty="0">
                <a:latin typeface="微软雅黑" panose="020B0503020204020204" pitchFamily="34" charset="-122"/>
                <a:ea typeface="微软雅黑" panose="020B0503020204020204" pitchFamily="34" charset="-122"/>
              </a:rPr>
              <a:t>-</a:t>
            </a:r>
            <a:r>
              <a:rPr lang="zh-CN" altLang="en-US" sz="2800" dirty="0">
                <a:latin typeface="微软雅黑" panose="020B0503020204020204" pitchFamily="34" charset="-122"/>
                <a:ea typeface="微软雅黑" panose="020B0503020204020204" pitchFamily="34" charset="-122"/>
              </a:rPr>
              <a:t>用户依次注视</a:t>
            </a:r>
            <a:r>
              <a:rPr lang="en-US" altLang="zh-CN" sz="2800" dirty="0">
                <a:latin typeface="微软雅黑" panose="020B0503020204020204" pitchFamily="34" charset="-122"/>
                <a:ea typeface="微软雅黑" panose="020B0503020204020204" pitchFamily="34" charset="-122"/>
              </a:rPr>
              <a:t>25</a:t>
            </a:r>
            <a:r>
              <a:rPr lang="zh-CN" altLang="en-US" sz="2800" dirty="0">
                <a:latin typeface="微软雅黑" panose="020B0503020204020204" pitchFamily="34" charset="-122"/>
                <a:ea typeface="微软雅黑" panose="020B0503020204020204" pitchFamily="34" charset="-122"/>
              </a:rPr>
              <a:t>个顺序随机出现的红点即可</a:t>
            </a:r>
          </a:p>
        </p:txBody>
      </p:sp>
      <p:pic>
        <p:nvPicPr>
          <p:cNvPr id="13" name="图片 12">
            <a:extLst>
              <a:ext uri="{FF2B5EF4-FFF2-40B4-BE49-F238E27FC236}">
                <a16:creationId xmlns:a16="http://schemas.microsoft.com/office/drawing/2014/main" id="{365D9B29-D6DC-3FD2-3672-A50FA0FDDBE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6992600" y="3580607"/>
            <a:ext cx="8064000" cy="5040000"/>
          </a:xfrm>
          <a:prstGeom prst="rect">
            <a:avLst/>
          </a:prstGeom>
        </p:spPr>
      </p:pic>
      <p:pic>
        <p:nvPicPr>
          <p:cNvPr id="14" name="图片 13">
            <a:extLst>
              <a:ext uri="{FF2B5EF4-FFF2-40B4-BE49-F238E27FC236}">
                <a16:creationId xmlns:a16="http://schemas.microsoft.com/office/drawing/2014/main" id="{2B2F8D75-E769-AF2D-4936-0ED540B7918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326678" y="3580607"/>
            <a:ext cx="8064000" cy="5040000"/>
          </a:xfrm>
          <a:prstGeom prst="rect">
            <a:avLst/>
          </a:prstGeom>
        </p:spPr>
      </p:pic>
    </p:spTree>
    <p:extLst>
      <p:ext uri="{BB962C8B-B14F-4D97-AF65-F5344CB8AC3E}">
        <p14:creationId xmlns:p14="http://schemas.microsoft.com/office/powerpoint/2010/main" val="39033548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75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1D942B-5627-60B5-68B6-14CAE81C790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BF38841-0B46-5C8D-A60C-C199A0D64E34}"/>
              </a:ext>
            </a:extLst>
          </p:cNvPr>
          <p:cNvGrpSpPr/>
          <p:nvPr/>
        </p:nvGrpSpPr>
        <p:grpSpPr>
          <a:xfrm>
            <a:off x="0" y="430289"/>
            <a:ext cx="220378" cy="598411"/>
            <a:chOff x="0" y="0"/>
            <a:chExt cx="58042" cy="157606"/>
          </a:xfrm>
        </p:grpSpPr>
        <p:sp>
          <p:nvSpPr>
            <p:cNvPr id="3" name="Freeform 3">
              <a:extLst>
                <a:ext uri="{FF2B5EF4-FFF2-40B4-BE49-F238E27FC236}">
                  <a16:creationId xmlns:a16="http://schemas.microsoft.com/office/drawing/2014/main" id="{5ADD3B11-CCDB-2BC9-F563-197430B6A4B6}"/>
                </a:ext>
              </a:extLst>
            </p:cNvPr>
            <p:cNvSpPr/>
            <p:nvPr/>
          </p:nvSpPr>
          <p:spPr>
            <a:xfrm>
              <a:off x="0" y="0"/>
              <a:ext cx="58042" cy="157606"/>
            </a:xfrm>
            <a:custGeom>
              <a:avLst/>
              <a:gdLst/>
              <a:ahLst/>
              <a:cxnLst/>
              <a:rect l="l" t="t" r="r" b="b"/>
              <a:pathLst>
                <a:path w="58042" h="157606">
                  <a:moveTo>
                    <a:pt x="0" y="0"/>
                  </a:moveTo>
                  <a:lnTo>
                    <a:pt x="58042" y="0"/>
                  </a:lnTo>
                  <a:lnTo>
                    <a:pt x="58042" y="157606"/>
                  </a:lnTo>
                  <a:lnTo>
                    <a:pt x="0" y="157606"/>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4" name="TextBox 4">
              <a:extLst>
                <a:ext uri="{FF2B5EF4-FFF2-40B4-BE49-F238E27FC236}">
                  <a16:creationId xmlns:a16="http://schemas.microsoft.com/office/drawing/2014/main" id="{0F1BE260-14D1-4FCF-9C59-6DC9924B1533}"/>
                </a:ext>
              </a:extLst>
            </p:cNvPr>
            <p:cNvSpPr txBox="1"/>
            <p:nvPr/>
          </p:nvSpPr>
          <p:spPr>
            <a:xfrm>
              <a:off x="0" y="-47625"/>
              <a:ext cx="58042" cy="205231"/>
            </a:xfrm>
            <a:prstGeom prst="rect">
              <a:avLst/>
            </a:prstGeom>
          </p:spPr>
          <p:txBody>
            <a:bodyPr lIns="50800" tIns="50800" rIns="50800" bIns="50800" rtlCol="0" anchor="ctr"/>
            <a:lstStyle/>
            <a:p>
              <a:pPr algn="ctr">
                <a:lnSpc>
                  <a:spcPts val="3359"/>
                </a:lnSpc>
              </a:pPr>
              <a:endParaRPr>
                <a:latin typeface="微软雅黑" panose="020B0503020204020204" pitchFamily="34" charset="-122"/>
                <a:ea typeface="微软雅黑" panose="020B0503020204020204" pitchFamily="34" charset="-122"/>
              </a:endParaRPr>
            </a:p>
          </p:txBody>
        </p:sp>
      </p:grpSp>
      <p:sp>
        <p:nvSpPr>
          <p:cNvPr id="29" name="TextBox 29">
            <a:extLst>
              <a:ext uri="{FF2B5EF4-FFF2-40B4-BE49-F238E27FC236}">
                <a16:creationId xmlns:a16="http://schemas.microsoft.com/office/drawing/2014/main" id="{37156687-D36D-946F-9DE6-1377435AE520}"/>
              </a:ext>
            </a:extLst>
          </p:cNvPr>
          <p:cNvSpPr txBox="1"/>
          <p:nvPr/>
        </p:nvSpPr>
        <p:spPr>
          <a:xfrm>
            <a:off x="733996" y="1677780"/>
            <a:ext cx="1994774" cy="422991"/>
          </a:xfrm>
          <a:prstGeom prst="rect">
            <a:avLst/>
          </a:prstGeom>
        </p:spPr>
        <p:txBody>
          <a:bodyPr lIns="0" tIns="0" rIns="0" bIns="0" rtlCol="0" anchor="t">
            <a:spAutoFit/>
          </a:bodyPr>
          <a:lstStyle/>
          <a:p>
            <a:pPr algn="ctr">
              <a:lnSpc>
                <a:spcPts val="3460"/>
              </a:lnSpc>
              <a:spcBef>
                <a:spcPct val="0"/>
              </a:spcBef>
            </a:pPr>
            <a:r>
              <a:rPr lang="zh-CN" alt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rPr>
              <a:t>工程实现</a:t>
            </a:r>
            <a:endParaRPr lang="en-US" sz="2471" b="1" spc="247">
              <a:solidFill>
                <a:srgbClr val="FFFFFF"/>
              </a:solidFill>
              <a:latin typeface="微软雅黑" panose="020B0503020204020204" pitchFamily="34" charset="-122"/>
              <a:ea typeface="微软雅黑" panose="020B0503020204020204" pitchFamily="34" charset="-122"/>
              <a:cs typeface="思源黑体 Bold"/>
              <a:sym typeface="思源黑体 Bold"/>
            </a:endParaRPr>
          </a:p>
        </p:txBody>
      </p:sp>
      <p:sp>
        <p:nvSpPr>
          <p:cNvPr id="56" name="TextBox 5">
            <a:extLst>
              <a:ext uri="{FF2B5EF4-FFF2-40B4-BE49-F238E27FC236}">
                <a16:creationId xmlns:a16="http://schemas.microsoft.com/office/drawing/2014/main" id="{4DAAF5B2-DDB4-006A-7DCF-D9465A440CEC}"/>
              </a:ext>
            </a:extLst>
          </p:cNvPr>
          <p:cNvSpPr txBox="1"/>
          <p:nvPr/>
        </p:nvSpPr>
        <p:spPr>
          <a:xfrm>
            <a:off x="509579" y="363614"/>
            <a:ext cx="404821" cy="590739"/>
          </a:xfrm>
          <a:prstGeom prst="rect">
            <a:avLst/>
          </a:prstGeom>
        </p:spPr>
        <p:txBody>
          <a:bodyPr wrap="square" lIns="0" tIns="0" rIns="0" bIns="0" rtlCol="0" anchor="t">
            <a:spAutoFit/>
          </a:bodyPr>
          <a:lstStyle/>
          <a:p>
            <a:pPr algn="l">
              <a:lnSpc>
                <a:spcPts val="5040"/>
              </a:lnSpc>
              <a:spcBef>
                <a:spcPct val="0"/>
              </a:spcBef>
            </a:pPr>
            <a:r>
              <a:rPr lang="en-US" altLang="zh-CN"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rPr>
              <a:t>5</a:t>
            </a:r>
            <a:endParaRPr lang="zh-CN" altLang="en-US" sz="3600" b="1" spc="334" dirty="0">
              <a:solidFill>
                <a:srgbClr val="7030A0"/>
              </a:solidFill>
              <a:latin typeface="微软雅黑" panose="020B0503020204020204" pitchFamily="34" charset="-122"/>
              <a:ea typeface="微软雅黑" panose="020B0503020204020204" pitchFamily="34" charset="-122"/>
              <a:cs typeface="思源黑体-超粗体"/>
              <a:sym typeface="思源黑体-超粗体"/>
            </a:endParaRPr>
          </a:p>
        </p:txBody>
      </p:sp>
      <p:sp>
        <p:nvSpPr>
          <p:cNvPr id="57" name="TextBox 5">
            <a:extLst>
              <a:ext uri="{FF2B5EF4-FFF2-40B4-BE49-F238E27FC236}">
                <a16:creationId xmlns:a16="http://schemas.microsoft.com/office/drawing/2014/main" id="{9B45B3DD-0F5C-812C-AE46-7F232193BF5F}"/>
              </a:ext>
            </a:extLst>
          </p:cNvPr>
          <p:cNvSpPr txBox="1"/>
          <p:nvPr/>
        </p:nvSpPr>
        <p:spPr>
          <a:xfrm>
            <a:off x="1020443" y="380719"/>
            <a:ext cx="4542157" cy="1231940"/>
          </a:xfrm>
          <a:prstGeom prst="rect">
            <a:avLst/>
          </a:prstGeom>
        </p:spPr>
        <p:txBody>
          <a:bodyPr wrap="square" lIns="0" tIns="0" rIns="0" bIns="0" rtlCol="0" anchor="t">
            <a:spAutoFit/>
          </a:bodyPr>
          <a:lstStyle/>
          <a:p>
            <a:pPr>
              <a:lnSpc>
                <a:spcPts val="5040"/>
              </a:lnSpc>
              <a:spcBef>
                <a:spcPct val="0"/>
              </a:spcBef>
            </a:pPr>
            <a:r>
              <a:rPr lang="zh-CN" altLang="en-US" sz="3600" b="1" spc="417">
                <a:solidFill>
                  <a:srgbClr val="7030A0"/>
                </a:solidFill>
                <a:latin typeface="微软雅黑" panose="020B0503020204020204" pitchFamily="34" charset="-122"/>
                <a:ea typeface="微软雅黑" panose="020B0503020204020204" pitchFamily="34" charset="-122"/>
                <a:cs typeface="思源黑体 Bold"/>
                <a:sym typeface="思源黑体 Bold"/>
              </a:rPr>
              <a:t>工程实现与数据采集</a:t>
            </a:r>
            <a:endParaRPr lang="en-US" altLang="zh-CN" sz="3600" b="1" spc="417" dirty="0">
              <a:solidFill>
                <a:srgbClr val="7030A0"/>
              </a:solidFill>
              <a:latin typeface="微软雅黑" panose="020B0503020204020204" pitchFamily="34" charset="-122"/>
              <a:ea typeface="微软雅黑" panose="020B0503020204020204" pitchFamily="34" charset="-122"/>
              <a:cs typeface="思源黑体 Bold"/>
              <a:sym typeface="思源黑体 Bold"/>
            </a:endParaRPr>
          </a:p>
        </p:txBody>
      </p:sp>
      <p:sp>
        <p:nvSpPr>
          <p:cNvPr id="34" name="文本框 33">
            <a:extLst>
              <a:ext uri="{FF2B5EF4-FFF2-40B4-BE49-F238E27FC236}">
                <a16:creationId xmlns:a16="http://schemas.microsoft.com/office/drawing/2014/main" id="{CBF0027B-BDEF-D70F-87DB-2EC854BF5D83}"/>
              </a:ext>
            </a:extLst>
          </p:cNvPr>
          <p:cNvSpPr txBox="1"/>
          <p:nvPr/>
        </p:nvSpPr>
        <p:spPr>
          <a:xfrm>
            <a:off x="4996568" y="1492540"/>
            <a:ext cx="8458200" cy="646331"/>
          </a:xfrm>
          <a:prstGeom prst="rect">
            <a:avLst/>
          </a:prstGeom>
          <a:noFill/>
        </p:spPr>
        <p:txBody>
          <a:bodyPr wrap="square" rtlCol="0">
            <a:spAutoFit/>
            <a:scene3d>
              <a:camera prst="orthographicFront"/>
              <a:lightRig rig="harsh" dir="t"/>
            </a:scene3d>
            <a:sp3d extrusionH="57150" prstMaterial="matte">
              <a:bevelT w="63500" h="12700" prst="angle"/>
              <a:contourClr>
                <a:schemeClr val="bg1">
                  <a:lumMod val="65000"/>
                </a:schemeClr>
              </a:contourClr>
            </a:sp3d>
          </a:bodyPr>
          <a:lstStyle/>
          <a:p>
            <a:r>
              <a:rPr lang="zh-CN" altLang="en-US" sz="3600" b="1">
                <a:ln/>
                <a:solidFill>
                  <a:schemeClr val="accent4">
                    <a:lumMod val="75000"/>
                  </a:schemeClr>
                </a:solidFill>
                <a:latin typeface="微软雅黑" panose="020B0503020204020204" pitchFamily="34" charset="-122"/>
                <a:ea typeface="微软雅黑" panose="020B0503020204020204" pitchFamily="34" charset="-122"/>
              </a:rPr>
              <a:t>志愿者采集实景与真实桌面环境</a:t>
            </a:r>
            <a:endParaRPr lang="zh-CN" altLang="en-US" sz="3600" b="1" dirty="0">
              <a:ln/>
              <a:solidFill>
                <a:schemeClr val="accent4">
                  <a:lumMod val="75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DF6AA3CC-7BCE-106A-3D7A-927BCEFE35A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36220" y="2224757"/>
            <a:ext cx="5760000" cy="4320000"/>
          </a:xfrm>
          <a:prstGeom prst="rect">
            <a:avLst/>
          </a:prstGeom>
        </p:spPr>
      </p:pic>
      <p:pic>
        <p:nvPicPr>
          <p:cNvPr id="9" name="图片 8">
            <a:extLst>
              <a:ext uri="{FF2B5EF4-FFF2-40B4-BE49-F238E27FC236}">
                <a16:creationId xmlns:a16="http://schemas.microsoft.com/office/drawing/2014/main" id="{42F590F0-6B4D-E442-037A-0BC2BC78BD7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7495" y="5295900"/>
            <a:ext cx="5758725" cy="4320000"/>
          </a:xfrm>
          <a:prstGeom prst="rect">
            <a:avLst/>
          </a:prstGeom>
        </p:spPr>
      </p:pic>
      <p:pic>
        <p:nvPicPr>
          <p:cNvPr id="12" name="图片 11">
            <a:extLst>
              <a:ext uri="{FF2B5EF4-FFF2-40B4-BE49-F238E27FC236}">
                <a16:creationId xmlns:a16="http://schemas.microsoft.com/office/drawing/2014/main" id="{1BD37F21-E92C-118E-334D-63D1F1E12D4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169256" y="2232377"/>
            <a:ext cx="5760000" cy="4320000"/>
          </a:xfrm>
          <a:prstGeom prst="rect">
            <a:avLst/>
          </a:prstGeom>
        </p:spPr>
      </p:pic>
      <p:pic>
        <p:nvPicPr>
          <p:cNvPr id="14" name="图片 13">
            <a:extLst>
              <a:ext uri="{FF2B5EF4-FFF2-40B4-BE49-F238E27FC236}">
                <a16:creationId xmlns:a16="http://schemas.microsoft.com/office/drawing/2014/main" id="{3A01B61D-2978-9DCF-6D2F-0C9D71D19EA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2169256" y="5208000"/>
            <a:ext cx="5760000" cy="4320000"/>
          </a:xfrm>
          <a:prstGeom prst="rect">
            <a:avLst/>
          </a:prstGeom>
        </p:spPr>
      </p:pic>
      <p:pic>
        <p:nvPicPr>
          <p:cNvPr id="16" name="图片 15">
            <a:extLst>
              <a:ext uri="{FF2B5EF4-FFF2-40B4-BE49-F238E27FC236}">
                <a16:creationId xmlns:a16="http://schemas.microsoft.com/office/drawing/2014/main" id="{D3AEF334-6BA9-0360-A135-B355C5B69D3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02738" y="2224757"/>
            <a:ext cx="5760000" cy="4320000"/>
          </a:xfrm>
          <a:prstGeom prst="rect">
            <a:avLst/>
          </a:prstGeom>
        </p:spPr>
      </p:pic>
      <p:pic>
        <p:nvPicPr>
          <p:cNvPr id="19" name="图片 18">
            <a:extLst>
              <a:ext uri="{FF2B5EF4-FFF2-40B4-BE49-F238E27FC236}">
                <a16:creationId xmlns:a16="http://schemas.microsoft.com/office/drawing/2014/main" id="{8422EC97-9821-8066-0259-831E90EAAE09}"/>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202738" y="5295900"/>
            <a:ext cx="5760000" cy="4320000"/>
          </a:xfrm>
          <a:prstGeom prst="rect">
            <a:avLst/>
          </a:prstGeom>
        </p:spPr>
      </p:pic>
    </p:spTree>
    <p:extLst>
      <p:ext uri="{BB962C8B-B14F-4D97-AF65-F5344CB8AC3E}">
        <p14:creationId xmlns:p14="http://schemas.microsoft.com/office/powerpoint/2010/main" val="417400662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01F61-5825-C80F-F58F-A74C0DAA382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B131090B-69CB-588C-2902-FB16C6860396}"/>
              </a:ext>
            </a:extLst>
          </p:cNvPr>
          <p:cNvSpPr/>
          <p:nvPr/>
        </p:nvSpPr>
        <p:spPr>
          <a:xfrm>
            <a:off x="5733930" y="3390080"/>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3" name="AutoShape 3">
            <a:extLst>
              <a:ext uri="{FF2B5EF4-FFF2-40B4-BE49-F238E27FC236}">
                <a16:creationId xmlns:a16="http://schemas.microsoft.com/office/drawing/2014/main" id="{CD383762-2A16-9FFC-9B7D-B607FF3C0961}"/>
              </a:ext>
            </a:extLst>
          </p:cNvPr>
          <p:cNvSpPr/>
          <p:nvPr/>
        </p:nvSpPr>
        <p:spPr>
          <a:xfrm>
            <a:off x="5733930" y="1313125"/>
            <a:ext cx="6820140" cy="0"/>
          </a:xfrm>
          <a:prstGeom prst="line">
            <a:avLst/>
          </a:prstGeom>
          <a:ln w="38100" cap="flat">
            <a:solidFill>
              <a:srgbClr val="1800AD">
                <a:alpha val="64706"/>
              </a:srgbClr>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5" name="TextBox 5">
            <a:extLst>
              <a:ext uri="{FF2B5EF4-FFF2-40B4-BE49-F238E27FC236}">
                <a16:creationId xmlns:a16="http://schemas.microsoft.com/office/drawing/2014/main" id="{3B80B933-4C6D-ECDB-878A-1FB753FF9194}"/>
              </a:ext>
            </a:extLst>
          </p:cNvPr>
          <p:cNvSpPr txBox="1"/>
          <p:nvPr/>
        </p:nvSpPr>
        <p:spPr>
          <a:xfrm>
            <a:off x="3292933"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1</a:t>
            </a:r>
          </a:p>
        </p:txBody>
      </p:sp>
      <p:sp>
        <p:nvSpPr>
          <p:cNvPr id="6" name="TextBox 6">
            <a:extLst>
              <a:ext uri="{FF2B5EF4-FFF2-40B4-BE49-F238E27FC236}">
                <a16:creationId xmlns:a16="http://schemas.microsoft.com/office/drawing/2014/main" id="{6B89E399-F098-A4FC-0EB8-D01A3ABA7F0D}"/>
              </a:ext>
            </a:extLst>
          </p:cNvPr>
          <p:cNvSpPr txBox="1"/>
          <p:nvPr/>
        </p:nvSpPr>
        <p:spPr>
          <a:xfrm>
            <a:off x="1906966"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开题回顾和中期核心点</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8" name="TextBox 8">
            <a:extLst>
              <a:ext uri="{FF2B5EF4-FFF2-40B4-BE49-F238E27FC236}">
                <a16:creationId xmlns:a16="http://schemas.microsoft.com/office/drawing/2014/main" id="{7D3D2761-1F3B-E842-0A81-4E6DE1067755}"/>
              </a:ext>
            </a:extLst>
          </p:cNvPr>
          <p:cNvSpPr txBox="1"/>
          <p:nvPr/>
        </p:nvSpPr>
        <p:spPr>
          <a:xfrm>
            <a:off x="3292933"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4</a:t>
            </a:r>
          </a:p>
        </p:txBody>
      </p:sp>
      <p:sp>
        <p:nvSpPr>
          <p:cNvPr id="9" name="TextBox 9">
            <a:extLst>
              <a:ext uri="{FF2B5EF4-FFF2-40B4-BE49-F238E27FC236}">
                <a16:creationId xmlns:a16="http://schemas.microsoft.com/office/drawing/2014/main" id="{BCE22C50-711A-E380-C5B6-14AD52B13A05}"/>
              </a:ext>
            </a:extLst>
          </p:cNvPr>
          <p:cNvSpPr txBox="1"/>
          <p:nvPr/>
        </p:nvSpPr>
        <p:spPr>
          <a:xfrm>
            <a:off x="1906966" y="7896045"/>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现存问题与原因分析</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1" name="TextBox 11">
            <a:extLst>
              <a:ext uri="{FF2B5EF4-FFF2-40B4-BE49-F238E27FC236}">
                <a16:creationId xmlns:a16="http://schemas.microsoft.com/office/drawing/2014/main" id="{E00B1CEE-A189-0FBB-1C21-0F1A13EAB886}"/>
              </a:ext>
            </a:extLst>
          </p:cNvPr>
          <p:cNvSpPr txBox="1"/>
          <p:nvPr/>
        </p:nvSpPr>
        <p:spPr>
          <a:xfrm>
            <a:off x="8460849" y="3723690"/>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2</a:t>
            </a:r>
          </a:p>
        </p:txBody>
      </p:sp>
      <p:sp>
        <p:nvSpPr>
          <p:cNvPr id="12" name="TextBox 12">
            <a:extLst>
              <a:ext uri="{FF2B5EF4-FFF2-40B4-BE49-F238E27FC236}">
                <a16:creationId xmlns:a16="http://schemas.microsoft.com/office/drawing/2014/main" id="{BCD3E30C-6F70-0E6B-6193-CA4E0D84C11B}"/>
              </a:ext>
            </a:extLst>
          </p:cNvPr>
          <p:cNvSpPr txBox="1"/>
          <p:nvPr/>
        </p:nvSpPr>
        <p:spPr>
          <a:xfrm>
            <a:off x="7074882" y="5214691"/>
            <a:ext cx="4138236" cy="1429302"/>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当前已完成的核心工作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4" name="TextBox 14">
            <a:extLst>
              <a:ext uri="{FF2B5EF4-FFF2-40B4-BE49-F238E27FC236}">
                <a16:creationId xmlns:a16="http://schemas.microsoft.com/office/drawing/2014/main" id="{D70EEB6C-ECA5-76D4-89CB-644D20F9B6B0}"/>
              </a:ext>
            </a:extLst>
          </p:cNvPr>
          <p:cNvSpPr txBox="1"/>
          <p:nvPr/>
        </p:nvSpPr>
        <p:spPr>
          <a:xfrm>
            <a:off x="8460849" y="6405043"/>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5</a:t>
            </a:r>
          </a:p>
        </p:txBody>
      </p:sp>
      <p:sp>
        <p:nvSpPr>
          <p:cNvPr id="15" name="TextBox 15">
            <a:extLst>
              <a:ext uri="{FF2B5EF4-FFF2-40B4-BE49-F238E27FC236}">
                <a16:creationId xmlns:a16="http://schemas.microsoft.com/office/drawing/2014/main" id="{A56322D8-E104-59A1-9DC6-1E404EFD0AB3}"/>
              </a:ext>
            </a:extLst>
          </p:cNvPr>
          <p:cNvSpPr txBox="1"/>
          <p:nvPr/>
        </p:nvSpPr>
        <p:spPr>
          <a:xfrm>
            <a:off x="7074882" y="7896044"/>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后续计划与预期成果</a:t>
            </a:r>
            <a:endParaRPr lang="en-US"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97004521-76B4-5490-6B0F-3E6529587594}"/>
              </a:ext>
            </a:extLst>
          </p:cNvPr>
          <p:cNvSpPr txBox="1"/>
          <p:nvPr/>
        </p:nvSpPr>
        <p:spPr>
          <a:xfrm>
            <a:off x="13628765" y="3723690"/>
            <a:ext cx="1366301" cy="2180147"/>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tx1">
                    <a:lumMod val="85000"/>
                    <a:lumOff val="15000"/>
                    <a:alpha val="15686"/>
                  </a:schemeClr>
                </a:solidFill>
                <a:latin typeface="微软雅黑" panose="020B0503020204020204" pitchFamily="34" charset="-122"/>
                <a:ea typeface="微软雅黑" panose="020B0503020204020204" pitchFamily="34" charset="-122"/>
                <a:cs typeface="思源黑体-超粗体"/>
                <a:sym typeface="思源黑体-超粗体"/>
              </a:rPr>
              <a:t>3</a:t>
            </a:r>
          </a:p>
        </p:txBody>
      </p:sp>
      <p:sp>
        <p:nvSpPr>
          <p:cNvPr id="18" name="TextBox 18">
            <a:extLst>
              <a:ext uri="{FF2B5EF4-FFF2-40B4-BE49-F238E27FC236}">
                <a16:creationId xmlns:a16="http://schemas.microsoft.com/office/drawing/2014/main" id="{CDC66629-7E6B-6E1E-B5DF-E6017DE30E4F}"/>
              </a:ext>
            </a:extLst>
          </p:cNvPr>
          <p:cNvSpPr txBox="1"/>
          <p:nvPr/>
        </p:nvSpPr>
        <p:spPr>
          <a:xfrm>
            <a:off x="12242798" y="5214691"/>
            <a:ext cx="4138236" cy="1428917"/>
          </a:xfrm>
          <a:prstGeom prst="rect">
            <a:avLst/>
          </a:prstGeom>
        </p:spPr>
        <p:txBody>
          <a:bodyPr lIns="0" tIns="0" rIns="0" bIns="0" rtlCol="0" anchor="t">
            <a:spAutoFit/>
          </a:bodyPr>
          <a:lstStyle/>
          <a:p>
            <a:pPr algn="ctr">
              <a:lnSpc>
                <a:spcPts val="5840"/>
              </a:lnSpc>
              <a:spcBef>
                <a:spcPct val="0"/>
              </a:spcBef>
            </a:pPr>
            <a:r>
              <a:rPr lang="zh-CN" altLang="en-US" sz="4171" b="1" spc="417">
                <a:latin typeface="微软雅黑" panose="020B0503020204020204" pitchFamily="34" charset="-122"/>
                <a:ea typeface="微软雅黑" panose="020B0503020204020204" pitchFamily="34" charset="-122"/>
                <a:cs typeface="思源黑体 Bold"/>
                <a:sym typeface="思源黑体 Bold"/>
              </a:rPr>
              <a:t>阶段性实验结果与系统实现</a:t>
            </a:r>
            <a:endParaRPr lang="en-US" altLang="zh-CN" sz="4171" b="1" spc="417" dirty="0">
              <a:latin typeface="微软雅黑" panose="020B0503020204020204" pitchFamily="34" charset="-122"/>
              <a:ea typeface="微软雅黑" panose="020B0503020204020204" pitchFamily="34" charset="-122"/>
              <a:cs typeface="思源黑体 Bold"/>
              <a:sym typeface="思源黑体 Bold"/>
            </a:endParaRPr>
          </a:p>
        </p:txBody>
      </p:sp>
      <p:sp>
        <p:nvSpPr>
          <p:cNvPr id="20" name="TextBox 20">
            <a:extLst>
              <a:ext uri="{FF2B5EF4-FFF2-40B4-BE49-F238E27FC236}">
                <a16:creationId xmlns:a16="http://schemas.microsoft.com/office/drawing/2014/main" id="{5383C77C-CF90-ABE4-56F7-82E0CFA464C3}"/>
              </a:ext>
            </a:extLst>
          </p:cNvPr>
          <p:cNvSpPr txBox="1"/>
          <p:nvPr/>
        </p:nvSpPr>
        <p:spPr>
          <a:xfrm>
            <a:off x="13628765" y="6405043"/>
            <a:ext cx="1366301" cy="2180148"/>
          </a:xfrm>
          <a:prstGeom prst="rect">
            <a:avLst/>
          </a:prstGeom>
        </p:spPr>
        <p:txBody>
          <a:bodyPr lIns="0" tIns="0" rIns="0" bIns="0" rtlCol="0" anchor="t">
            <a:spAutoFit/>
          </a:bodyPr>
          <a:lstStyle/>
          <a:p>
            <a:pPr algn="ctr">
              <a:lnSpc>
                <a:spcPts val="18354"/>
              </a:lnSpc>
              <a:spcBef>
                <a:spcPct val="0"/>
              </a:spcBef>
            </a:pPr>
            <a:r>
              <a:rPr lang="en-US" sz="13110" spc="1979" dirty="0">
                <a:solidFill>
                  <a:schemeClr val="accent4">
                    <a:lumMod val="75000"/>
                    <a:alpha val="15686"/>
                  </a:schemeClr>
                </a:solidFill>
                <a:latin typeface="微软雅黑" panose="020B0503020204020204" pitchFamily="34" charset="-122"/>
                <a:ea typeface="微软雅黑" panose="020B0503020204020204" pitchFamily="34" charset="-122"/>
                <a:cs typeface="思源黑体-超粗体"/>
                <a:sym typeface="思源黑体-超粗体"/>
              </a:rPr>
              <a:t>6</a:t>
            </a:r>
          </a:p>
        </p:txBody>
      </p:sp>
      <p:sp>
        <p:nvSpPr>
          <p:cNvPr id="21" name="TextBox 21">
            <a:extLst>
              <a:ext uri="{FF2B5EF4-FFF2-40B4-BE49-F238E27FC236}">
                <a16:creationId xmlns:a16="http://schemas.microsoft.com/office/drawing/2014/main" id="{1F984E76-7703-B240-D453-6D6BFE16E24B}"/>
              </a:ext>
            </a:extLst>
          </p:cNvPr>
          <p:cNvSpPr txBox="1"/>
          <p:nvPr/>
        </p:nvSpPr>
        <p:spPr>
          <a:xfrm>
            <a:off x="12242798" y="7896045"/>
            <a:ext cx="4138236" cy="685509"/>
          </a:xfrm>
          <a:prstGeom prst="rect">
            <a:avLst/>
          </a:prstGeom>
        </p:spPr>
        <p:txBody>
          <a:bodyPr lIns="0" tIns="0" rIns="0" bIns="0" rtlCol="0" anchor="t">
            <a:spAutoFit/>
          </a:bodyPr>
          <a:lstStyle/>
          <a:p>
            <a:pPr algn="ctr">
              <a:lnSpc>
                <a:spcPts val="5840"/>
              </a:lnSpc>
              <a:spcBef>
                <a:spcPct val="0"/>
              </a:spcBef>
            </a:pPr>
            <a:r>
              <a:rPr lang="zh-CN" altLang="en-US" sz="4171" b="1" spc="417">
                <a:solidFill>
                  <a:schemeClr val="accent4">
                    <a:lumMod val="75000"/>
                  </a:schemeClr>
                </a:solidFill>
                <a:latin typeface="微软雅黑" panose="020B0503020204020204" pitchFamily="34" charset="-122"/>
                <a:ea typeface="微软雅黑" panose="020B0503020204020204" pitchFamily="34" charset="-122"/>
                <a:cs typeface="思源黑体 Bold"/>
                <a:sym typeface="思源黑体 Bold"/>
              </a:rPr>
              <a:t>提问环节</a:t>
            </a:r>
            <a:endParaRPr lang="en-US" sz="4171" b="1" spc="417" dirty="0">
              <a:solidFill>
                <a:schemeClr val="accent4">
                  <a:lumMod val="75000"/>
                </a:schemeClr>
              </a:solidFill>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22">
            <a:extLst>
              <a:ext uri="{FF2B5EF4-FFF2-40B4-BE49-F238E27FC236}">
                <a16:creationId xmlns:a16="http://schemas.microsoft.com/office/drawing/2014/main" id="{94CAEF52-DB40-D2F2-774E-7535BD9B508E}"/>
              </a:ext>
            </a:extLst>
          </p:cNvPr>
          <p:cNvSpPr txBox="1"/>
          <p:nvPr/>
        </p:nvSpPr>
        <p:spPr>
          <a:xfrm>
            <a:off x="7947974" y="1390901"/>
            <a:ext cx="2392051" cy="1261611"/>
          </a:xfrm>
          <a:prstGeom prst="rect">
            <a:avLst/>
          </a:prstGeom>
        </p:spPr>
        <p:txBody>
          <a:bodyPr lIns="0" tIns="0" rIns="0" bIns="0" rtlCol="0" anchor="t">
            <a:spAutoFit/>
          </a:bodyPr>
          <a:lstStyle/>
          <a:p>
            <a:pPr algn="ctr">
              <a:lnSpc>
                <a:spcPts val="10317"/>
              </a:lnSpc>
              <a:spcBef>
                <a:spcPct val="0"/>
              </a:spcBef>
            </a:pPr>
            <a:r>
              <a:rPr lang="en-US" sz="7369" spc="1112"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目录</a:t>
            </a:r>
          </a:p>
        </p:txBody>
      </p:sp>
      <p:sp>
        <p:nvSpPr>
          <p:cNvPr id="23" name="TextBox 23">
            <a:extLst>
              <a:ext uri="{FF2B5EF4-FFF2-40B4-BE49-F238E27FC236}">
                <a16:creationId xmlns:a16="http://schemas.microsoft.com/office/drawing/2014/main" id="{57B84D98-3FB9-F03E-8673-C4379E3AD79B}"/>
              </a:ext>
            </a:extLst>
          </p:cNvPr>
          <p:cNvSpPr txBox="1"/>
          <p:nvPr/>
        </p:nvSpPr>
        <p:spPr>
          <a:xfrm>
            <a:off x="7947974" y="2585837"/>
            <a:ext cx="2392051" cy="583592"/>
          </a:xfrm>
          <a:prstGeom prst="rect">
            <a:avLst/>
          </a:prstGeom>
        </p:spPr>
        <p:txBody>
          <a:bodyPr lIns="0" tIns="0" rIns="0" bIns="0" rtlCol="0" anchor="t">
            <a:spAutoFit/>
          </a:bodyPr>
          <a:lstStyle/>
          <a:p>
            <a:pPr algn="ctr">
              <a:lnSpc>
                <a:spcPts val="4799"/>
              </a:lnSpc>
              <a:spcBef>
                <a:spcPct val="0"/>
              </a:spcBef>
            </a:pPr>
            <a:r>
              <a:rPr lang="en-US" sz="3427" dirty="0">
                <a:solidFill>
                  <a:srgbClr val="2F1E97"/>
                </a:solidFill>
                <a:latin typeface="微软雅黑" panose="020B0503020204020204" pitchFamily="34" charset="-122"/>
                <a:ea typeface="微软雅黑" panose="020B0503020204020204" pitchFamily="34" charset="-122"/>
                <a:cs typeface="思源黑体-超粗体"/>
                <a:sym typeface="思源黑体-超粗体"/>
              </a:rPr>
              <a:t>contents</a:t>
            </a:r>
          </a:p>
        </p:txBody>
      </p:sp>
      <p:grpSp>
        <p:nvGrpSpPr>
          <p:cNvPr id="24" name="Group 24">
            <a:extLst>
              <a:ext uri="{FF2B5EF4-FFF2-40B4-BE49-F238E27FC236}">
                <a16:creationId xmlns:a16="http://schemas.microsoft.com/office/drawing/2014/main" id="{FBCE66E6-73A3-C1C7-77FC-512F8B998869}"/>
              </a:ext>
            </a:extLst>
          </p:cNvPr>
          <p:cNvGrpSpPr/>
          <p:nvPr/>
        </p:nvGrpSpPr>
        <p:grpSpPr>
          <a:xfrm>
            <a:off x="10800427" y="376164"/>
            <a:ext cx="7022979" cy="836447"/>
            <a:chOff x="0" y="-47625"/>
            <a:chExt cx="9363972" cy="1115266"/>
          </a:xfrm>
        </p:grpSpPr>
        <p:grpSp>
          <p:nvGrpSpPr>
            <p:cNvPr id="25" name="Group 25">
              <a:extLst>
                <a:ext uri="{FF2B5EF4-FFF2-40B4-BE49-F238E27FC236}">
                  <a16:creationId xmlns:a16="http://schemas.microsoft.com/office/drawing/2014/main" id="{25CA927C-EA58-A920-0FA3-7C81621628B2}"/>
                </a:ext>
              </a:extLst>
            </p:cNvPr>
            <p:cNvGrpSpPr/>
            <p:nvPr/>
          </p:nvGrpSpPr>
          <p:grpSpPr>
            <a:xfrm>
              <a:off x="9281435" y="24540"/>
              <a:ext cx="82537" cy="452980"/>
              <a:chOff x="0" y="0"/>
              <a:chExt cx="16304" cy="89478"/>
            </a:xfrm>
          </p:grpSpPr>
          <p:sp>
            <p:nvSpPr>
              <p:cNvPr id="26" name="Freeform 26">
                <a:extLst>
                  <a:ext uri="{FF2B5EF4-FFF2-40B4-BE49-F238E27FC236}">
                    <a16:creationId xmlns:a16="http://schemas.microsoft.com/office/drawing/2014/main" id="{7BEBF520-10D6-3581-1673-9799263CC138}"/>
                  </a:ext>
                </a:extLst>
              </p:cNvPr>
              <p:cNvSpPr/>
              <p:nvPr/>
            </p:nvSpPr>
            <p:spPr>
              <a:xfrm>
                <a:off x="0" y="0"/>
                <a:ext cx="16304" cy="89478"/>
              </a:xfrm>
              <a:custGeom>
                <a:avLst/>
                <a:gdLst/>
                <a:ahLst/>
                <a:cxnLst/>
                <a:rect l="l" t="t" r="r" b="b"/>
                <a:pathLst>
                  <a:path w="16304" h="89478">
                    <a:moveTo>
                      <a:pt x="0" y="0"/>
                    </a:moveTo>
                    <a:lnTo>
                      <a:pt x="16304" y="0"/>
                    </a:lnTo>
                    <a:lnTo>
                      <a:pt x="16304" y="89478"/>
                    </a:lnTo>
                    <a:lnTo>
                      <a:pt x="0" y="89478"/>
                    </a:lnTo>
                    <a:close/>
                  </a:path>
                </a:pathLst>
              </a:custGeom>
              <a:solidFill>
                <a:srgbClr val="1800AD"/>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27" name="TextBox 27">
                <a:extLst>
                  <a:ext uri="{FF2B5EF4-FFF2-40B4-BE49-F238E27FC236}">
                    <a16:creationId xmlns:a16="http://schemas.microsoft.com/office/drawing/2014/main" id="{098329E3-F6D6-1187-4FC3-38100E97E87A}"/>
                  </a:ext>
                </a:extLst>
              </p:cNvPr>
              <p:cNvSpPr txBox="1"/>
              <p:nvPr/>
            </p:nvSpPr>
            <p:spPr>
              <a:xfrm>
                <a:off x="0" y="-47625"/>
                <a:ext cx="16304" cy="137103"/>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28" name="TextBox 28">
              <a:extLst>
                <a:ext uri="{FF2B5EF4-FFF2-40B4-BE49-F238E27FC236}">
                  <a16:creationId xmlns:a16="http://schemas.microsoft.com/office/drawing/2014/main" id="{D3672AEB-0779-0217-43CB-5AD0DCE00AD6}"/>
                </a:ext>
              </a:extLst>
            </p:cNvPr>
            <p:cNvSpPr txBox="1"/>
            <p:nvPr/>
          </p:nvSpPr>
          <p:spPr>
            <a:xfrm>
              <a:off x="0" y="-47625"/>
              <a:ext cx="8960593" cy="1115266"/>
            </a:xfrm>
            <a:prstGeom prst="rect">
              <a:avLst/>
            </a:prstGeom>
          </p:spPr>
          <p:txBody>
            <a:bodyPr lIns="0" tIns="0" rIns="0" bIns="0" rtlCol="0" anchor="t">
              <a:spAutoFit/>
            </a:bodyPr>
            <a:lstStyle/>
            <a:p>
              <a:pPr algn="r">
                <a:lnSpc>
                  <a:spcPts val="3359"/>
                </a:lnSpc>
                <a:spcBef>
                  <a:spcPct val="0"/>
                </a:spcBef>
              </a:pPr>
              <a:r>
                <a:rPr lang="zh-CN" alt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rPr>
                <a:t>实时视线追踪技术研究与实现</a:t>
              </a:r>
            </a:p>
            <a:p>
              <a:pPr algn="r">
                <a:lnSpc>
                  <a:spcPts val="3359"/>
                </a:lnSpc>
                <a:spcBef>
                  <a:spcPct val="0"/>
                </a:spcBef>
              </a:pPr>
              <a:endParaRPr lang="en-US" sz="2399" spc="117" dirty="0">
                <a:solidFill>
                  <a:srgbClr val="545454"/>
                </a:solidFill>
                <a:latin typeface="微软雅黑" panose="020B0503020204020204" pitchFamily="34" charset="-122"/>
                <a:ea typeface="微软雅黑" panose="020B0503020204020204" pitchFamily="34" charset="-122"/>
                <a:cs typeface="思源黑体"/>
                <a:sym typeface="思源黑体"/>
              </a:endParaRPr>
            </a:p>
          </p:txBody>
        </p:sp>
      </p:grpSp>
    </p:spTree>
    <p:extLst>
      <p:ext uri="{BB962C8B-B14F-4D97-AF65-F5344CB8AC3E}">
        <p14:creationId xmlns:p14="http://schemas.microsoft.com/office/powerpoint/2010/main" val="586896430"/>
      </p:ext>
    </p:extLst>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AE002-AFAC-E01B-5F7E-8CBA4E4A48DE}"/>
            </a:ext>
          </a:extLst>
        </p:cNvPr>
        <p:cNvGrpSpPr/>
        <p:nvPr/>
      </p:nvGrpSpPr>
      <p:grpSpPr>
        <a:xfrm>
          <a:off x="0" y="0"/>
          <a:ext cx="0" cy="0"/>
          <a:chOff x="0" y="0"/>
          <a:chExt cx="0" cy="0"/>
        </a:xfrm>
      </p:grpSpPr>
      <p:pic>
        <p:nvPicPr>
          <p:cNvPr id="14" name="图片 13">
            <a:extLst>
              <a:ext uri="{FF2B5EF4-FFF2-40B4-BE49-F238E27FC236}">
                <a16:creationId xmlns:a16="http://schemas.microsoft.com/office/drawing/2014/main" id="{CEEB3ABE-DA24-7F6E-6ACB-F3E6CBD69A0D}"/>
              </a:ext>
            </a:extLst>
          </p:cNvPr>
          <p:cNvPicPr>
            <a:picLocks noChangeAspect="1"/>
          </p:cNvPicPr>
          <p:nvPr/>
        </p:nvPicPr>
        <p:blipFill>
          <a:blip r:embed="rId3">
            <a:extLst>
              <a:ext uri="{28A0092B-C50C-407E-A947-70E740481C1C}">
                <a14:useLocalDpi xmlns:a14="http://schemas.microsoft.com/office/drawing/2010/main" val="0"/>
              </a:ext>
            </a:extLst>
          </a:blip>
          <a:srcRect t="20383" b="8729"/>
          <a:stretch>
            <a:fillRect/>
          </a:stretch>
        </p:blipFill>
        <p:spPr>
          <a:xfrm>
            <a:off x="-1" y="0"/>
            <a:ext cx="18288000" cy="6612537"/>
          </a:xfrm>
          <a:prstGeom prst="rect">
            <a:avLst/>
          </a:prstGeom>
        </p:spPr>
      </p:pic>
      <p:grpSp>
        <p:nvGrpSpPr>
          <p:cNvPr id="4" name="Group 4">
            <a:extLst>
              <a:ext uri="{FF2B5EF4-FFF2-40B4-BE49-F238E27FC236}">
                <a16:creationId xmlns:a16="http://schemas.microsoft.com/office/drawing/2014/main" id="{684B61CB-DB4F-CF75-FB54-4D7A959CD7E6}"/>
              </a:ext>
            </a:extLst>
          </p:cNvPr>
          <p:cNvGrpSpPr/>
          <p:nvPr/>
        </p:nvGrpSpPr>
        <p:grpSpPr>
          <a:xfrm>
            <a:off x="-178205" y="-180826"/>
            <a:ext cx="18644412" cy="6793362"/>
            <a:chOff x="0" y="-47625"/>
            <a:chExt cx="4910462" cy="1789198"/>
          </a:xfrm>
        </p:grpSpPr>
        <p:sp>
          <p:nvSpPr>
            <p:cNvPr id="5" name="Freeform 5">
              <a:extLst>
                <a:ext uri="{FF2B5EF4-FFF2-40B4-BE49-F238E27FC236}">
                  <a16:creationId xmlns:a16="http://schemas.microsoft.com/office/drawing/2014/main" id="{B0F62A30-6359-5352-E26D-A7232AFBEDF2}"/>
                </a:ext>
              </a:extLst>
            </p:cNvPr>
            <p:cNvSpPr/>
            <p:nvPr/>
          </p:nvSpPr>
          <p:spPr>
            <a:xfrm>
              <a:off x="0" y="0"/>
              <a:ext cx="4910462" cy="1741573"/>
            </a:xfrm>
            <a:custGeom>
              <a:avLst/>
              <a:gdLst/>
              <a:ahLst/>
              <a:cxnLst/>
              <a:rect l="l" t="t" r="r" b="b"/>
              <a:pathLst>
                <a:path w="4910462" h="1720151">
                  <a:moveTo>
                    <a:pt x="0" y="0"/>
                  </a:moveTo>
                  <a:lnTo>
                    <a:pt x="4910462" y="0"/>
                  </a:lnTo>
                  <a:lnTo>
                    <a:pt x="4910462" y="1720151"/>
                  </a:lnTo>
                  <a:lnTo>
                    <a:pt x="0" y="1720151"/>
                  </a:lnTo>
                  <a:close/>
                </a:path>
              </a:pathLst>
            </a:custGeom>
            <a:solidFill>
              <a:srgbClr val="2F1E97">
                <a:alpha val="86667"/>
              </a:srgbClr>
            </a:solidFill>
          </p:spPr>
          <p:txBody>
            <a:bodyPr/>
            <a:lstStyle/>
            <a:p>
              <a:endParaRPr lang="zh-CN" altLang="en-US">
                <a:latin typeface="微软雅黑" panose="020B0503020204020204" pitchFamily="34" charset="-122"/>
                <a:ea typeface="微软雅黑" panose="020B0503020204020204" pitchFamily="34" charset="-122"/>
              </a:endParaRPr>
            </a:p>
          </p:txBody>
        </p:sp>
        <p:sp>
          <p:nvSpPr>
            <p:cNvPr id="6" name="TextBox 6">
              <a:extLst>
                <a:ext uri="{FF2B5EF4-FFF2-40B4-BE49-F238E27FC236}">
                  <a16:creationId xmlns:a16="http://schemas.microsoft.com/office/drawing/2014/main" id="{3784C05B-CD61-5287-FD0A-E45A900891E0}"/>
                </a:ext>
              </a:extLst>
            </p:cNvPr>
            <p:cNvSpPr txBox="1"/>
            <p:nvPr/>
          </p:nvSpPr>
          <p:spPr>
            <a:xfrm>
              <a:off x="0" y="-47625"/>
              <a:ext cx="4910461" cy="1767776"/>
            </a:xfrm>
            <a:prstGeom prst="rect">
              <a:avLst/>
            </a:prstGeom>
          </p:spPr>
          <p:txBody>
            <a:bodyPr lIns="50800" tIns="50800" rIns="50800" bIns="50800" rtlCol="0" anchor="ctr"/>
            <a:lstStyle/>
            <a:p>
              <a:pPr algn="ctr">
                <a:lnSpc>
                  <a:spcPts val="3359"/>
                </a:lnSpc>
              </a:pPr>
              <a:endParaRPr dirty="0">
                <a:latin typeface="微软雅黑" panose="020B0503020204020204" pitchFamily="34" charset="-122"/>
                <a:ea typeface="微软雅黑" panose="020B0503020204020204" pitchFamily="34" charset="-122"/>
              </a:endParaRPr>
            </a:p>
          </p:txBody>
        </p:sp>
      </p:grpSp>
      <p:sp>
        <p:nvSpPr>
          <p:cNvPr id="7" name="AutoShape 7">
            <a:extLst>
              <a:ext uri="{FF2B5EF4-FFF2-40B4-BE49-F238E27FC236}">
                <a16:creationId xmlns:a16="http://schemas.microsoft.com/office/drawing/2014/main" id="{5BF433D2-89EB-624E-C8D7-E54222EBD0D5}"/>
              </a:ext>
            </a:extLst>
          </p:cNvPr>
          <p:cNvSpPr/>
          <p:nvPr/>
        </p:nvSpPr>
        <p:spPr>
          <a:xfrm flipV="1">
            <a:off x="-464229" y="6612536"/>
            <a:ext cx="19630056" cy="0"/>
          </a:xfrm>
          <a:prstGeom prst="line">
            <a:avLst/>
          </a:prstGeom>
          <a:ln w="38100" cap="flat">
            <a:solidFill>
              <a:srgbClr val="1800AD"/>
            </a:solidFill>
            <a:prstDash val="sysDot"/>
            <a:headEnd type="none" w="sm" len="sm"/>
            <a:tailEnd type="none" w="sm" len="sm"/>
          </a:ln>
        </p:spPr>
        <p:txBody>
          <a:bodyPr/>
          <a:lstStyle/>
          <a:p>
            <a:endParaRPr lang="zh-CN" altLang="en-US">
              <a:latin typeface="微软雅黑" panose="020B0503020204020204" pitchFamily="34" charset="-122"/>
              <a:ea typeface="微软雅黑" panose="020B0503020204020204" pitchFamily="34" charset="-122"/>
            </a:endParaRPr>
          </a:p>
        </p:txBody>
      </p:sp>
      <p:sp>
        <p:nvSpPr>
          <p:cNvPr id="9" name="Freeform 9">
            <a:extLst>
              <a:ext uri="{FF2B5EF4-FFF2-40B4-BE49-F238E27FC236}">
                <a16:creationId xmlns:a16="http://schemas.microsoft.com/office/drawing/2014/main" id="{C2CDF22A-5A95-7340-83E0-AC121E2D341F}"/>
              </a:ext>
            </a:extLst>
          </p:cNvPr>
          <p:cNvSpPr/>
          <p:nvPr/>
        </p:nvSpPr>
        <p:spPr>
          <a:xfrm>
            <a:off x="3874539" y="4710454"/>
            <a:ext cx="10538913" cy="1775448"/>
          </a:xfrm>
          <a:custGeom>
            <a:avLst/>
            <a:gdLst/>
            <a:ahLst/>
            <a:cxnLst/>
            <a:rect l="l" t="t" r="r" b="b"/>
            <a:pathLst>
              <a:path w="629014" h="178443">
                <a:moveTo>
                  <a:pt x="89222" y="0"/>
                </a:moveTo>
                <a:lnTo>
                  <a:pt x="539793" y="0"/>
                </a:lnTo>
                <a:cubicBezTo>
                  <a:pt x="563456" y="0"/>
                  <a:pt x="586150" y="9400"/>
                  <a:pt x="602882" y="26132"/>
                </a:cubicBezTo>
                <a:cubicBezTo>
                  <a:pt x="619614" y="42865"/>
                  <a:pt x="629014" y="65558"/>
                  <a:pt x="629014" y="89222"/>
                </a:cubicBezTo>
                <a:lnTo>
                  <a:pt x="629014" y="89222"/>
                </a:lnTo>
                <a:cubicBezTo>
                  <a:pt x="629014" y="112885"/>
                  <a:pt x="619614" y="135578"/>
                  <a:pt x="602882" y="152311"/>
                </a:cubicBezTo>
                <a:cubicBezTo>
                  <a:pt x="586150" y="169043"/>
                  <a:pt x="563456" y="178443"/>
                  <a:pt x="539793" y="178443"/>
                </a:cubicBezTo>
                <a:lnTo>
                  <a:pt x="89222" y="178443"/>
                </a:lnTo>
                <a:cubicBezTo>
                  <a:pt x="65558" y="178443"/>
                  <a:pt x="42865" y="169043"/>
                  <a:pt x="26132" y="152311"/>
                </a:cubicBezTo>
                <a:cubicBezTo>
                  <a:pt x="9400" y="135578"/>
                  <a:pt x="0" y="112885"/>
                  <a:pt x="0" y="89222"/>
                </a:cubicBezTo>
                <a:lnTo>
                  <a:pt x="0" y="89222"/>
                </a:lnTo>
                <a:cubicBezTo>
                  <a:pt x="0" y="65558"/>
                  <a:pt x="9400" y="42865"/>
                  <a:pt x="26132" y="26132"/>
                </a:cubicBezTo>
                <a:cubicBezTo>
                  <a:pt x="42865" y="9400"/>
                  <a:pt x="65558" y="0"/>
                  <a:pt x="89222" y="0"/>
                </a:cubicBezTo>
                <a:close/>
              </a:path>
            </a:pathLst>
          </a:custGeom>
          <a:solidFill>
            <a:srgbClr val="FFFFFF"/>
          </a:solidFill>
        </p:spPr>
        <p:txBody>
          <a:bodyPr/>
          <a:lstStyle/>
          <a:p>
            <a:endParaRPr lang="zh-CN" altLang="en-US" dirty="0">
              <a:latin typeface="微软雅黑" panose="020B0503020204020204" pitchFamily="34" charset="-122"/>
              <a:ea typeface="微软雅黑" panose="020B0503020204020204" pitchFamily="34" charset="-122"/>
            </a:endParaRPr>
          </a:p>
        </p:txBody>
      </p:sp>
      <p:sp>
        <p:nvSpPr>
          <p:cNvPr id="10" name="TextBox 10">
            <a:extLst>
              <a:ext uri="{FF2B5EF4-FFF2-40B4-BE49-F238E27FC236}">
                <a16:creationId xmlns:a16="http://schemas.microsoft.com/office/drawing/2014/main" id="{ADE192A9-11E6-0D9F-39AE-D54881958C10}"/>
              </a:ext>
            </a:extLst>
          </p:cNvPr>
          <p:cNvSpPr txBox="1"/>
          <p:nvPr/>
        </p:nvSpPr>
        <p:spPr>
          <a:xfrm>
            <a:off x="5077897" y="5062535"/>
            <a:ext cx="8132195" cy="1293919"/>
          </a:xfrm>
          <a:prstGeom prst="rect">
            <a:avLst/>
          </a:prstGeom>
        </p:spPr>
        <p:txBody>
          <a:bodyPr lIns="50800" tIns="50800" rIns="50800" bIns="50800" rtlCol="0" anchor="ctr"/>
          <a:lstStyle/>
          <a:p>
            <a:pPr>
              <a:lnSpc>
                <a:spcPts val="3359"/>
              </a:lnSpc>
              <a:spcBef>
                <a:spcPct val="0"/>
              </a:spcBef>
            </a:pPr>
            <a:r>
              <a:rPr lang="zh-CN" altLang="en-US" sz="4800">
                <a:latin typeface="微软雅黑" panose="020B0503020204020204" pitchFamily="34" charset="-122"/>
                <a:ea typeface="微软雅黑" panose="020B0503020204020204" pitchFamily="34" charset="-122"/>
                <a:cs typeface="字由点字典黑"/>
                <a:sym typeface="字由点字典黑"/>
              </a:rPr>
              <a:t>实时视线追踪技术研究与实现</a:t>
            </a:r>
            <a:endParaRPr lang="zh-CN" altLang="en-US" sz="4800" dirty="0">
              <a:latin typeface="微软雅黑" panose="020B0503020204020204" pitchFamily="34" charset="-122"/>
              <a:ea typeface="微软雅黑" panose="020B0503020204020204" pitchFamily="34" charset="-122"/>
              <a:cs typeface="字由点字典黑"/>
              <a:sym typeface="字由点字典黑"/>
            </a:endParaRPr>
          </a:p>
        </p:txBody>
      </p:sp>
      <p:sp>
        <p:nvSpPr>
          <p:cNvPr id="12" name="TextBox 12">
            <a:extLst>
              <a:ext uri="{FF2B5EF4-FFF2-40B4-BE49-F238E27FC236}">
                <a16:creationId xmlns:a16="http://schemas.microsoft.com/office/drawing/2014/main" id="{8E4DE1AB-484E-031C-E4E5-8E870B872C1D}"/>
              </a:ext>
            </a:extLst>
          </p:cNvPr>
          <p:cNvSpPr txBox="1"/>
          <p:nvPr/>
        </p:nvSpPr>
        <p:spPr>
          <a:xfrm>
            <a:off x="2362200" y="7122747"/>
            <a:ext cx="2123828" cy="530402"/>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汇报人</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16" name="TextBox 16">
            <a:extLst>
              <a:ext uri="{FF2B5EF4-FFF2-40B4-BE49-F238E27FC236}">
                <a16:creationId xmlns:a16="http://schemas.microsoft.com/office/drawing/2014/main" id="{0DD43237-04BE-887D-6F69-D11D20323471}"/>
              </a:ext>
            </a:extLst>
          </p:cNvPr>
          <p:cNvSpPr txBox="1"/>
          <p:nvPr/>
        </p:nvSpPr>
        <p:spPr>
          <a:xfrm>
            <a:off x="4191000" y="7124700"/>
            <a:ext cx="4713645" cy="53072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依木热尼江</a:t>
            </a: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a:t>
            </a: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买买提明</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17" name="TextBox 17">
            <a:extLst>
              <a:ext uri="{FF2B5EF4-FFF2-40B4-BE49-F238E27FC236}">
                <a16:creationId xmlns:a16="http://schemas.microsoft.com/office/drawing/2014/main" id="{27B96967-2D77-BC66-FA3F-812FA74A0C32}"/>
              </a:ext>
            </a:extLst>
          </p:cNvPr>
          <p:cNvSpPr txBox="1"/>
          <p:nvPr/>
        </p:nvSpPr>
        <p:spPr>
          <a:xfrm>
            <a:off x="11039274" y="7131049"/>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光电信息科学与工程</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2" name="TextBox 13">
            <a:extLst>
              <a:ext uri="{FF2B5EF4-FFF2-40B4-BE49-F238E27FC236}">
                <a16:creationId xmlns:a16="http://schemas.microsoft.com/office/drawing/2014/main" id="{2291CCF3-261D-9AC1-A4F7-F01D427B8037}"/>
              </a:ext>
            </a:extLst>
          </p:cNvPr>
          <p:cNvSpPr txBox="1"/>
          <p:nvPr/>
        </p:nvSpPr>
        <p:spPr>
          <a:xfrm>
            <a:off x="9099029" y="7142881"/>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专业</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5" name="TextBox 12">
            <a:extLst>
              <a:ext uri="{FF2B5EF4-FFF2-40B4-BE49-F238E27FC236}">
                <a16:creationId xmlns:a16="http://schemas.microsoft.com/office/drawing/2014/main" id="{1EC91F73-9909-F1E0-907A-9608C57AD67C}"/>
              </a:ext>
            </a:extLst>
          </p:cNvPr>
          <p:cNvSpPr txBox="1"/>
          <p:nvPr/>
        </p:nvSpPr>
        <p:spPr>
          <a:xfrm>
            <a:off x="2209800" y="8398713"/>
            <a:ext cx="2123828"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学号</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sp>
        <p:nvSpPr>
          <p:cNvPr id="26" name="TextBox 16">
            <a:extLst>
              <a:ext uri="{FF2B5EF4-FFF2-40B4-BE49-F238E27FC236}">
                <a16:creationId xmlns:a16="http://schemas.microsoft.com/office/drawing/2014/main" id="{A1406587-19A0-185E-3C57-B25B26282A15}"/>
              </a:ext>
            </a:extLst>
          </p:cNvPr>
          <p:cNvSpPr txBox="1"/>
          <p:nvPr/>
        </p:nvSpPr>
        <p:spPr>
          <a:xfrm>
            <a:off x="3962400" y="8416400"/>
            <a:ext cx="4713645" cy="530723"/>
          </a:xfrm>
          <a:prstGeom prst="rect">
            <a:avLst/>
          </a:prstGeom>
        </p:spPr>
        <p:txBody>
          <a:bodyPr wrap="square" lIns="0" tIns="0" rIns="0" bIns="0" rtlCol="0" anchor="t">
            <a:spAutoFit/>
          </a:bodyPr>
          <a:lstStyle/>
          <a:p>
            <a:pPr algn="l">
              <a:lnSpc>
                <a:spcPts val="4479"/>
              </a:lnSpc>
            </a:pPr>
            <a:r>
              <a:rPr lang="en-US" altLang="zh-CN" sz="3199" b="1" spc="319" dirty="0">
                <a:latin typeface="微软雅黑" panose="020B0503020204020204" pitchFamily="34" charset="-122"/>
                <a:ea typeface="微软雅黑" panose="020B0503020204020204" pitchFamily="34" charset="-122"/>
                <a:cs typeface="思源黑体 Bold"/>
                <a:sym typeface="思源黑体 Bold"/>
              </a:rPr>
              <a:t>2022050907026</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7" name="TextBox 17">
            <a:extLst>
              <a:ext uri="{FF2B5EF4-FFF2-40B4-BE49-F238E27FC236}">
                <a16:creationId xmlns:a16="http://schemas.microsoft.com/office/drawing/2014/main" id="{788042C4-BB42-5B1A-B5BE-EAA1FD2DF0B8}"/>
              </a:ext>
            </a:extLst>
          </p:cNvPr>
          <p:cNvSpPr txBox="1"/>
          <p:nvPr/>
        </p:nvSpPr>
        <p:spPr>
          <a:xfrm>
            <a:off x="11843046" y="8398176"/>
            <a:ext cx="4387554" cy="530273"/>
          </a:xfrm>
          <a:prstGeom prst="rect">
            <a:avLst/>
          </a:prstGeom>
        </p:spPr>
        <p:txBody>
          <a:bodyPr wrap="square" lIns="0" tIns="0" rIns="0" bIns="0" rtlCol="0" anchor="t">
            <a:spAutoFit/>
          </a:bodyPr>
          <a:lstStyle/>
          <a:p>
            <a:pPr algn="l">
              <a:lnSpc>
                <a:spcPts val="4479"/>
              </a:lnSpc>
            </a:pPr>
            <a:r>
              <a:rPr lang="zh-CN" altLang="en-US" sz="3199" b="1" spc="319" dirty="0">
                <a:latin typeface="微软雅黑" panose="020B0503020204020204" pitchFamily="34" charset="-122"/>
                <a:ea typeface="微软雅黑" panose="020B0503020204020204" pitchFamily="34" charset="-122"/>
                <a:cs typeface="思源黑体 Bold"/>
                <a:sym typeface="思源黑体 Bold"/>
              </a:rPr>
              <a:t>陈文彬</a:t>
            </a:r>
            <a:endParaRPr lang="en-US" sz="3199" b="1" spc="319" dirty="0">
              <a:latin typeface="微软雅黑" panose="020B0503020204020204" pitchFamily="34" charset="-122"/>
              <a:ea typeface="微软雅黑" panose="020B0503020204020204" pitchFamily="34" charset="-122"/>
              <a:cs typeface="思源黑体 Bold"/>
              <a:sym typeface="思源黑体 Bold"/>
            </a:endParaRPr>
          </a:p>
        </p:txBody>
      </p:sp>
      <p:sp>
        <p:nvSpPr>
          <p:cNvPr id="28" name="TextBox 13">
            <a:extLst>
              <a:ext uri="{FF2B5EF4-FFF2-40B4-BE49-F238E27FC236}">
                <a16:creationId xmlns:a16="http://schemas.microsoft.com/office/drawing/2014/main" id="{E2FDBB5F-580F-5C00-9C04-0641377512AC}"/>
              </a:ext>
            </a:extLst>
          </p:cNvPr>
          <p:cNvSpPr txBox="1"/>
          <p:nvPr/>
        </p:nvSpPr>
        <p:spPr>
          <a:xfrm>
            <a:off x="9512075" y="8399568"/>
            <a:ext cx="2468920" cy="530273"/>
          </a:xfrm>
          <a:prstGeom prst="rect">
            <a:avLst/>
          </a:prstGeom>
        </p:spPr>
        <p:txBody>
          <a:bodyPr lIns="0" tIns="0" rIns="0" bIns="0" rtlCol="0" anchor="t">
            <a:spAutoFit/>
          </a:bodyPr>
          <a:lstStyle/>
          <a:p>
            <a:pPr algn="ctr">
              <a:lnSpc>
                <a:spcPts val="4479"/>
              </a:lnSpc>
            </a:pPr>
            <a:r>
              <a:rPr lang="zh-CN" altLang="en-US" sz="3199" spc="319" dirty="0">
                <a:latin typeface="微软雅黑" panose="020B0503020204020204" pitchFamily="34" charset="-122"/>
                <a:ea typeface="微软雅黑" panose="020B0503020204020204" pitchFamily="34" charset="-122"/>
                <a:cs typeface="思源黑体"/>
                <a:sym typeface="思源黑体"/>
              </a:rPr>
              <a:t>指导老师</a:t>
            </a:r>
            <a:r>
              <a:rPr lang="en-US" sz="3199" spc="319" dirty="0">
                <a:latin typeface="微软雅黑" panose="020B0503020204020204" pitchFamily="34" charset="-122"/>
                <a:ea typeface="微软雅黑" panose="020B0503020204020204" pitchFamily="34" charset="-122"/>
                <a:cs typeface="思源黑体"/>
                <a:sym typeface="思源黑体"/>
              </a:rPr>
              <a:t>：</a:t>
            </a:r>
          </a:p>
        </p:txBody>
      </p:sp>
      <p:pic>
        <p:nvPicPr>
          <p:cNvPr id="18" name="图片 17">
            <a:extLst>
              <a:ext uri="{FF2B5EF4-FFF2-40B4-BE49-F238E27FC236}">
                <a16:creationId xmlns:a16="http://schemas.microsoft.com/office/drawing/2014/main" id="{4A62D5A9-DF6B-11F4-4EAD-5DE1FC0297B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443607" y="9425877"/>
            <a:ext cx="3400786" cy="772799"/>
          </a:xfrm>
          <a:prstGeom prst="rect">
            <a:avLst/>
          </a:prstGeom>
        </p:spPr>
      </p:pic>
      <p:sp>
        <p:nvSpPr>
          <p:cNvPr id="2" name="TextBox 11">
            <a:extLst>
              <a:ext uri="{FF2B5EF4-FFF2-40B4-BE49-F238E27FC236}">
                <a16:creationId xmlns:a16="http://schemas.microsoft.com/office/drawing/2014/main" id="{C4AC5631-5DF0-C152-5B73-033767B1C15D}"/>
              </a:ext>
            </a:extLst>
          </p:cNvPr>
          <p:cNvSpPr txBox="1"/>
          <p:nvPr/>
        </p:nvSpPr>
        <p:spPr>
          <a:xfrm>
            <a:off x="7714222" y="1585114"/>
            <a:ext cx="2859549" cy="1447127"/>
          </a:xfrm>
          <a:prstGeom prst="rect">
            <a:avLst/>
          </a:prstGeom>
        </p:spPr>
        <p:txBody>
          <a:bodyPr wrap="square" lIns="0" tIns="0" rIns="0" bIns="0" rtlCol="0" anchor="t">
            <a:spAutoFit/>
          </a:bodyPr>
          <a:lstStyle/>
          <a:p>
            <a:pPr>
              <a:lnSpc>
                <a:spcPts val="12039"/>
              </a:lnSpc>
              <a:spcBef>
                <a:spcPct val="0"/>
              </a:spcBef>
            </a:pPr>
            <a:r>
              <a:rPr lang="zh-CN" altLang="en-US" sz="9600" spc="1298">
                <a:solidFill>
                  <a:schemeClr val="bg1"/>
                </a:solidFill>
                <a:latin typeface="微软雅黑" panose="020B0503020204020204" pitchFamily="34" charset="-122"/>
                <a:ea typeface="微软雅黑" panose="020B0503020204020204" pitchFamily="34" charset="-122"/>
                <a:cs typeface="思源黑体"/>
                <a:sym typeface="思源黑体"/>
              </a:rPr>
              <a:t>感谢</a:t>
            </a:r>
            <a:endParaRPr 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
        <p:nvSpPr>
          <p:cNvPr id="3" name="TextBox 11">
            <a:extLst>
              <a:ext uri="{FF2B5EF4-FFF2-40B4-BE49-F238E27FC236}">
                <a16:creationId xmlns:a16="http://schemas.microsoft.com/office/drawing/2014/main" id="{D3F2E228-90D4-7B0A-D5C6-E00DC0AD9515}"/>
              </a:ext>
            </a:extLst>
          </p:cNvPr>
          <p:cNvSpPr txBox="1"/>
          <p:nvPr/>
        </p:nvSpPr>
        <p:spPr>
          <a:xfrm>
            <a:off x="4004494" y="3090972"/>
            <a:ext cx="10279007" cy="1447127"/>
          </a:xfrm>
          <a:prstGeom prst="rect">
            <a:avLst/>
          </a:prstGeom>
        </p:spPr>
        <p:txBody>
          <a:bodyPr wrap="square" lIns="0" tIns="0" rIns="0" bIns="0" rtlCol="0" anchor="t">
            <a:spAutoFit/>
          </a:bodyPr>
          <a:lstStyle/>
          <a:p>
            <a:pPr>
              <a:lnSpc>
                <a:spcPts val="12039"/>
              </a:lnSpc>
              <a:spcBef>
                <a:spcPct val="0"/>
              </a:spcBef>
            </a:pPr>
            <a:r>
              <a:rPr lang="zh-CN" altLang="en-US" sz="9600" spc="1298">
                <a:solidFill>
                  <a:schemeClr val="bg1"/>
                </a:solidFill>
                <a:latin typeface="微软雅黑" panose="020B0503020204020204" pitchFamily="34" charset="-122"/>
                <a:ea typeface="微软雅黑" panose="020B0503020204020204" pitchFamily="34" charset="-122"/>
                <a:cs typeface="思源黑体"/>
                <a:sym typeface="思源黑体"/>
              </a:rPr>
              <a:t>欢迎提问和指正！</a:t>
            </a:r>
            <a:endParaRPr lang="en-US" sz="9600" spc="1298" dirty="0">
              <a:solidFill>
                <a:schemeClr val="bg1"/>
              </a:solidFill>
              <a:latin typeface="微软雅黑" panose="020B0503020204020204" pitchFamily="34" charset="-122"/>
              <a:ea typeface="微软雅黑" panose="020B0503020204020204" pitchFamily="34" charset="-122"/>
              <a:cs typeface="思源黑体"/>
              <a:sym typeface="思源黑体"/>
            </a:endParaRPr>
          </a:p>
        </p:txBody>
      </p:sp>
    </p:spTree>
    <p:extLst>
      <p:ext uri="{BB962C8B-B14F-4D97-AF65-F5344CB8AC3E}">
        <p14:creationId xmlns:p14="http://schemas.microsoft.com/office/powerpoint/2010/main" val="2896591194"/>
      </p:ext>
    </p:extLst>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439</TotalTime>
  <Words>1865</Words>
  <Application>Microsoft Office PowerPoint</Application>
  <PresentationFormat>自定义</PresentationFormat>
  <Paragraphs>353</Paragraphs>
  <Slides>29</Slides>
  <Notes>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29</vt:i4>
      </vt:variant>
    </vt:vector>
  </HeadingPairs>
  <TitlesOfParts>
    <vt:vector size="34" baseType="lpstr">
      <vt:lpstr>微软雅黑</vt:lpstr>
      <vt:lpstr>Calibri</vt:lpstr>
      <vt:lpstr>Arial</vt:lpstr>
      <vt:lpstr>等线</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YIMURENIJIANG MAIMAITIMING</cp:lastModifiedBy>
  <cp:revision>91</cp:revision>
  <dcterms:created xsi:type="dcterms:W3CDTF">2006-08-16T00:00:00Z</dcterms:created>
  <dcterms:modified xsi:type="dcterms:W3CDTF">2026-04-08T13:54:57Z</dcterms:modified>
  <dc:identifier>DAG9h2i-loU</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{"Label":"1","ContentProducer":"001191110105MA01AN806X00000","ProduceID":"DAG9h2i-loU","ReservedCode1":"","ContentPropagator":"001191110105MA01AN806X00000","PropagateID":"DAG9h2i-loU","ReservedCode2":""}</vt:lpwstr>
  </property>
</Properties>
</file>